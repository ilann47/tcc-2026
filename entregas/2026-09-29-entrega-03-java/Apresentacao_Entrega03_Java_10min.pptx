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497e97cb4f4201" /><Relationship Type="http://schemas.openxmlformats.org/officeDocument/2006/relationships/extended-properties" Target="/docProps/app.xml" Id="R57fc9f455ece4cc7" /><Relationship Type="http://schemas.openxmlformats.org/officeDocument/2006/relationships/officeDocument" Target="/ppt/presentation.xml" Id="R8088d6bcbe9e4d71" /></Relationships>
</file>

<file path=ppt/presentation.xml><?xml version="1.0" encoding="utf-8"?>
<p:presentation xmlns:p="http://schemas.openxmlformats.org/presentationml/2006/main">
  <p:sldMasterIdLst>
    <p:sldMasterId xmlns:r="http://schemas.openxmlformats.org/officeDocument/2006/relationships" id="2147483648" r:id="Rdd657a0778524bdf"/>
  </p:sldMasterIdLst>
  <p:notesMasterIdLst>
    <p:notesMasterId xmlns:r="http://schemas.openxmlformats.org/officeDocument/2006/relationships" r:id="Rdfd851b66d71446e"/>
  </p:notesMasterIdLst>
  <p:sldIdLst>
    <p:sldId xmlns:r="http://schemas.openxmlformats.org/officeDocument/2006/relationships" id="256" r:id="Rf5c9d8b345c14645"/>
    <p:sldId xmlns:r="http://schemas.openxmlformats.org/officeDocument/2006/relationships" id="257" r:id="R6b569c77d40d4ecd"/>
    <p:sldId xmlns:r="http://schemas.openxmlformats.org/officeDocument/2006/relationships" id="258" r:id="R340146cd678e4bf1"/>
    <p:sldId xmlns:r="http://schemas.openxmlformats.org/officeDocument/2006/relationships" id="259" r:id="R73ce76eb6c9f4b7e"/>
    <p:sldId xmlns:r="http://schemas.openxmlformats.org/officeDocument/2006/relationships" id="260" r:id="R9ff5daefe7864486"/>
    <p:sldId xmlns:r="http://schemas.openxmlformats.org/officeDocument/2006/relationships" id="261" r:id="R3653fbcf5ea74264"/>
    <p:sldId xmlns:r="http://schemas.openxmlformats.org/officeDocument/2006/relationships" id="262" r:id="Rf499e654929543cb"/>
    <p:sldId xmlns:r="http://schemas.openxmlformats.org/officeDocument/2006/relationships" id="263" r:id="R4e5c20f4ce4c49a6"/>
    <p:sldId xmlns:r="http://schemas.openxmlformats.org/officeDocument/2006/relationships" id="264" r:id="Rbcb4735a094445be"/>
    <p:sldId xmlns:r="http://schemas.openxmlformats.org/officeDocument/2006/relationships" id="265" r:id="R10c2ac918a8a44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e5a48bd6a84090" /><Relationship Type="http://schemas.openxmlformats.org/officeDocument/2006/relationships/slideMaster" Target="/ppt/slideMasters/slideMaster1.xml" Id="Rdd657a0778524bdf" /><Relationship Type="http://schemas.openxmlformats.org/officeDocument/2006/relationships/notesMaster" Target="/ppt/notesMasters/notesMaster1.xml" Id="Rdfd851b66d71446e" /><Relationship Type="http://schemas.openxmlformats.org/officeDocument/2006/relationships/presProps" Target="/ppt/presProps.xml" Id="R1c84b140120f4cea" /><Relationship Type="http://schemas.openxmlformats.org/officeDocument/2006/relationships/tableStyles" Target="/ppt/tableStyles.xml" Id="Rc01e8a8265214eb3" /><Relationship Type="http://schemas.openxmlformats.org/officeDocument/2006/relationships/slide" Target="/ppt/slides/slide1.xml" Id="Rf5c9d8b345c14645" /><Relationship Type="http://schemas.openxmlformats.org/officeDocument/2006/relationships/slide" Target="/ppt/slides/slide2.xml" Id="R6b569c77d40d4ecd" /><Relationship Type="http://schemas.openxmlformats.org/officeDocument/2006/relationships/slide" Target="/ppt/slides/slide3.xml" Id="R340146cd678e4bf1" /><Relationship Type="http://schemas.openxmlformats.org/officeDocument/2006/relationships/slide" Target="/ppt/slides/slide4.xml" Id="R73ce76eb6c9f4b7e" /><Relationship Type="http://schemas.openxmlformats.org/officeDocument/2006/relationships/slide" Target="/ppt/slides/slide5.xml" Id="R9ff5daefe7864486" /><Relationship Type="http://schemas.openxmlformats.org/officeDocument/2006/relationships/slide" Target="/ppt/slides/slide6.xml" Id="R3653fbcf5ea74264" /><Relationship Type="http://schemas.openxmlformats.org/officeDocument/2006/relationships/slide" Target="/ppt/slides/slide7.xml" Id="Rf499e654929543cb" /><Relationship Type="http://schemas.openxmlformats.org/officeDocument/2006/relationships/slide" Target="/ppt/slides/slide8.xml" Id="R4e5c20f4ce4c49a6" /><Relationship Type="http://schemas.openxmlformats.org/officeDocument/2006/relationships/slide" Target="/ppt/slides/slide9.xml" Id="Rbcb4735a094445be" /><Relationship Type="http://schemas.openxmlformats.org/officeDocument/2006/relationships/slide" Target="/ppt/slides/slide10.xml" Id="R10c2ac918a8a44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554d6394754e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0e44bcccf44f10" /><Relationship Type="http://schemas.openxmlformats.org/officeDocument/2006/relationships/notesMaster" Target="/ppt/notesMasters/notesMaster1.xml" Id="R0218eecaf29b4f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849cf306124fed" /><Relationship Type="http://schemas.openxmlformats.org/officeDocument/2006/relationships/notesMaster" Target="/ppt/notesMasters/notesMaster1.xml" Id="Ra229e9ed15394f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b1c644d1ac477d" /><Relationship Type="http://schemas.openxmlformats.org/officeDocument/2006/relationships/notesMaster" Target="/ppt/notesMasters/notesMaster1.xml" Id="Rca4104ec225e44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45a0995c6b4a45" /><Relationship Type="http://schemas.openxmlformats.org/officeDocument/2006/relationships/notesMaster" Target="/ppt/notesMasters/notesMaster1.xml" Id="R5b47e3b55f0b44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0802fac39482c" /><Relationship Type="http://schemas.openxmlformats.org/officeDocument/2006/relationships/notesMaster" Target="/ppt/notesMasters/notesMaster1.xml" Id="R3a4ce464f23d43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22e0bb4c6f437c" /><Relationship Type="http://schemas.openxmlformats.org/officeDocument/2006/relationships/notesMaster" Target="/ppt/notesMasters/notesMaster1.xml" Id="R059c4ea65dfd4c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1f96312ee44f8d" /><Relationship Type="http://schemas.openxmlformats.org/officeDocument/2006/relationships/notesMaster" Target="/ppt/notesMasters/notesMaster1.xml" Id="Rf66596c0a9054c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a9241b30ec4007" /><Relationship Type="http://schemas.openxmlformats.org/officeDocument/2006/relationships/notesMaster" Target="/ppt/notesMasters/notesMaster1.xml" Id="R1a3cd1b135e344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b87b1d5c9044ab" /><Relationship Type="http://schemas.openxmlformats.org/officeDocument/2006/relationships/notesMaster" Target="/ppt/notesMasters/notesMaster1.xml" Id="R851fb9a5494345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7032ac7aac4e84" /><Relationship Type="http://schemas.openxmlformats.org/officeDocument/2006/relationships/notesMaster" Target="/ppt/notesMasters/notesMaster1.xml" Id="Rd511e46458b34f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 noite. Hoje eu vou mostrar o fechamento do desenvolvimento do protótipo em Java. A ideia do trabalho é comparar duas formas de comunicação para registrar eventos de auditoria. Nesta apresentação eu fico no que já foi construído e modelado: casos de uso, fluxos, classes, banco e implantação. Os resultados quantitativos ainda não entram aqui, porque o experimento completo não foi executado nesta versão 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pergunta de pesquisa não é se Kafka é melhor que REST em qualquer situação. Eu quero ver os trade-offs num problema delimitado: registrar auditoria. Para a comparação fazer sentido, mantive o contrato do evento e a regra de persistência equivalentes. O que muda é o caminho. No síncrono, a resposta espera o banco; no assíncrono, a API publica no Kafka e outro processo grava. A medição definitiva de desempenho e recuperação ainda é uma etapa seguinte.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diagrama mostra a fronteira do sistema. A aplicação cliente pode enviar um registro pela API síncrona ou pela assíncrona. Na síncrona também existe consulta por UUID. O pesquisador pode olhar os endpoints de saúde e conferir o dado salvo. Kafka e PostgreSQL aparecem como participantes externos de infraestrutura. O executor de cenários e o normalizador de métricas aparecem separados no texto do TCC como casos planejados; eu não estou apresentando essas funções como prontas.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Aqui está a distinção mais importante da apresentação. No caminho síncrono, a API recebe, valida, calcula o hash e grava no PostgreSQL antes de responder 201. No assíncrono, a API valida e envia ao Kafka. Ela espera a confirmação do broker e então responde 202; o consumidor grava em outro momento. Isso significa que 202 não é prova de persistência. Inclusive, se o banco ficar indisponível por tempo suficiente, o evento pode acabar na fila de mensagens com falha, a DLQ.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Essas caixas não são cinco serviços. Dois módulos são bibliotecas reutilizadas: audit-core guarda o contrato, a serialização e o publicador; audit-storage cuida do banco. Os outros três viram processos executáveis: API síncrona, API assíncrona e consumidor. Pelo Docker Compose, eles sobem juntos com Kafka e PostgreSQL. Também dá para iniciar individualmente para desenvolvimento, desde que as dependências de cada um estejam disponíveis. Essa separação evita misturar a lógica do experimento com uma chave de configuração escondida num processo único.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consumidor é a parte que exige mais cuidado. Ele lê do Kafka, tenta gravar e só confirma a posição de origem depois da transação ou depois de reconhecer uma duplicata idêntica. Se houver uma falha de banco, ele tenta novamente até um limite. Quando não consegue resolver, publica um envelope na DLQ e só avança a posição se essa publicação for confirmada. Isso evita simplesmente descartar uma mensagem. Mas é importante não prometer mais do que existe: não há reprocessamento automático da DLQ após a recuperação do banco.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banco operacional que existe hoje há uma tabela, audit_records. Ela guarda o evento, o payload JSONB, o hash e o instante de persistência. O event_id é chave primária. Quando chega o mesmo UUID, a aplicação verifica o hash: igual é reenvio idêntico; diferente é conflito. A criação da tabela está versionada numa migração Flyway, e o acesso é por Spring JDBC, não por ORM. As tabelas de tentativas e métricas que aparecem como proposta no TCC não estão implantadas e não entram neste diagrama do banco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é o ambiente real descrito pelo Compose. As APIs e o consumidor são imagens Java distintas. Kafka faz a intermediação do caminho assíncrono; PostgreSQL armazena os registros das duas variantes. As portas das APIs são locais, 18002 e 18003, e o consumidor não expõe HTTP. O desenho é propositalmente pequeno: um broker e uma partição por tópico. Isso ajuda a reproduzir o cenário em desenvolvimento, mas não representa uma arquitetura de produção com alta disponibilidade.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 quero ser bem preciso sobre a evidência. O fluxo de integração contínua conseguiu compilar, testar e fazer verificações funcionais das duas variantes. No smoke de C4, o PostgreSQL foi interrompido: a API síncrona respondeu 503; a assíncrona ainda conseguiu responder 202 porque Kafka estava disponível. Depois, a saúde do banco voltou. Isso demonstra uma diferença de reação imediata, não mede desempenho e nem prova que todos os eventos aceitos foram gravados após a falha. O link do workflow é https://github.com/ilann47/TCC-2026/actions/runs/36627197788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fechar: o desenvolvimento do protótipo está modelado e implementado em Java nas duas variantes. Também estão documentados os casos de uso, atividades, classes, banco e implantação. O próximo passo da pesquisa não é redesenhar esses fluxos: é instrumentar o experimento, fixar parâmetros, executar repetições e analisar os dados. Só depois disso dá para responder, com números, qual caminho teve melhor comportamento em cada condição. Obrigado; posso abrir os diagramas ou o código para esclarecer algum fluxo.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68008d9fb44f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e6273ab80b457f" /><Relationship Type="http://schemas.openxmlformats.org/officeDocument/2006/relationships/slideLayout" Target="/ppt/slideLayouts/slideLayout1.xml" Id="Rfe739454da5f45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739454da5f45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8b7ba4a39b464e" /><Relationship Type="http://schemas.openxmlformats.org/officeDocument/2006/relationships/notesSlide" Target="/ppt/notesSlides/notesSlide1.xml" Id="R078d9fcab079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55495f9e234db6" /><Relationship Type="http://schemas.openxmlformats.org/officeDocument/2006/relationships/notesSlide" Target="/ppt/notesSlides/notesSlide2.xml" Id="R8bb004d958f041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988ed8028e40a6" /><Relationship Type="http://schemas.openxmlformats.org/officeDocument/2006/relationships/image" Target="/ppt/media/image.png" Id="R4aef62b8408349e0" /><Relationship Type="http://schemas.openxmlformats.org/officeDocument/2006/relationships/notesSlide" Target="/ppt/notesSlides/notesSlide3.xml" Id="R278dbed11b494e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84155fff704a08" /><Relationship Type="http://schemas.openxmlformats.org/officeDocument/2006/relationships/image" Target="/ppt/media/image2.png" Id="Rbf14e1058fe54df9" /><Relationship Type="http://schemas.openxmlformats.org/officeDocument/2006/relationships/notesSlide" Target="/ppt/notesSlides/notesSlide4.xml" Id="R30abce0d03844f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6dbcb6ff504e63" /><Relationship Type="http://schemas.openxmlformats.org/officeDocument/2006/relationships/image" Target="/ppt/media/image3.png" Id="R8198be4e4357463a" /><Relationship Type="http://schemas.openxmlformats.org/officeDocument/2006/relationships/notesSlide" Target="/ppt/notesSlides/notesSlide5.xml" Id="R521b8494eaf649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eaf4ed335d43d1" /><Relationship Type="http://schemas.openxmlformats.org/officeDocument/2006/relationships/notesSlide" Target="/ppt/notesSlides/notesSlide6.xml" Id="R48c87daaa05546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84b906d8c24f14" /><Relationship Type="http://schemas.openxmlformats.org/officeDocument/2006/relationships/image" Target="/ppt/media/image4.png" Id="R7fbeffb9c4c4481d" /><Relationship Type="http://schemas.openxmlformats.org/officeDocument/2006/relationships/notesSlide" Target="/ppt/notesSlides/notesSlide7.xml" Id="Rdf4575f4088641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6b97f0047b45f0" /><Relationship Type="http://schemas.openxmlformats.org/officeDocument/2006/relationships/image" Target="/ppt/media/image5.png" Id="Rdb6e9307f2be48d9" /><Relationship Type="http://schemas.openxmlformats.org/officeDocument/2006/relationships/notesSlide" Target="/ppt/notesSlides/notesSlide8.xml" Id="R82afeb698d514c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82675e4d404740" /><Relationship Type="http://schemas.openxmlformats.org/officeDocument/2006/relationships/notesSlide" Target="/ppt/notesSlides/notesSlide9.xml" Id="R8721e5207da748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2ae134f618488b" /><Relationship Type="http://schemas.openxmlformats.org/officeDocument/2006/relationships/notesSlide" Target="/ppt/notesSlides/notesSlide10.xml" Id="R25bff7953fe149f2" /></Relationships>
</file>

<file path=ppt/slides/slide1.xml><?xml version="1.0" encoding="utf-8"?>
<p:sld xmlns:p="http://schemas.openxmlformats.org/presentationml/2006/main">
  <p:cSld>
    <p:bg>
      <p:bgPr>
        <a:solidFill xmlns:a="http://schemas.openxmlformats.org/drawingml/2006/main">
          <a:srgbClr val="1423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AD3EB0-B135-4B5E-933A-25A465A4693F}"/>
              </a:ext>
            </a:extLst>
          </p:cNvPr>
          <p:cNvSpPr>
            <a:spLocks xmlns:a="http://schemas.openxmlformats.org/drawingml/2006/main" noGrp="1"/>
          </p:cNvSpPr>
          <p:nvPr/>
        </p:nvSpPr>
        <p:spPr>
          <a:xfrm xmlns:a="http://schemas.openxmlformats.org/drawingml/2006/main">
            <a:off x="647700" y="666750"/>
            <a:ext cx="85725" cy="528637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9C9E11-EFEF-46DC-A87A-08618FD89D5F}"/>
              </a:ext>
            </a:extLst>
          </p:cNvPr>
          <p:cNvSpPr>
            <a:spLocks xmlns:a="http://schemas.openxmlformats.org/drawingml/2006/main" noGrp="1"/>
          </p:cNvSpPr>
          <p:nvPr/>
        </p:nvSpPr>
        <p:spPr>
          <a:xfrm xmlns:a="http://schemas.openxmlformats.org/drawingml/2006/main">
            <a:off x="1000125" y="6953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FE3D6"/>
                </a:solidFill>
                <a:latin typeface="Arial"/>
                <a:ea typeface="Arial"/>
                <a:cs typeface="Arial"/>
              </a:defRPr>
            </a:pPr>
            <a:r>
              <a:rPr sz="1350" b="1">
                <a:solidFill>
                  <a:srgbClr val="8FE3D6"/>
                </a:solidFill>
                <a:latin typeface="Arial"/>
                <a:ea typeface="Arial"/>
                <a:cs typeface="Arial"/>
              </a:rPr>
              <a:t>TCC 2026 · ENTREGA 03</a:t>
            </a:r>
          </a:p>
        </p:txBody>
      </p:sp>
      <p:sp>
        <p:nvSpPr>
          <p:cNvPr id="3" name="">
            <a:extLst xmlns:a="http://schemas.openxmlformats.org/drawingml/2006/main">
              <a:ext uri="{FF2B5EF4-FFF2-40B4-BE49-F238E27FC236}">
                <a16:creationId xmlns:a16="http://schemas.microsoft.com/office/drawing/2014/main" id="{69DC9AAC-EDC2-4F6A-BFC4-95A8098115C1}"/>
              </a:ext>
            </a:extLst>
          </p:cNvPr>
          <p:cNvSpPr>
            <a:spLocks xmlns:a="http://schemas.openxmlformats.org/drawingml/2006/main" noGrp="1"/>
          </p:cNvSpPr>
          <p:nvPr/>
        </p:nvSpPr>
        <p:spPr>
          <a:xfrm xmlns:a="http://schemas.openxmlformats.org/drawingml/2006/main">
            <a:off x="1000125" y="1371600"/>
            <a:ext cx="10191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Comunicação síncrona via REST</a:t>
            </a:r>
          </a:p>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e assíncrona orientada a eventos</a:t>
            </a:r>
          </a:p>
        </p:txBody>
      </p:sp>
      <p:sp>
        <p:nvSpPr>
          <p:cNvPr id="4" name="">
            <a:extLst xmlns:a="http://schemas.openxmlformats.org/drawingml/2006/main">
              <a:ext uri="{FF2B5EF4-FFF2-40B4-BE49-F238E27FC236}">
                <a16:creationId xmlns:a16="http://schemas.microsoft.com/office/drawing/2014/main" id="{4B643E29-5A80-4C9B-9B8C-012902E83338}"/>
              </a:ext>
            </a:extLst>
          </p:cNvPr>
          <p:cNvSpPr>
            <a:spLocks xmlns:a="http://schemas.openxmlformats.org/drawingml/2006/main" noGrp="1"/>
          </p:cNvSpPr>
          <p:nvPr/>
        </p:nvSpPr>
        <p:spPr>
          <a:xfrm xmlns:a="http://schemas.openxmlformats.org/drawingml/2006/main">
            <a:off x="1000125" y="3514725"/>
            <a:ext cx="933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8E5F2"/>
                </a:solidFill>
                <a:latin typeface="Arial"/>
                <a:ea typeface="Arial"/>
                <a:cs typeface="Arial"/>
              </a:defRPr>
            </a:pPr>
            <a:r>
              <a:rPr sz="2025" b="0">
                <a:solidFill>
                  <a:srgbClr val="D8E5F2"/>
                </a:solidFill>
                <a:latin typeface="Arial"/>
                <a:ea typeface="Arial"/>
                <a:cs typeface="Arial"/>
              </a:rPr>
              <a:t>Fechamento do desenvolvimento: UML, banco de dados e arquitetura do protótipo Java</a:t>
            </a:r>
          </a:p>
        </p:txBody>
      </p:sp>
      <p:sp>
        <p:nvSpPr>
          <p:cNvPr id="5" name="">
            <a:extLst xmlns:a="http://schemas.openxmlformats.org/drawingml/2006/main">
              <a:ext uri="{FF2B5EF4-FFF2-40B4-BE49-F238E27FC236}">
                <a16:creationId xmlns:a16="http://schemas.microsoft.com/office/drawing/2014/main" id="{0F926E24-1769-43DD-B595-8C4D42B8C293}"/>
              </a:ext>
            </a:extLst>
          </p:cNvPr>
          <p:cNvSpPr>
            <a:spLocks xmlns:a="http://schemas.openxmlformats.org/drawingml/2006/main" noGrp="1"/>
          </p:cNvSpPr>
          <p:nvPr/>
        </p:nvSpPr>
        <p:spPr>
          <a:xfrm xmlns:a="http://schemas.openxmlformats.org/drawingml/2006/main">
            <a:off x="1000125" y="5095875"/>
            <a:ext cx="7048500" cy="19050"/>
          </a:xfrm>
          <a:prstGeom xmlns:a="http://schemas.openxmlformats.org/drawingml/2006/main" prst="rect">
            <a:avLst/>
          </a:prstGeom>
          <a:solidFill xmlns:a="http://schemas.openxmlformats.org/drawingml/2006/main">
            <a:srgbClr val="58738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5B4CA80-4D1D-46B6-BC3C-CE8C229E938A}"/>
              </a:ext>
            </a:extLst>
          </p:cNvPr>
          <p:cNvSpPr>
            <a:spLocks xmlns:a="http://schemas.openxmlformats.org/drawingml/2006/main" noGrp="1"/>
          </p:cNvSpPr>
          <p:nvPr/>
        </p:nvSpPr>
        <p:spPr>
          <a:xfrm xmlns:a="http://schemas.openxmlformats.org/drawingml/2006/main">
            <a:off x="1000125" y="5314950"/>
            <a:ext cx="10144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Ilan Wendling Thoele  •  Professora Alessandra Bussador</a:t>
            </a:r>
          </a:p>
        </p:txBody>
      </p:sp>
    </p:spTree>
    <p:extLst>
      <p:ext uri="{BB962C8B-B14F-4D97-AF65-F5344CB8AC3E}">
        <p14:creationId xmlns:p14="http://schemas.microsoft.com/office/powerpoint/2010/main" val="378956494"/>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81C56E-078F-48A4-A655-7D9F5CE60D8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8BDAB0-F49F-41AD-BF5C-0901EE3149A6}"/>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58BCF668-5D85-407A-97A7-C35C710E8962}"/>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O que o estudo quer comparar?</a:t>
            </a:r>
          </a:p>
        </p:txBody>
      </p:sp>
      <p:sp>
        <p:nvSpPr>
          <p:cNvPr id="4" name="">
            <a:extLst xmlns:a="http://schemas.openxmlformats.org/drawingml/2006/main">
              <a:ext uri="{FF2B5EF4-FFF2-40B4-BE49-F238E27FC236}">
                <a16:creationId xmlns:a16="http://schemas.microsoft.com/office/drawing/2014/main" id="{2764E880-5B68-4F44-9D4B-DC5FA150DAE8}"/>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BC6B23-E5F8-45EF-A5E5-C0BAAEB362C1}"/>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32308704-43F3-447D-9170-57DA2DCB5791}"/>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2/10</a:t>
            </a:r>
          </a:p>
        </p:txBody>
      </p:sp>
      <p:sp>
        <p:nvSpPr>
          <p:cNvPr id="7" name="">
            <a:extLst xmlns:a="http://schemas.openxmlformats.org/drawingml/2006/main">
              <a:ext uri="{FF2B5EF4-FFF2-40B4-BE49-F238E27FC236}">
                <a16:creationId xmlns:a16="http://schemas.microsoft.com/office/drawing/2014/main" id="{23935D31-CBB0-49A0-930D-2825C8DC9A87}"/>
              </a:ext>
            </a:extLst>
          </p:cNvPr>
          <p:cNvSpPr>
            <a:spLocks xmlns:a="http://schemas.openxmlformats.org/drawingml/2006/main" noGrp="1"/>
          </p:cNvSpPr>
          <p:nvPr/>
        </p:nvSpPr>
        <p:spPr>
          <a:xfrm xmlns:a="http://schemas.openxmlformats.org/drawingml/2006/main">
            <a:off x="619125" y="1724025"/>
            <a:ext cx="10953750" cy="1000125"/>
          </a:xfrm>
          <a:prstGeom xmlns:a="http://schemas.openxmlformats.org/drawingml/2006/main" prst="roundRect">
            <a:avLst>
              <a:gd name="adj" fmla="val 7619"/>
            </a:avLst>
          </a:prstGeom>
          <a:solidFill xmlns:a="http://schemas.openxmlformats.org/drawingml/2006/main">
            <a:srgbClr val="1D34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0191E3-8B11-48D4-918A-450B6E65BE26}"/>
              </a:ext>
            </a:extLst>
          </p:cNvPr>
          <p:cNvSpPr>
            <a:spLocks xmlns:a="http://schemas.openxmlformats.org/drawingml/2006/main" noGrp="1"/>
          </p:cNvSpPr>
          <p:nvPr/>
        </p:nvSpPr>
        <p:spPr>
          <a:xfrm xmlns:a="http://schemas.openxmlformats.org/drawingml/2006/main">
            <a:off x="876300" y="1885950"/>
            <a:ext cx="10429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Quais trade-offs de desempenho e resiliência aparecem entre REST síncrono e EDA assíncrona no registro de auditoria?</a:t>
            </a:r>
          </a:p>
        </p:txBody>
      </p:sp>
      <p:sp>
        <p:nvSpPr>
          <p:cNvPr id="9" name="">
            <a:extLst xmlns:a="http://schemas.openxmlformats.org/drawingml/2006/main">
              <a:ext uri="{FF2B5EF4-FFF2-40B4-BE49-F238E27FC236}">
                <a16:creationId xmlns:a16="http://schemas.microsoft.com/office/drawing/2014/main" id="{50BE2CF1-4506-44EF-B93A-E1F46341E3C1}"/>
              </a:ext>
            </a:extLst>
          </p:cNvPr>
          <p:cNvSpPr>
            <a:spLocks xmlns:a="http://schemas.openxmlformats.org/drawingml/2006/main" noGrp="1"/>
          </p:cNvSpPr>
          <p:nvPr/>
        </p:nvSpPr>
        <p:spPr>
          <a:xfrm xmlns:a="http://schemas.openxmlformats.org/drawingml/2006/main">
            <a:off x="619125" y="3048000"/>
            <a:ext cx="3333750"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59D05C-409A-4B43-ADC1-F4CFB7D0281E}"/>
              </a:ext>
            </a:extLst>
          </p:cNvPr>
          <p:cNvSpPr>
            <a:spLocks xmlns:a="http://schemas.openxmlformats.org/drawingml/2006/main" noGrp="1"/>
          </p:cNvSpPr>
          <p:nvPr/>
        </p:nvSpPr>
        <p:spPr>
          <a:xfrm xmlns:a="http://schemas.openxmlformats.org/drawingml/2006/main">
            <a:off x="619125" y="3048000"/>
            <a:ext cx="66675" cy="274320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0EF6FD-EF42-422B-9847-843C8B150925}"/>
              </a:ext>
            </a:extLst>
          </p:cNvPr>
          <p:cNvSpPr>
            <a:spLocks xmlns:a="http://schemas.openxmlformats.org/drawingml/2006/main" noGrp="1"/>
          </p:cNvSpPr>
          <p:nvPr/>
        </p:nvSpPr>
        <p:spPr>
          <a:xfrm xmlns:a="http://schemas.openxmlformats.org/drawingml/2006/main">
            <a:off x="838200" y="3248025"/>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Mesmo contrato</a:t>
            </a:r>
          </a:p>
        </p:txBody>
      </p:sp>
      <p:sp>
        <p:nvSpPr>
          <p:cNvPr id="12" name="">
            <a:extLst xmlns:a="http://schemas.openxmlformats.org/drawingml/2006/main">
              <a:ext uri="{FF2B5EF4-FFF2-40B4-BE49-F238E27FC236}">
                <a16:creationId xmlns:a16="http://schemas.microsoft.com/office/drawing/2014/main" id="{7CF3D167-2DE1-4A3B-95B9-CF3CB2BD1242}"/>
              </a:ext>
            </a:extLst>
          </p:cNvPr>
          <p:cNvSpPr>
            <a:spLocks xmlns:a="http://schemas.openxmlformats.org/drawingml/2006/main" noGrp="1"/>
          </p:cNvSpPr>
          <p:nvPr/>
        </p:nvSpPr>
        <p:spPr>
          <a:xfrm xmlns:a="http://schemas.openxmlformats.org/drawingml/2006/main">
            <a:off x="838200" y="3638550"/>
            <a:ext cx="290512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As duas variantes recebem o mesmo evento, com validação e identidade compartilhadas.</a:t>
            </a:r>
          </a:p>
        </p:txBody>
      </p:sp>
      <p:sp>
        <p:nvSpPr>
          <p:cNvPr id="13" name="">
            <a:extLst xmlns:a="http://schemas.openxmlformats.org/drawingml/2006/main">
              <a:ext uri="{FF2B5EF4-FFF2-40B4-BE49-F238E27FC236}">
                <a16:creationId xmlns:a16="http://schemas.microsoft.com/office/drawing/2014/main" id="{456306CE-29F1-49C9-92DC-AD8E13D4DFFD}"/>
              </a:ext>
            </a:extLst>
          </p:cNvPr>
          <p:cNvSpPr>
            <a:spLocks xmlns:a="http://schemas.openxmlformats.org/drawingml/2006/main" noGrp="1"/>
          </p:cNvSpPr>
          <p:nvPr/>
        </p:nvSpPr>
        <p:spPr>
          <a:xfrm xmlns:a="http://schemas.openxmlformats.org/drawingml/2006/main">
            <a:off x="4238625" y="3048000"/>
            <a:ext cx="3333750"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F2CA517-0A38-46F8-8BC7-6F0EA6779BC5}"/>
              </a:ext>
            </a:extLst>
          </p:cNvPr>
          <p:cNvSpPr>
            <a:spLocks xmlns:a="http://schemas.openxmlformats.org/drawingml/2006/main" noGrp="1"/>
          </p:cNvSpPr>
          <p:nvPr/>
        </p:nvSpPr>
        <p:spPr>
          <a:xfrm xmlns:a="http://schemas.openxmlformats.org/drawingml/2006/main">
            <a:off x="4238625" y="3048000"/>
            <a:ext cx="66675" cy="274320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F750C1C-4ABC-4132-BB20-C9FA041C2345}"/>
              </a:ext>
            </a:extLst>
          </p:cNvPr>
          <p:cNvSpPr>
            <a:spLocks xmlns:a="http://schemas.openxmlformats.org/drawingml/2006/main" noGrp="1"/>
          </p:cNvSpPr>
          <p:nvPr/>
        </p:nvSpPr>
        <p:spPr>
          <a:xfrm xmlns:a="http://schemas.openxmlformats.org/drawingml/2006/main">
            <a:off x="4457700" y="3248025"/>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Mesmo banco</a:t>
            </a:r>
          </a:p>
        </p:txBody>
      </p:sp>
      <p:sp>
        <p:nvSpPr>
          <p:cNvPr id="16" name="">
            <a:extLst xmlns:a="http://schemas.openxmlformats.org/drawingml/2006/main">
              <a:ext uri="{FF2B5EF4-FFF2-40B4-BE49-F238E27FC236}">
                <a16:creationId xmlns:a16="http://schemas.microsoft.com/office/drawing/2014/main" id="{3FF974B3-C1DB-4BC2-A875-EE220CFEB57B}"/>
              </a:ext>
            </a:extLst>
          </p:cNvPr>
          <p:cNvSpPr>
            <a:spLocks xmlns:a="http://schemas.openxmlformats.org/drawingml/2006/main" noGrp="1"/>
          </p:cNvSpPr>
          <p:nvPr/>
        </p:nvSpPr>
        <p:spPr>
          <a:xfrm xmlns:a="http://schemas.openxmlformats.org/drawingml/2006/main">
            <a:off x="4457700" y="3638550"/>
            <a:ext cx="290512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 regra de hash e persistência idempotente é comum; muda o caminho até a gravação.</a:t>
            </a:r>
          </a:p>
        </p:txBody>
      </p:sp>
      <p:sp>
        <p:nvSpPr>
          <p:cNvPr id="17" name="">
            <a:extLst xmlns:a="http://schemas.openxmlformats.org/drawingml/2006/main">
              <a:ext uri="{FF2B5EF4-FFF2-40B4-BE49-F238E27FC236}">
                <a16:creationId xmlns:a16="http://schemas.microsoft.com/office/drawing/2014/main" id="{E305CD2E-BB73-4D68-BEAB-EA6BF626D1AC}"/>
              </a:ext>
            </a:extLst>
          </p:cNvPr>
          <p:cNvSpPr>
            <a:spLocks xmlns:a="http://schemas.openxmlformats.org/drawingml/2006/main" noGrp="1"/>
          </p:cNvSpPr>
          <p:nvPr/>
        </p:nvSpPr>
        <p:spPr>
          <a:xfrm xmlns:a="http://schemas.openxmlformats.org/drawingml/2006/main">
            <a:off x="7858125" y="3048000"/>
            <a:ext cx="3714750"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AF24C54-F536-4211-9CDC-F8FD5C28FB4C}"/>
              </a:ext>
            </a:extLst>
          </p:cNvPr>
          <p:cNvSpPr>
            <a:spLocks xmlns:a="http://schemas.openxmlformats.org/drawingml/2006/main" noGrp="1"/>
          </p:cNvSpPr>
          <p:nvPr/>
        </p:nvSpPr>
        <p:spPr>
          <a:xfrm xmlns:a="http://schemas.openxmlformats.org/drawingml/2006/main">
            <a:off x="7858125" y="3048000"/>
            <a:ext cx="66675" cy="2743200"/>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DC1534-FB6E-469D-8804-0F8B0D309828}"/>
              </a:ext>
            </a:extLst>
          </p:cNvPr>
          <p:cNvSpPr>
            <a:spLocks xmlns:a="http://schemas.openxmlformats.org/drawingml/2006/main" noGrp="1"/>
          </p:cNvSpPr>
          <p:nvPr/>
        </p:nvSpPr>
        <p:spPr>
          <a:xfrm xmlns:a="http://schemas.openxmlformats.org/drawingml/2006/main">
            <a:off x="8077200" y="324802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Comparação futura</a:t>
            </a:r>
          </a:p>
        </p:txBody>
      </p:sp>
      <p:sp>
        <p:nvSpPr>
          <p:cNvPr id="20" name="">
            <a:extLst xmlns:a="http://schemas.openxmlformats.org/drawingml/2006/main">
              <a:ext uri="{FF2B5EF4-FFF2-40B4-BE49-F238E27FC236}">
                <a16:creationId xmlns:a16="http://schemas.microsoft.com/office/drawing/2014/main" id="{9AB1C7A9-3A13-4057-BD87-8314034746F7}"/>
              </a:ext>
            </a:extLst>
          </p:cNvPr>
          <p:cNvSpPr>
            <a:spLocks xmlns:a="http://schemas.openxmlformats.org/drawingml/2006/main" noGrp="1"/>
          </p:cNvSpPr>
          <p:nvPr/>
        </p:nvSpPr>
        <p:spPr>
          <a:xfrm xmlns:a="http://schemas.openxmlformats.org/drawingml/2006/main">
            <a:off x="8077200" y="3638550"/>
            <a:ext cx="328612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Carga, falha do PostgreSQL e recuperação serão medidas após o protocolo ficar pronto.</a:t>
            </a:r>
          </a:p>
        </p:txBody>
      </p:sp>
    </p:spTree>
    <p:extLst>
      <p:ext uri="{BB962C8B-B14F-4D97-AF65-F5344CB8AC3E}">
        <p14:creationId xmlns:p14="http://schemas.microsoft.com/office/powerpoint/2010/main" val="771247324"/>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968004-02DF-4E69-8E22-4D9E38EF224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F8E489-32BF-446F-B06D-DFF358D7D198}"/>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AD54BAD1-C2AC-4C26-9CCD-6A6AA6FEFAEF}"/>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Casos de uso: quem faz o quê?</a:t>
            </a:r>
          </a:p>
        </p:txBody>
      </p:sp>
      <p:sp>
        <p:nvSpPr>
          <p:cNvPr id="4" name="">
            <a:extLst xmlns:a="http://schemas.openxmlformats.org/drawingml/2006/main">
              <a:ext uri="{FF2B5EF4-FFF2-40B4-BE49-F238E27FC236}">
                <a16:creationId xmlns:a16="http://schemas.microsoft.com/office/drawing/2014/main" id="{F33F237A-84A8-4BA8-8814-6AE6F3A745CA}"/>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D028C0-C77D-4FA4-B76C-96940B398FDD}"/>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2C7B9220-B4B2-483C-8555-2769AB54AF3A}"/>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3/10</a:t>
            </a:r>
          </a:p>
        </p:txBody>
      </p:sp>
      <p:sp>
        <p:nvSpPr>
          <p:cNvPr id="7" name="">
            <a:extLst xmlns:a="http://schemas.openxmlformats.org/drawingml/2006/main">
              <a:ext uri="{FF2B5EF4-FFF2-40B4-BE49-F238E27FC236}">
                <a16:creationId xmlns:a16="http://schemas.microsoft.com/office/drawing/2014/main" id="{A4E7C6C6-77C9-4454-B309-C73AB08530C8}"/>
              </a:ext>
            </a:extLst>
          </p:cNvPr>
          <p:cNvSpPr>
            <a:spLocks xmlns:a="http://schemas.openxmlformats.org/drawingml/2006/main" noGrp="1"/>
          </p:cNvSpPr>
          <p:nvPr/>
        </p:nvSpPr>
        <p:spPr>
          <a:xfrm xmlns:a="http://schemas.openxmlformats.org/drawingml/2006/main">
            <a:off x="619125" y="1647825"/>
            <a:ext cx="7143750" cy="4267200"/>
          </a:xfrm>
          <a:prstGeom xmlns:a="http://schemas.openxmlformats.org/drawingml/2006/main" prst="roundRect">
            <a:avLst>
              <a:gd name="adj" fmla="val 1786"/>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aef62b8408349e0"/>
          <a:stretch xmlns:a="http://schemas.openxmlformats.org/drawingml/2006/main"/>
        </p:blipFill>
        <p:spPr>
          <a:xfrm xmlns:a="http://schemas.openxmlformats.org/drawingml/2006/main">
            <a:off x="1378706" y="1790700"/>
            <a:ext cx="5624588" cy="3981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0DCF24-05AC-4643-A55D-BA85FE7517E0}"/>
              </a:ext>
            </a:extLst>
          </p:cNvPr>
          <p:cNvSpPr>
            <a:spLocks xmlns:a="http://schemas.openxmlformats.org/drawingml/2006/main" noGrp="1"/>
          </p:cNvSpPr>
          <p:nvPr/>
        </p:nvSpPr>
        <p:spPr>
          <a:xfrm xmlns:a="http://schemas.openxmlformats.org/drawingml/2006/main">
            <a:off x="8048625" y="1647825"/>
            <a:ext cx="3524250" cy="2009775"/>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9D065E-026F-4DDF-B4AC-BC2C1A750230}"/>
              </a:ext>
            </a:extLst>
          </p:cNvPr>
          <p:cNvSpPr>
            <a:spLocks xmlns:a="http://schemas.openxmlformats.org/drawingml/2006/main" noGrp="1"/>
          </p:cNvSpPr>
          <p:nvPr/>
        </p:nvSpPr>
        <p:spPr>
          <a:xfrm xmlns:a="http://schemas.openxmlformats.org/drawingml/2006/main">
            <a:off x="8048625" y="1647825"/>
            <a:ext cx="66675" cy="200977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F216DC-CC15-42FD-9E74-1D2750BF7021}"/>
              </a:ext>
            </a:extLst>
          </p:cNvPr>
          <p:cNvSpPr>
            <a:spLocks xmlns:a="http://schemas.openxmlformats.org/drawingml/2006/main" noGrp="1"/>
          </p:cNvSpPr>
          <p:nvPr/>
        </p:nvSpPr>
        <p:spPr>
          <a:xfrm xmlns:a="http://schemas.openxmlformats.org/drawingml/2006/main">
            <a:off x="8267700" y="184785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Cliente</a:t>
            </a:r>
          </a:p>
        </p:txBody>
      </p:sp>
      <p:sp>
        <p:nvSpPr>
          <p:cNvPr id="12" name="">
            <a:extLst xmlns:a="http://schemas.openxmlformats.org/drawingml/2006/main">
              <a:ext uri="{FF2B5EF4-FFF2-40B4-BE49-F238E27FC236}">
                <a16:creationId xmlns:a16="http://schemas.microsoft.com/office/drawing/2014/main" id="{AE08255D-9684-47F5-A23B-F2FAB346EC73}"/>
              </a:ext>
            </a:extLst>
          </p:cNvPr>
          <p:cNvSpPr>
            <a:spLocks xmlns:a="http://schemas.openxmlformats.org/drawingml/2006/main" noGrp="1"/>
          </p:cNvSpPr>
          <p:nvPr/>
        </p:nvSpPr>
        <p:spPr>
          <a:xfrm xmlns:a="http://schemas.openxmlformats.org/drawingml/2006/main">
            <a:off x="8267700" y="2238375"/>
            <a:ext cx="3095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Registra auditoria por uma das APIs e pode consultar o registro por UUID.</a:t>
            </a:r>
          </a:p>
        </p:txBody>
      </p:sp>
      <p:sp>
        <p:nvSpPr>
          <p:cNvPr id="13" name="">
            <a:extLst xmlns:a="http://schemas.openxmlformats.org/drawingml/2006/main">
              <a:ext uri="{FF2B5EF4-FFF2-40B4-BE49-F238E27FC236}">
                <a16:creationId xmlns:a16="http://schemas.microsoft.com/office/drawing/2014/main" id="{12AFB50A-426A-40D0-84B7-EC6441B8B8B2}"/>
              </a:ext>
            </a:extLst>
          </p:cNvPr>
          <p:cNvSpPr>
            <a:spLocks xmlns:a="http://schemas.openxmlformats.org/drawingml/2006/main" noGrp="1"/>
          </p:cNvSpPr>
          <p:nvPr/>
        </p:nvSpPr>
        <p:spPr>
          <a:xfrm xmlns:a="http://schemas.openxmlformats.org/drawingml/2006/main">
            <a:off x="8048625" y="3848100"/>
            <a:ext cx="3524250" cy="2066925"/>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FE3D8E-ED8B-4849-9D42-6A6CC07E4F00}"/>
              </a:ext>
            </a:extLst>
          </p:cNvPr>
          <p:cNvSpPr>
            <a:spLocks xmlns:a="http://schemas.openxmlformats.org/drawingml/2006/main" noGrp="1"/>
          </p:cNvSpPr>
          <p:nvPr/>
        </p:nvSpPr>
        <p:spPr>
          <a:xfrm xmlns:a="http://schemas.openxmlformats.org/drawingml/2006/main">
            <a:off x="8048625" y="3848100"/>
            <a:ext cx="66675" cy="2066925"/>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555624-0EED-4DC3-ADA0-93C2143FECA9}"/>
              </a:ext>
            </a:extLst>
          </p:cNvPr>
          <p:cNvSpPr>
            <a:spLocks xmlns:a="http://schemas.openxmlformats.org/drawingml/2006/main" noGrp="1"/>
          </p:cNvSpPr>
          <p:nvPr/>
        </p:nvSpPr>
        <p:spPr>
          <a:xfrm xmlns:a="http://schemas.openxmlformats.org/drawingml/2006/main">
            <a:off x="8267700" y="40481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Pesquisador</a:t>
            </a:r>
          </a:p>
        </p:txBody>
      </p:sp>
      <p:sp>
        <p:nvSpPr>
          <p:cNvPr id="16" name="">
            <a:extLst xmlns:a="http://schemas.openxmlformats.org/drawingml/2006/main">
              <a:ext uri="{FF2B5EF4-FFF2-40B4-BE49-F238E27FC236}">
                <a16:creationId xmlns:a16="http://schemas.microsoft.com/office/drawing/2014/main" id="{6F7AAE50-C69F-420F-8036-F37A27246994}"/>
              </a:ext>
            </a:extLst>
          </p:cNvPr>
          <p:cNvSpPr>
            <a:spLocks xmlns:a="http://schemas.openxmlformats.org/drawingml/2006/main" noGrp="1"/>
          </p:cNvSpPr>
          <p:nvPr/>
        </p:nvSpPr>
        <p:spPr>
          <a:xfrm xmlns:a="http://schemas.openxmlformats.org/drawingml/2006/main">
            <a:off x="8267700" y="4438650"/>
            <a:ext cx="309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Verifica saúde e consulta registros; execução e consolidação quantitativa ainda são planejadas.</a:t>
            </a:r>
          </a:p>
        </p:txBody>
      </p:sp>
    </p:spTree>
    <p:extLst>
      <p:ext uri="{BB962C8B-B14F-4D97-AF65-F5344CB8AC3E}">
        <p14:creationId xmlns:p14="http://schemas.microsoft.com/office/powerpoint/2010/main" val="1461285336"/>
      </p:ext>
    </p:extLst>
  </p:cSld>
</p:sld>
</file>

<file path=ppt/slides/slide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7841A1-8E4A-4206-89FB-7E6D69E9ADB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A9A909-53EE-4E22-A9B3-69F7AA6EA625}"/>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5A246320-07C8-4C8D-9BC4-A62C7638B344}"/>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Dois caminhos para o mesmo registro</a:t>
            </a:r>
          </a:p>
        </p:txBody>
      </p:sp>
      <p:sp>
        <p:nvSpPr>
          <p:cNvPr id="4" name="">
            <a:extLst xmlns:a="http://schemas.openxmlformats.org/drawingml/2006/main">
              <a:ext uri="{FF2B5EF4-FFF2-40B4-BE49-F238E27FC236}">
                <a16:creationId xmlns:a16="http://schemas.microsoft.com/office/drawing/2014/main" id="{E0C0AADB-94D2-4AED-947E-06DE499A82E2}"/>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B80BAB-227F-4EED-BA1A-7E6CB0D2ABB7}"/>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0586B616-3434-4340-B8D5-2BE3E899BFF3}"/>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4/10</a:t>
            </a:r>
          </a:p>
        </p:txBody>
      </p:sp>
      <p:sp>
        <p:nvSpPr>
          <p:cNvPr id="7" name="">
            <a:extLst xmlns:a="http://schemas.openxmlformats.org/drawingml/2006/main">
              <a:ext uri="{FF2B5EF4-FFF2-40B4-BE49-F238E27FC236}">
                <a16:creationId xmlns:a16="http://schemas.microsoft.com/office/drawing/2014/main" id="{4867F6F3-4012-46CD-A102-DAFA54B95FCA}"/>
              </a:ext>
            </a:extLst>
          </p:cNvPr>
          <p:cNvSpPr>
            <a:spLocks xmlns:a="http://schemas.openxmlformats.org/drawingml/2006/main" noGrp="1"/>
          </p:cNvSpPr>
          <p:nvPr/>
        </p:nvSpPr>
        <p:spPr>
          <a:xfrm xmlns:a="http://schemas.openxmlformats.org/drawingml/2006/main">
            <a:off x="619125" y="1666875"/>
            <a:ext cx="1095375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f14e1058fe54df9"/>
          <a:stretch xmlns:a="http://schemas.openxmlformats.org/drawingml/2006/main"/>
        </p:blipFill>
        <p:spPr>
          <a:xfrm xmlns:a="http://schemas.openxmlformats.org/drawingml/2006/main">
            <a:off x="790575" y="1979243"/>
            <a:ext cx="10610850" cy="1661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92DDFD4-F66D-4343-BF70-48E48DC6AF17}"/>
              </a:ext>
            </a:extLst>
          </p:cNvPr>
          <p:cNvSpPr>
            <a:spLocks xmlns:a="http://schemas.openxmlformats.org/drawingml/2006/main" noGrp="1"/>
          </p:cNvSpPr>
          <p:nvPr/>
        </p:nvSpPr>
        <p:spPr>
          <a:xfrm xmlns:a="http://schemas.openxmlformats.org/drawingml/2006/main">
            <a:off x="619125" y="4238625"/>
            <a:ext cx="5238750" cy="1685925"/>
          </a:xfrm>
          <a:prstGeom xmlns:a="http://schemas.openxmlformats.org/drawingml/2006/main" prst="roundRect">
            <a:avLst>
              <a:gd name="adj" fmla="val 4520"/>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A54AC4-9554-4A7E-B173-3F5CD82C6DB2}"/>
              </a:ext>
            </a:extLst>
          </p:cNvPr>
          <p:cNvSpPr>
            <a:spLocks xmlns:a="http://schemas.openxmlformats.org/drawingml/2006/main" noGrp="1"/>
          </p:cNvSpPr>
          <p:nvPr/>
        </p:nvSpPr>
        <p:spPr>
          <a:xfrm xmlns:a="http://schemas.openxmlformats.org/drawingml/2006/main">
            <a:off x="619125" y="4238625"/>
            <a:ext cx="66675" cy="16859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D2C0E8-6824-454F-ABE2-1391197939C8}"/>
              </a:ext>
            </a:extLst>
          </p:cNvPr>
          <p:cNvSpPr>
            <a:spLocks xmlns:a="http://schemas.openxmlformats.org/drawingml/2006/main" noGrp="1"/>
          </p:cNvSpPr>
          <p:nvPr/>
        </p:nvSpPr>
        <p:spPr>
          <a:xfrm xmlns:a="http://schemas.openxmlformats.org/drawingml/2006/main">
            <a:off x="838200" y="4438650"/>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Síncrono · HTTP 201</a:t>
            </a:r>
          </a:p>
        </p:txBody>
      </p:sp>
      <p:sp>
        <p:nvSpPr>
          <p:cNvPr id="12" name="">
            <a:extLst xmlns:a="http://schemas.openxmlformats.org/drawingml/2006/main">
              <a:ext uri="{FF2B5EF4-FFF2-40B4-BE49-F238E27FC236}">
                <a16:creationId xmlns:a16="http://schemas.microsoft.com/office/drawing/2014/main" id="{93C3C1A0-722A-4854-8751-60A9E77BB38B}"/>
              </a:ext>
            </a:extLst>
          </p:cNvPr>
          <p:cNvSpPr>
            <a:spLocks xmlns:a="http://schemas.openxmlformats.org/drawingml/2006/main" noGrp="1"/>
          </p:cNvSpPr>
          <p:nvPr/>
        </p:nvSpPr>
        <p:spPr>
          <a:xfrm xmlns:a="http://schemas.openxmlformats.org/drawingml/2006/main">
            <a:off x="838200" y="482917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 resposta é emitida após a transação de persistência.</a:t>
            </a:r>
          </a:p>
        </p:txBody>
      </p:sp>
      <p:sp>
        <p:nvSpPr>
          <p:cNvPr id="13" name="">
            <a:extLst xmlns:a="http://schemas.openxmlformats.org/drawingml/2006/main">
              <a:ext uri="{FF2B5EF4-FFF2-40B4-BE49-F238E27FC236}">
                <a16:creationId xmlns:a16="http://schemas.microsoft.com/office/drawing/2014/main" id="{9D681C64-00A0-4969-8584-04B55C344280}"/>
              </a:ext>
            </a:extLst>
          </p:cNvPr>
          <p:cNvSpPr>
            <a:spLocks xmlns:a="http://schemas.openxmlformats.org/drawingml/2006/main" noGrp="1"/>
          </p:cNvSpPr>
          <p:nvPr/>
        </p:nvSpPr>
        <p:spPr>
          <a:xfrm xmlns:a="http://schemas.openxmlformats.org/drawingml/2006/main">
            <a:off x="6048375" y="4238625"/>
            <a:ext cx="5524500" cy="1685925"/>
          </a:xfrm>
          <a:prstGeom xmlns:a="http://schemas.openxmlformats.org/drawingml/2006/main" prst="roundRect">
            <a:avLst>
              <a:gd name="adj" fmla="val 4520"/>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DA8391A-2039-4052-BE1C-99F6FFB283AC}"/>
              </a:ext>
            </a:extLst>
          </p:cNvPr>
          <p:cNvSpPr>
            <a:spLocks xmlns:a="http://schemas.openxmlformats.org/drawingml/2006/main" noGrp="1"/>
          </p:cNvSpPr>
          <p:nvPr/>
        </p:nvSpPr>
        <p:spPr>
          <a:xfrm xmlns:a="http://schemas.openxmlformats.org/drawingml/2006/main">
            <a:off x="6048375" y="4238625"/>
            <a:ext cx="66675" cy="1685925"/>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BF162D-8AAF-444C-BE74-9AA13F00EF4B}"/>
              </a:ext>
            </a:extLst>
          </p:cNvPr>
          <p:cNvSpPr>
            <a:spLocks xmlns:a="http://schemas.openxmlformats.org/drawingml/2006/main" noGrp="1"/>
          </p:cNvSpPr>
          <p:nvPr/>
        </p:nvSpPr>
        <p:spPr>
          <a:xfrm xmlns:a="http://schemas.openxmlformats.org/drawingml/2006/main">
            <a:off x="6267450" y="44386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Assíncrono · HTTP 202</a:t>
            </a:r>
          </a:p>
        </p:txBody>
      </p:sp>
      <p:sp>
        <p:nvSpPr>
          <p:cNvPr id="16" name="">
            <a:extLst xmlns:a="http://schemas.openxmlformats.org/drawingml/2006/main">
              <a:ext uri="{FF2B5EF4-FFF2-40B4-BE49-F238E27FC236}">
                <a16:creationId xmlns:a16="http://schemas.microsoft.com/office/drawing/2014/main" id="{797D3A27-8633-487F-8C26-0A001AD3CF61}"/>
              </a:ext>
            </a:extLst>
          </p:cNvPr>
          <p:cNvSpPr>
            <a:spLocks xmlns:a="http://schemas.openxmlformats.org/drawingml/2006/main" noGrp="1"/>
          </p:cNvSpPr>
          <p:nvPr/>
        </p:nvSpPr>
        <p:spPr>
          <a:xfrm xmlns:a="http://schemas.openxmlformats.org/drawingml/2006/main">
            <a:off x="6267450" y="482917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 resposta confirma o ACK do Kafka, não a gravação no banco.</a:t>
            </a:r>
          </a:p>
        </p:txBody>
      </p:sp>
    </p:spTree>
    <p:extLst>
      <p:ext uri="{BB962C8B-B14F-4D97-AF65-F5344CB8AC3E}">
        <p14:creationId xmlns:p14="http://schemas.microsoft.com/office/powerpoint/2010/main" val="1176591224"/>
      </p:ext>
    </p:extLst>
  </p:cSld>
</p:sld>
</file>

<file path=ppt/slides/slide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BBB573-1628-49BA-A261-390241E9E60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38887A-B333-44ED-92F7-F36B2BFEBD49}"/>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89388F78-FD1A-4FF6-8A78-5C05E503AB78}"/>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Cinco módulos Maven, três processos</a:t>
            </a:r>
          </a:p>
        </p:txBody>
      </p:sp>
      <p:sp>
        <p:nvSpPr>
          <p:cNvPr id="4" name="">
            <a:extLst xmlns:a="http://schemas.openxmlformats.org/drawingml/2006/main">
              <a:ext uri="{FF2B5EF4-FFF2-40B4-BE49-F238E27FC236}">
                <a16:creationId xmlns:a16="http://schemas.microsoft.com/office/drawing/2014/main" id="{D457A15A-C0AB-4B98-BE0C-9B0217992828}"/>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FE20FF-2FD3-4EA5-804D-F2F0D9F6D849}"/>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9A19F2CB-EEE8-429B-ADDC-5911AA1214C5}"/>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5/10</a:t>
            </a:r>
          </a:p>
        </p:txBody>
      </p:sp>
      <p:sp>
        <p:nvSpPr>
          <p:cNvPr id="7" name="">
            <a:extLst xmlns:a="http://schemas.openxmlformats.org/drawingml/2006/main">
              <a:ext uri="{FF2B5EF4-FFF2-40B4-BE49-F238E27FC236}">
                <a16:creationId xmlns:a16="http://schemas.microsoft.com/office/drawing/2014/main" id="{78B1B326-048B-401D-8A69-7A0D5475E0CA}"/>
              </a:ext>
            </a:extLst>
          </p:cNvPr>
          <p:cNvSpPr>
            <a:spLocks xmlns:a="http://schemas.openxmlformats.org/drawingml/2006/main" noGrp="1"/>
          </p:cNvSpPr>
          <p:nvPr/>
        </p:nvSpPr>
        <p:spPr>
          <a:xfrm xmlns:a="http://schemas.openxmlformats.org/drawingml/2006/main">
            <a:off x="619125" y="1666875"/>
            <a:ext cx="7334250" cy="4238625"/>
          </a:xfrm>
          <a:prstGeom xmlns:a="http://schemas.openxmlformats.org/drawingml/2006/main" prst="roundRect">
            <a:avLst>
              <a:gd name="adj" fmla="val 1798"/>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198be4e4357463a"/>
          <a:stretch xmlns:a="http://schemas.openxmlformats.org/drawingml/2006/main"/>
        </p:blipFill>
        <p:spPr>
          <a:xfrm xmlns:a="http://schemas.openxmlformats.org/drawingml/2006/main">
            <a:off x="790575" y="2053943"/>
            <a:ext cx="6991350" cy="346448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F598B0B-2569-44B8-B757-6E9E8C4966FB}"/>
              </a:ext>
            </a:extLst>
          </p:cNvPr>
          <p:cNvSpPr>
            <a:spLocks xmlns:a="http://schemas.openxmlformats.org/drawingml/2006/main" noGrp="1"/>
          </p:cNvSpPr>
          <p:nvPr/>
        </p:nvSpPr>
        <p:spPr>
          <a:xfrm xmlns:a="http://schemas.openxmlformats.org/drawingml/2006/main">
            <a:off x="8191500" y="1666875"/>
            <a:ext cx="33813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E00275-4288-4185-B090-4BCA8A12F124}"/>
              </a:ext>
            </a:extLst>
          </p:cNvPr>
          <p:cNvSpPr>
            <a:spLocks xmlns:a="http://schemas.openxmlformats.org/drawingml/2006/main" noGrp="1"/>
          </p:cNvSpPr>
          <p:nvPr/>
        </p:nvSpPr>
        <p:spPr>
          <a:xfrm xmlns:a="http://schemas.openxmlformats.org/drawingml/2006/main">
            <a:off x="8191500" y="1666875"/>
            <a:ext cx="66675" cy="200025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A6BAF2-F186-44FE-89D7-AB26AA3A7D8A}"/>
              </a:ext>
            </a:extLst>
          </p:cNvPr>
          <p:cNvSpPr>
            <a:spLocks xmlns:a="http://schemas.openxmlformats.org/drawingml/2006/main" noGrp="1"/>
          </p:cNvSpPr>
          <p:nvPr/>
        </p:nvSpPr>
        <p:spPr>
          <a:xfrm xmlns:a="http://schemas.openxmlformats.org/drawingml/2006/main">
            <a:off x="8410575" y="18669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Bibliotecas</a:t>
            </a:r>
          </a:p>
        </p:txBody>
      </p:sp>
      <p:sp>
        <p:nvSpPr>
          <p:cNvPr id="12" name="">
            <a:extLst xmlns:a="http://schemas.openxmlformats.org/drawingml/2006/main">
              <a:ext uri="{FF2B5EF4-FFF2-40B4-BE49-F238E27FC236}">
                <a16:creationId xmlns:a16="http://schemas.microsoft.com/office/drawing/2014/main" id="{378E97E7-7CB4-493F-908E-CD794DCBF9FC}"/>
              </a:ext>
            </a:extLst>
          </p:cNvPr>
          <p:cNvSpPr>
            <a:spLocks xmlns:a="http://schemas.openxmlformats.org/drawingml/2006/main" noGrp="1"/>
          </p:cNvSpPr>
          <p:nvPr/>
        </p:nvSpPr>
        <p:spPr>
          <a:xfrm xmlns:a="http://schemas.openxmlformats.org/drawingml/2006/main">
            <a:off x="8410575" y="2257425"/>
            <a:ext cx="295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audit-core e audit-storage compartilham contrato, hash e persistência.</a:t>
            </a:r>
          </a:p>
        </p:txBody>
      </p:sp>
      <p:sp>
        <p:nvSpPr>
          <p:cNvPr id="13" name="">
            <a:extLst xmlns:a="http://schemas.openxmlformats.org/drawingml/2006/main">
              <a:ext uri="{FF2B5EF4-FFF2-40B4-BE49-F238E27FC236}">
                <a16:creationId xmlns:a16="http://schemas.microsoft.com/office/drawing/2014/main" id="{756FBEAB-CC15-45AC-B173-F2FD8B6C6115}"/>
              </a:ext>
            </a:extLst>
          </p:cNvPr>
          <p:cNvSpPr>
            <a:spLocks xmlns:a="http://schemas.openxmlformats.org/drawingml/2006/main" noGrp="1"/>
          </p:cNvSpPr>
          <p:nvPr/>
        </p:nvSpPr>
        <p:spPr>
          <a:xfrm xmlns:a="http://schemas.openxmlformats.org/drawingml/2006/main">
            <a:off x="8191500" y="3857625"/>
            <a:ext cx="3381375" cy="2047875"/>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C16928-8416-437B-8F04-57806C857D51}"/>
              </a:ext>
            </a:extLst>
          </p:cNvPr>
          <p:cNvSpPr>
            <a:spLocks xmlns:a="http://schemas.openxmlformats.org/drawingml/2006/main" noGrp="1"/>
          </p:cNvSpPr>
          <p:nvPr/>
        </p:nvSpPr>
        <p:spPr>
          <a:xfrm xmlns:a="http://schemas.openxmlformats.org/drawingml/2006/main">
            <a:off x="8191500" y="3857625"/>
            <a:ext cx="66675" cy="204787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C586D4-1AEC-4E4A-AE93-01C7A3FBE7C4}"/>
              </a:ext>
            </a:extLst>
          </p:cNvPr>
          <p:cNvSpPr>
            <a:spLocks xmlns:a="http://schemas.openxmlformats.org/drawingml/2006/main" noGrp="1"/>
          </p:cNvSpPr>
          <p:nvPr/>
        </p:nvSpPr>
        <p:spPr>
          <a:xfrm xmlns:a="http://schemas.openxmlformats.org/drawingml/2006/main">
            <a:off x="8410575" y="40576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Executáveis</a:t>
            </a:r>
          </a:p>
        </p:txBody>
      </p:sp>
      <p:sp>
        <p:nvSpPr>
          <p:cNvPr id="16" name="">
            <a:extLst xmlns:a="http://schemas.openxmlformats.org/drawingml/2006/main">
              <a:ext uri="{FF2B5EF4-FFF2-40B4-BE49-F238E27FC236}">
                <a16:creationId xmlns:a16="http://schemas.microsoft.com/office/drawing/2014/main" id="{DC95E5DB-BA3B-4C8E-A14B-13E3A552C966}"/>
              </a:ext>
            </a:extLst>
          </p:cNvPr>
          <p:cNvSpPr>
            <a:spLocks xmlns:a="http://schemas.openxmlformats.org/drawingml/2006/main" noGrp="1"/>
          </p:cNvSpPr>
          <p:nvPr/>
        </p:nvSpPr>
        <p:spPr>
          <a:xfrm xmlns:a="http://schemas.openxmlformats.org/drawingml/2006/main">
            <a:off x="8410575" y="4448175"/>
            <a:ext cx="2952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sync-api, async-api e consumer iniciam como processos separados.</a:t>
            </a:r>
          </a:p>
        </p:txBody>
      </p:sp>
    </p:spTree>
    <p:extLst>
      <p:ext uri="{BB962C8B-B14F-4D97-AF65-F5344CB8AC3E}">
        <p14:creationId xmlns:p14="http://schemas.microsoft.com/office/powerpoint/2010/main" val="422957839"/>
      </p:ext>
    </p:extLst>
  </p:cSld>
</p:sld>
</file>

<file path=ppt/slides/slide6.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354F11F-6AF2-4F33-9C73-7527BC0237D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BC6DBF-819F-452E-A4BE-CC37A885ECEA}"/>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F6F478C9-6EF7-4542-995B-2D3C0DFF486B}"/>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Consumidor: retry, DLQ e confirmação</a:t>
            </a:r>
          </a:p>
        </p:txBody>
      </p:sp>
      <p:sp>
        <p:nvSpPr>
          <p:cNvPr id="4" name="">
            <a:extLst xmlns:a="http://schemas.openxmlformats.org/drawingml/2006/main">
              <a:ext uri="{FF2B5EF4-FFF2-40B4-BE49-F238E27FC236}">
                <a16:creationId xmlns:a16="http://schemas.microsoft.com/office/drawing/2014/main" id="{DB07D33F-ADF8-4A41-A974-A76F5D8A639D}"/>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7CE90E-E78E-4219-953F-DEF0F35CF3B6}"/>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EDE5F1BD-E580-44E3-A01A-697C0E0113E7}"/>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6/10</a:t>
            </a:r>
          </a:p>
        </p:txBody>
      </p:sp>
      <p:sp>
        <p:nvSpPr>
          <p:cNvPr id="7" name="">
            <a:extLst xmlns:a="http://schemas.openxmlformats.org/drawingml/2006/main">
              <a:ext uri="{FF2B5EF4-FFF2-40B4-BE49-F238E27FC236}">
                <a16:creationId xmlns:a16="http://schemas.microsoft.com/office/drawing/2014/main" id="{B75E3309-D972-4AF7-8796-C5A7E63CEB91}"/>
              </a:ext>
            </a:extLst>
          </p:cNvPr>
          <p:cNvSpPr>
            <a:spLocks xmlns:a="http://schemas.openxmlformats.org/drawingml/2006/main" noGrp="1"/>
          </p:cNvSpPr>
          <p:nvPr/>
        </p:nvSpPr>
        <p:spPr>
          <a:xfrm xmlns:a="http://schemas.openxmlformats.org/drawingml/2006/main">
            <a:off x="619125" y="1809750"/>
            <a:ext cx="3171825" cy="1685925"/>
          </a:xfrm>
          <a:prstGeom xmlns:a="http://schemas.openxmlformats.org/drawingml/2006/main" prst="roundRect">
            <a:avLst>
              <a:gd name="adj" fmla="val 4520"/>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B08686-0E19-4147-8228-4A884E26E491}"/>
              </a:ext>
            </a:extLst>
          </p:cNvPr>
          <p:cNvSpPr>
            <a:spLocks xmlns:a="http://schemas.openxmlformats.org/drawingml/2006/main" noGrp="1"/>
          </p:cNvSpPr>
          <p:nvPr/>
        </p:nvSpPr>
        <p:spPr>
          <a:xfrm xmlns:a="http://schemas.openxmlformats.org/drawingml/2006/main">
            <a:off x="619125" y="1809750"/>
            <a:ext cx="66675" cy="16859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3405AC-5F5C-4883-AA32-61A897FA8AE8}"/>
              </a:ext>
            </a:extLst>
          </p:cNvPr>
          <p:cNvSpPr>
            <a:spLocks xmlns:a="http://schemas.openxmlformats.org/drawingml/2006/main" noGrp="1"/>
          </p:cNvSpPr>
          <p:nvPr/>
        </p:nvSpPr>
        <p:spPr>
          <a:xfrm xmlns:a="http://schemas.openxmlformats.org/drawingml/2006/main">
            <a:off x="838200" y="200977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1 · Receber</a:t>
            </a:r>
          </a:p>
        </p:txBody>
      </p:sp>
      <p:sp>
        <p:nvSpPr>
          <p:cNvPr id="10" name="">
            <a:extLst xmlns:a="http://schemas.openxmlformats.org/drawingml/2006/main">
              <a:ext uri="{FF2B5EF4-FFF2-40B4-BE49-F238E27FC236}">
                <a16:creationId xmlns:a16="http://schemas.microsoft.com/office/drawing/2014/main" id="{E188B960-1BF6-486E-B233-53093B586A12}"/>
              </a:ext>
            </a:extLst>
          </p:cNvPr>
          <p:cNvSpPr>
            <a:spLocks xmlns:a="http://schemas.openxmlformats.org/drawingml/2006/main" noGrp="1"/>
          </p:cNvSpPr>
          <p:nvPr/>
        </p:nvSpPr>
        <p:spPr>
          <a:xfrm xmlns:a="http://schemas.openxmlformats.org/drawingml/2006/main">
            <a:off x="838200" y="2400300"/>
            <a:ext cx="274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Lê a mensagem e valida o evento completo.</a:t>
            </a:r>
          </a:p>
        </p:txBody>
      </p:sp>
      <p:sp>
        <p:nvSpPr>
          <p:cNvPr id="11" name="">
            <a:extLst xmlns:a="http://schemas.openxmlformats.org/drawingml/2006/main">
              <a:ext uri="{FF2B5EF4-FFF2-40B4-BE49-F238E27FC236}">
                <a16:creationId xmlns:a16="http://schemas.microsoft.com/office/drawing/2014/main" id="{33223F88-AB4E-480B-9E8C-40953EBF098A}"/>
              </a:ext>
            </a:extLst>
          </p:cNvPr>
          <p:cNvSpPr>
            <a:spLocks xmlns:a="http://schemas.openxmlformats.org/drawingml/2006/main" noGrp="1"/>
          </p:cNvSpPr>
          <p:nvPr/>
        </p:nvSpPr>
        <p:spPr>
          <a:xfrm xmlns:a="http://schemas.openxmlformats.org/drawingml/2006/main">
            <a:off x="3905250" y="2324100"/>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C8C87"/>
                </a:solidFill>
                <a:latin typeface="Arial"/>
                <a:ea typeface="Arial"/>
                <a:cs typeface="Arial"/>
              </a:defRPr>
            </a:pPr>
            <a:r>
              <a:rPr sz="3150" b="1">
                <a:solidFill>
                  <a:srgbClr val="0C8C87"/>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D290BE73-4C5B-44A9-BFE9-4845D6B3D5CA}"/>
              </a:ext>
            </a:extLst>
          </p:cNvPr>
          <p:cNvSpPr>
            <a:spLocks xmlns:a="http://schemas.openxmlformats.org/drawingml/2006/main" noGrp="1"/>
          </p:cNvSpPr>
          <p:nvPr/>
        </p:nvSpPr>
        <p:spPr>
          <a:xfrm xmlns:a="http://schemas.openxmlformats.org/drawingml/2006/main">
            <a:off x="4429125" y="1809750"/>
            <a:ext cx="3171825" cy="1685925"/>
          </a:xfrm>
          <a:prstGeom xmlns:a="http://schemas.openxmlformats.org/drawingml/2006/main" prst="roundRect">
            <a:avLst>
              <a:gd name="adj" fmla="val 4520"/>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741406B-3D49-45B2-B1C0-5652929D99C4}"/>
              </a:ext>
            </a:extLst>
          </p:cNvPr>
          <p:cNvSpPr>
            <a:spLocks xmlns:a="http://schemas.openxmlformats.org/drawingml/2006/main" noGrp="1"/>
          </p:cNvSpPr>
          <p:nvPr/>
        </p:nvSpPr>
        <p:spPr>
          <a:xfrm xmlns:a="http://schemas.openxmlformats.org/drawingml/2006/main">
            <a:off x="4429125" y="1809750"/>
            <a:ext cx="66675" cy="16859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4723BE-6616-43C5-9B8E-AC3214447C1C}"/>
              </a:ext>
            </a:extLst>
          </p:cNvPr>
          <p:cNvSpPr>
            <a:spLocks xmlns:a="http://schemas.openxmlformats.org/drawingml/2006/main" noGrp="1"/>
          </p:cNvSpPr>
          <p:nvPr/>
        </p:nvSpPr>
        <p:spPr>
          <a:xfrm xmlns:a="http://schemas.openxmlformats.org/drawingml/2006/main">
            <a:off x="4648200" y="200977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2 · Persistir</a:t>
            </a:r>
          </a:p>
        </p:txBody>
      </p:sp>
      <p:sp>
        <p:nvSpPr>
          <p:cNvPr id="15" name="">
            <a:extLst xmlns:a="http://schemas.openxmlformats.org/drawingml/2006/main">
              <a:ext uri="{FF2B5EF4-FFF2-40B4-BE49-F238E27FC236}">
                <a16:creationId xmlns:a16="http://schemas.microsoft.com/office/drawing/2014/main" id="{3012F982-7A53-4E41-97E7-F9669A81028D}"/>
              </a:ext>
            </a:extLst>
          </p:cNvPr>
          <p:cNvSpPr>
            <a:spLocks xmlns:a="http://schemas.openxmlformats.org/drawingml/2006/main" noGrp="1"/>
          </p:cNvSpPr>
          <p:nvPr/>
        </p:nvSpPr>
        <p:spPr>
          <a:xfrm xmlns:a="http://schemas.openxmlformats.org/drawingml/2006/main">
            <a:off x="4648200" y="2400300"/>
            <a:ext cx="274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Usa o mesmo repositório JDBC da variante síncrona.</a:t>
            </a:r>
          </a:p>
        </p:txBody>
      </p:sp>
      <p:sp>
        <p:nvSpPr>
          <p:cNvPr id="16" name="">
            <a:extLst xmlns:a="http://schemas.openxmlformats.org/drawingml/2006/main">
              <a:ext uri="{FF2B5EF4-FFF2-40B4-BE49-F238E27FC236}">
                <a16:creationId xmlns:a16="http://schemas.microsoft.com/office/drawing/2014/main" id="{C027E7A9-3058-497A-BD72-24D4D71B6A63}"/>
              </a:ext>
            </a:extLst>
          </p:cNvPr>
          <p:cNvSpPr>
            <a:spLocks xmlns:a="http://schemas.openxmlformats.org/drawingml/2006/main" noGrp="1"/>
          </p:cNvSpPr>
          <p:nvPr/>
        </p:nvSpPr>
        <p:spPr>
          <a:xfrm xmlns:a="http://schemas.openxmlformats.org/drawingml/2006/main">
            <a:off x="7734300" y="2324100"/>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C8C87"/>
                </a:solidFill>
                <a:latin typeface="Arial"/>
                <a:ea typeface="Arial"/>
                <a:cs typeface="Arial"/>
              </a:defRPr>
            </a:pPr>
            <a:r>
              <a:rPr sz="3150" b="1">
                <a:solidFill>
                  <a:srgbClr val="0C8C8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A5B25E3A-0F4B-4B44-8888-C1AE1B4BCED0}"/>
              </a:ext>
            </a:extLst>
          </p:cNvPr>
          <p:cNvSpPr>
            <a:spLocks xmlns:a="http://schemas.openxmlformats.org/drawingml/2006/main" noGrp="1"/>
          </p:cNvSpPr>
          <p:nvPr/>
        </p:nvSpPr>
        <p:spPr>
          <a:xfrm xmlns:a="http://schemas.openxmlformats.org/drawingml/2006/main">
            <a:off x="8239125" y="1809750"/>
            <a:ext cx="3333750" cy="1685925"/>
          </a:xfrm>
          <a:prstGeom xmlns:a="http://schemas.openxmlformats.org/drawingml/2006/main" prst="roundRect">
            <a:avLst>
              <a:gd name="adj" fmla="val 4520"/>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DA1F4B-7059-43FE-9A17-EE0B756DD0F2}"/>
              </a:ext>
            </a:extLst>
          </p:cNvPr>
          <p:cNvSpPr>
            <a:spLocks xmlns:a="http://schemas.openxmlformats.org/drawingml/2006/main" noGrp="1"/>
          </p:cNvSpPr>
          <p:nvPr/>
        </p:nvSpPr>
        <p:spPr>
          <a:xfrm xmlns:a="http://schemas.openxmlformats.org/drawingml/2006/main">
            <a:off x="8239125" y="1809750"/>
            <a:ext cx="66675" cy="16859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3E8371-B0C9-4EA9-917C-DFBFBBB38C7E}"/>
              </a:ext>
            </a:extLst>
          </p:cNvPr>
          <p:cNvSpPr>
            <a:spLocks xmlns:a="http://schemas.openxmlformats.org/drawingml/2006/main" noGrp="1"/>
          </p:cNvSpPr>
          <p:nvPr/>
        </p:nvSpPr>
        <p:spPr>
          <a:xfrm xmlns:a="http://schemas.openxmlformats.org/drawingml/2006/main">
            <a:off x="8458200" y="2009775"/>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3 · Confirmar</a:t>
            </a:r>
          </a:p>
        </p:txBody>
      </p:sp>
      <p:sp>
        <p:nvSpPr>
          <p:cNvPr id="20" name="">
            <a:extLst xmlns:a="http://schemas.openxmlformats.org/drawingml/2006/main">
              <a:ext uri="{FF2B5EF4-FFF2-40B4-BE49-F238E27FC236}">
                <a16:creationId xmlns:a16="http://schemas.microsoft.com/office/drawing/2014/main" id="{FDDC7137-BC67-4B70-9B1F-D8A475E2C0E2}"/>
              </a:ext>
            </a:extLst>
          </p:cNvPr>
          <p:cNvSpPr>
            <a:spLocks xmlns:a="http://schemas.openxmlformats.org/drawingml/2006/main" noGrp="1"/>
          </p:cNvSpPr>
          <p:nvPr/>
        </p:nvSpPr>
        <p:spPr>
          <a:xfrm xmlns:a="http://schemas.openxmlformats.org/drawingml/2006/main">
            <a:off x="8458200" y="2400300"/>
            <a:ext cx="290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Após a transação, confirma o offset de origem.</a:t>
            </a:r>
          </a:p>
        </p:txBody>
      </p:sp>
      <p:sp>
        <p:nvSpPr>
          <p:cNvPr id="21" name="">
            <a:extLst xmlns:a="http://schemas.openxmlformats.org/drawingml/2006/main">
              <a:ext uri="{FF2B5EF4-FFF2-40B4-BE49-F238E27FC236}">
                <a16:creationId xmlns:a16="http://schemas.microsoft.com/office/drawing/2014/main" id="{6853EBFD-0A66-4B6A-825C-D8F6FC940528}"/>
              </a:ext>
            </a:extLst>
          </p:cNvPr>
          <p:cNvSpPr>
            <a:spLocks xmlns:a="http://schemas.openxmlformats.org/drawingml/2006/main" noGrp="1"/>
          </p:cNvSpPr>
          <p:nvPr/>
        </p:nvSpPr>
        <p:spPr>
          <a:xfrm xmlns:a="http://schemas.openxmlformats.org/drawingml/2006/main">
            <a:off x="619125" y="3952875"/>
            <a:ext cx="523875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944AE2A-536B-4EBE-95EF-35A04D5799C5}"/>
              </a:ext>
            </a:extLst>
          </p:cNvPr>
          <p:cNvSpPr>
            <a:spLocks xmlns:a="http://schemas.openxmlformats.org/drawingml/2006/main" noGrp="1"/>
          </p:cNvSpPr>
          <p:nvPr/>
        </p:nvSpPr>
        <p:spPr>
          <a:xfrm xmlns:a="http://schemas.openxmlformats.org/drawingml/2006/main">
            <a:off x="619125" y="3952875"/>
            <a:ext cx="66675" cy="198120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0AE827-E3BB-482B-99FE-C64E892C44DB}"/>
              </a:ext>
            </a:extLst>
          </p:cNvPr>
          <p:cNvSpPr>
            <a:spLocks xmlns:a="http://schemas.openxmlformats.org/drawingml/2006/main" noGrp="1"/>
          </p:cNvSpPr>
          <p:nvPr/>
        </p:nvSpPr>
        <p:spPr>
          <a:xfrm xmlns:a="http://schemas.openxmlformats.org/drawingml/2006/main">
            <a:off x="838200" y="4152900"/>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Falha transitória</a:t>
            </a:r>
          </a:p>
        </p:txBody>
      </p:sp>
      <p:sp>
        <p:nvSpPr>
          <p:cNvPr id="24" name="">
            <a:extLst xmlns:a="http://schemas.openxmlformats.org/drawingml/2006/main">
              <a:ext uri="{FF2B5EF4-FFF2-40B4-BE49-F238E27FC236}">
                <a16:creationId xmlns:a16="http://schemas.microsoft.com/office/drawing/2014/main" id="{90547B26-B536-4DD1-B0E1-8AA01A1D650C}"/>
              </a:ext>
            </a:extLst>
          </p:cNvPr>
          <p:cNvSpPr>
            <a:spLocks xmlns:a="http://schemas.openxmlformats.org/drawingml/2006/main" noGrp="1"/>
          </p:cNvSpPr>
          <p:nvPr/>
        </p:nvSpPr>
        <p:spPr>
          <a:xfrm xmlns:a="http://schemas.openxmlformats.org/drawingml/2006/main">
            <a:off x="838200" y="4543425"/>
            <a:ext cx="48101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Repete a persistência com tentativas e intervalo limitados.</a:t>
            </a:r>
          </a:p>
        </p:txBody>
      </p:sp>
      <p:sp>
        <p:nvSpPr>
          <p:cNvPr id="25" name="">
            <a:extLst xmlns:a="http://schemas.openxmlformats.org/drawingml/2006/main">
              <a:ext uri="{FF2B5EF4-FFF2-40B4-BE49-F238E27FC236}">
                <a16:creationId xmlns:a16="http://schemas.microsoft.com/office/drawing/2014/main" id="{63E1863D-2C89-4932-A02E-3406D855FA69}"/>
              </a:ext>
            </a:extLst>
          </p:cNvPr>
          <p:cNvSpPr>
            <a:spLocks xmlns:a="http://schemas.openxmlformats.org/drawingml/2006/main" noGrp="1"/>
          </p:cNvSpPr>
          <p:nvPr/>
        </p:nvSpPr>
        <p:spPr>
          <a:xfrm xmlns:a="http://schemas.openxmlformats.org/drawingml/2006/main">
            <a:off x="6048375" y="3952875"/>
            <a:ext cx="552450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D226C67-13A3-45FB-ABE8-0D6F7E6B6BB1}"/>
              </a:ext>
            </a:extLst>
          </p:cNvPr>
          <p:cNvSpPr>
            <a:spLocks xmlns:a="http://schemas.openxmlformats.org/drawingml/2006/main" noGrp="1"/>
          </p:cNvSpPr>
          <p:nvPr/>
        </p:nvSpPr>
        <p:spPr>
          <a:xfrm xmlns:a="http://schemas.openxmlformats.org/drawingml/2006/main">
            <a:off x="6048375" y="3952875"/>
            <a:ext cx="66675" cy="1981200"/>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1462CDE-BB41-4114-B301-D53BD985B006}"/>
              </a:ext>
            </a:extLst>
          </p:cNvPr>
          <p:cNvSpPr>
            <a:spLocks xmlns:a="http://schemas.openxmlformats.org/drawingml/2006/main" noGrp="1"/>
          </p:cNvSpPr>
          <p:nvPr/>
        </p:nvSpPr>
        <p:spPr>
          <a:xfrm xmlns:a="http://schemas.openxmlformats.org/drawingml/2006/main">
            <a:off x="6267450" y="415290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Falha terminal</a:t>
            </a:r>
          </a:p>
        </p:txBody>
      </p:sp>
      <p:sp>
        <p:nvSpPr>
          <p:cNvPr id="28" name="">
            <a:extLst xmlns:a="http://schemas.openxmlformats.org/drawingml/2006/main">
              <a:ext uri="{FF2B5EF4-FFF2-40B4-BE49-F238E27FC236}">
                <a16:creationId xmlns:a16="http://schemas.microsoft.com/office/drawing/2014/main" id="{2B3A3BF0-7A81-4F65-A51A-D1A52E270BCD}"/>
              </a:ext>
            </a:extLst>
          </p:cNvPr>
          <p:cNvSpPr>
            <a:spLocks xmlns:a="http://schemas.openxmlformats.org/drawingml/2006/main" noGrp="1"/>
          </p:cNvSpPr>
          <p:nvPr/>
        </p:nvSpPr>
        <p:spPr>
          <a:xfrm xmlns:a="http://schemas.openxmlformats.org/drawingml/2006/main">
            <a:off x="6267450" y="4543425"/>
            <a:ext cx="50958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Publica na DLQ, espera seu ACK e só então confirma a origem.</a:t>
            </a:r>
          </a:p>
        </p:txBody>
      </p:sp>
    </p:spTree>
    <p:extLst>
      <p:ext uri="{BB962C8B-B14F-4D97-AF65-F5344CB8AC3E}">
        <p14:creationId xmlns:p14="http://schemas.microsoft.com/office/powerpoint/2010/main" val="1050840770"/>
      </p:ext>
    </p:extLst>
  </p:cSld>
</p:sld>
</file>

<file path=ppt/slides/slide7.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0E7506-0E01-42B1-A003-88737786B75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E6BC76-1173-44C4-9E86-1092E69C35CB}"/>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D3B95338-C0EE-4CF6-AC08-2F667450C89A}"/>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Banco de dados real: uma tabela operacional</a:t>
            </a:r>
          </a:p>
        </p:txBody>
      </p:sp>
      <p:sp>
        <p:nvSpPr>
          <p:cNvPr id="4" name="">
            <a:extLst xmlns:a="http://schemas.openxmlformats.org/drawingml/2006/main">
              <a:ext uri="{FF2B5EF4-FFF2-40B4-BE49-F238E27FC236}">
                <a16:creationId xmlns:a16="http://schemas.microsoft.com/office/drawing/2014/main" id="{78917DCA-9AE1-47CC-95C7-43DB273CB994}"/>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A0623F-0D40-47FA-9995-CF0E8194B8F7}"/>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FB7EB3A3-0388-40D9-B8CE-1AB90E2CDDE5}"/>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7/10</a:t>
            </a:r>
          </a:p>
        </p:txBody>
      </p:sp>
      <p:sp>
        <p:nvSpPr>
          <p:cNvPr id="7" name="">
            <a:extLst xmlns:a="http://schemas.openxmlformats.org/drawingml/2006/main">
              <a:ext uri="{FF2B5EF4-FFF2-40B4-BE49-F238E27FC236}">
                <a16:creationId xmlns:a16="http://schemas.microsoft.com/office/drawing/2014/main" id="{8179CDBB-5FFC-4A07-BDA7-8CBD1C759946}"/>
              </a:ext>
            </a:extLst>
          </p:cNvPr>
          <p:cNvSpPr>
            <a:spLocks xmlns:a="http://schemas.openxmlformats.org/drawingml/2006/main" noGrp="1"/>
          </p:cNvSpPr>
          <p:nvPr/>
        </p:nvSpPr>
        <p:spPr>
          <a:xfrm xmlns:a="http://schemas.openxmlformats.org/drawingml/2006/main">
            <a:off x="619125" y="1666875"/>
            <a:ext cx="1095375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fbeffb9c4c4481d"/>
          <a:stretch xmlns:a="http://schemas.openxmlformats.org/drawingml/2006/main"/>
        </p:blipFill>
        <p:spPr>
          <a:xfrm xmlns:a="http://schemas.openxmlformats.org/drawingml/2006/main">
            <a:off x="1674072" y="1809750"/>
            <a:ext cx="8843857" cy="2476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F36F84-6971-4363-BD0B-37B57B5196D5}"/>
              </a:ext>
            </a:extLst>
          </p:cNvPr>
          <p:cNvSpPr>
            <a:spLocks xmlns:a="http://schemas.openxmlformats.org/drawingml/2006/main" noGrp="1"/>
          </p:cNvSpPr>
          <p:nvPr/>
        </p:nvSpPr>
        <p:spPr>
          <a:xfrm xmlns:a="http://schemas.openxmlformats.org/drawingml/2006/main">
            <a:off x="619125" y="4705350"/>
            <a:ext cx="3381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C8F4C4-42AE-4E2C-A296-C31B7D5F974F}"/>
              </a:ext>
            </a:extLst>
          </p:cNvPr>
          <p:cNvSpPr>
            <a:spLocks xmlns:a="http://schemas.openxmlformats.org/drawingml/2006/main" noGrp="1"/>
          </p:cNvSpPr>
          <p:nvPr/>
        </p:nvSpPr>
        <p:spPr>
          <a:xfrm xmlns:a="http://schemas.openxmlformats.org/drawingml/2006/main">
            <a:off x="619125" y="4705350"/>
            <a:ext cx="66675" cy="123825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92CD98-A1F4-4417-AC65-6557934B21AB}"/>
              </a:ext>
            </a:extLst>
          </p:cNvPr>
          <p:cNvSpPr>
            <a:spLocks xmlns:a="http://schemas.openxmlformats.org/drawingml/2006/main" noGrp="1"/>
          </p:cNvSpPr>
          <p:nvPr/>
        </p:nvSpPr>
        <p:spPr>
          <a:xfrm xmlns:a="http://schemas.openxmlformats.org/drawingml/2006/main">
            <a:off x="838200" y="49053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Identidade</a:t>
            </a:r>
          </a:p>
        </p:txBody>
      </p:sp>
      <p:sp>
        <p:nvSpPr>
          <p:cNvPr id="12" name="">
            <a:extLst xmlns:a="http://schemas.openxmlformats.org/drawingml/2006/main">
              <a:ext uri="{FF2B5EF4-FFF2-40B4-BE49-F238E27FC236}">
                <a16:creationId xmlns:a16="http://schemas.microsoft.com/office/drawing/2014/main" id="{E3266C25-F4E1-45F8-BBB6-8406F9DFD36C}"/>
              </a:ext>
            </a:extLst>
          </p:cNvPr>
          <p:cNvSpPr>
            <a:spLocks xmlns:a="http://schemas.openxmlformats.org/drawingml/2006/main" noGrp="1"/>
          </p:cNvSpPr>
          <p:nvPr/>
        </p:nvSpPr>
        <p:spPr>
          <a:xfrm xmlns:a="http://schemas.openxmlformats.org/drawingml/2006/main">
            <a:off x="838200" y="5295900"/>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event_id é chave primária UUID.</a:t>
            </a:r>
          </a:p>
        </p:txBody>
      </p:sp>
      <p:sp>
        <p:nvSpPr>
          <p:cNvPr id="13" name="">
            <a:extLst xmlns:a="http://schemas.openxmlformats.org/drawingml/2006/main">
              <a:ext uri="{FF2B5EF4-FFF2-40B4-BE49-F238E27FC236}">
                <a16:creationId xmlns:a16="http://schemas.microsoft.com/office/drawing/2014/main" id="{8FA0F61A-C30F-47C8-8CDB-6A2D4828C5CF}"/>
              </a:ext>
            </a:extLst>
          </p:cNvPr>
          <p:cNvSpPr>
            <a:spLocks xmlns:a="http://schemas.openxmlformats.org/drawingml/2006/main" noGrp="1"/>
          </p:cNvSpPr>
          <p:nvPr/>
        </p:nvSpPr>
        <p:spPr>
          <a:xfrm xmlns:a="http://schemas.openxmlformats.org/drawingml/2006/main">
            <a:off x="4238625" y="4705350"/>
            <a:ext cx="3381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05D89B-06BA-414B-817B-7C8E05DFF9B2}"/>
              </a:ext>
            </a:extLst>
          </p:cNvPr>
          <p:cNvSpPr>
            <a:spLocks xmlns:a="http://schemas.openxmlformats.org/drawingml/2006/main" noGrp="1"/>
          </p:cNvSpPr>
          <p:nvPr/>
        </p:nvSpPr>
        <p:spPr>
          <a:xfrm xmlns:a="http://schemas.openxmlformats.org/drawingml/2006/main">
            <a:off x="4238625" y="4705350"/>
            <a:ext cx="66675" cy="123825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BEE4B5F-C2C2-4321-B93C-2E3134B9400A}"/>
              </a:ext>
            </a:extLst>
          </p:cNvPr>
          <p:cNvSpPr>
            <a:spLocks xmlns:a="http://schemas.openxmlformats.org/drawingml/2006/main" noGrp="1"/>
          </p:cNvSpPr>
          <p:nvPr/>
        </p:nvSpPr>
        <p:spPr>
          <a:xfrm xmlns:a="http://schemas.openxmlformats.org/drawingml/2006/main">
            <a:off x="4457700" y="49053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Integridade</a:t>
            </a:r>
          </a:p>
        </p:txBody>
      </p:sp>
      <p:sp>
        <p:nvSpPr>
          <p:cNvPr id="16" name="">
            <a:extLst xmlns:a="http://schemas.openxmlformats.org/drawingml/2006/main">
              <a:ext uri="{FF2B5EF4-FFF2-40B4-BE49-F238E27FC236}">
                <a16:creationId xmlns:a16="http://schemas.microsoft.com/office/drawing/2014/main" id="{8F7933BA-560F-4146-9123-1DF51FDF2B07}"/>
              </a:ext>
            </a:extLst>
          </p:cNvPr>
          <p:cNvSpPr>
            <a:spLocks xmlns:a="http://schemas.openxmlformats.org/drawingml/2006/main" noGrp="1"/>
          </p:cNvSpPr>
          <p:nvPr/>
        </p:nvSpPr>
        <p:spPr>
          <a:xfrm xmlns:a="http://schemas.openxmlformats.org/drawingml/2006/main">
            <a:off x="4457700" y="5295900"/>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Hash SHA-256 compara reenvios com o mesmo UUID.</a:t>
            </a:r>
          </a:p>
        </p:txBody>
      </p:sp>
      <p:sp>
        <p:nvSpPr>
          <p:cNvPr id="17" name="">
            <a:extLst xmlns:a="http://schemas.openxmlformats.org/drawingml/2006/main">
              <a:ext uri="{FF2B5EF4-FFF2-40B4-BE49-F238E27FC236}">
                <a16:creationId xmlns:a16="http://schemas.microsoft.com/office/drawing/2014/main" id="{05AAFF46-DA61-4450-BE14-39718C5ABBE0}"/>
              </a:ext>
            </a:extLst>
          </p:cNvPr>
          <p:cNvSpPr>
            <a:spLocks xmlns:a="http://schemas.openxmlformats.org/drawingml/2006/main" noGrp="1"/>
          </p:cNvSpPr>
          <p:nvPr/>
        </p:nvSpPr>
        <p:spPr>
          <a:xfrm xmlns:a="http://schemas.openxmlformats.org/drawingml/2006/main">
            <a:off x="7858125" y="4705350"/>
            <a:ext cx="3714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C4E242-20FB-4F5D-A49B-AD297A01F3A2}"/>
              </a:ext>
            </a:extLst>
          </p:cNvPr>
          <p:cNvSpPr>
            <a:spLocks xmlns:a="http://schemas.openxmlformats.org/drawingml/2006/main" noGrp="1"/>
          </p:cNvSpPr>
          <p:nvPr/>
        </p:nvSpPr>
        <p:spPr>
          <a:xfrm xmlns:a="http://schemas.openxmlformats.org/drawingml/2006/main">
            <a:off x="7858125" y="4705350"/>
            <a:ext cx="66675" cy="123825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96294AC-F359-4891-A9B2-ECA2095CD271}"/>
              </a:ext>
            </a:extLst>
          </p:cNvPr>
          <p:cNvSpPr>
            <a:spLocks xmlns:a="http://schemas.openxmlformats.org/drawingml/2006/main" noGrp="1"/>
          </p:cNvSpPr>
          <p:nvPr/>
        </p:nvSpPr>
        <p:spPr>
          <a:xfrm xmlns:a="http://schemas.openxmlformats.org/drawingml/2006/main">
            <a:off x="8077200" y="490537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Persistência</a:t>
            </a:r>
          </a:p>
        </p:txBody>
      </p:sp>
      <p:sp>
        <p:nvSpPr>
          <p:cNvPr id="20" name="">
            <a:extLst xmlns:a="http://schemas.openxmlformats.org/drawingml/2006/main">
              <a:ext uri="{FF2B5EF4-FFF2-40B4-BE49-F238E27FC236}">
                <a16:creationId xmlns:a16="http://schemas.microsoft.com/office/drawing/2014/main" id="{8AAB05CE-6BBD-4E34-92FC-7357D33D68E2}"/>
              </a:ext>
            </a:extLst>
          </p:cNvPr>
          <p:cNvSpPr>
            <a:spLocks xmlns:a="http://schemas.openxmlformats.org/drawingml/2006/main" noGrp="1"/>
          </p:cNvSpPr>
          <p:nvPr/>
        </p:nvSpPr>
        <p:spPr>
          <a:xfrm xmlns:a="http://schemas.openxmlformats.org/drawingml/2006/main">
            <a:off x="8077200" y="5295900"/>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Flyway V1 cria audit_records; JDBC executa a transação.</a:t>
            </a:r>
          </a:p>
        </p:txBody>
      </p:sp>
    </p:spTree>
    <p:extLst>
      <p:ext uri="{BB962C8B-B14F-4D97-AF65-F5344CB8AC3E}">
        <p14:creationId xmlns:p14="http://schemas.microsoft.com/office/powerpoint/2010/main" val="572260874"/>
      </p:ext>
    </p:extLst>
  </p:cSld>
</p:sld>
</file>

<file path=ppt/slides/slide8.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6480D4-6EDB-4005-9AD5-423A7F110B9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B1BE6C-DCCA-482E-B725-E4BEFBE11128}"/>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648F9232-B187-4087-808D-A7D545134D91}"/>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Implantação experimental no Docker Compose</a:t>
            </a:r>
          </a:p>
        </p:txBody>
      </p:sp>
      <p:sp>
        <p:nvSpPr>
          <p:cNvPr id="4" name="">
            <a:extLst xmlns:a="http://schemas.openxmlformats.org/drawingml/2006/main">
              <a:ext uri="{FF2B5EF4-FFF2-40B4-BE49-F238E27FC236}">
                <a16:creationId xmlns:a16="http://schemas.microsoft.com/office/drawing/2014/main" id="{0434E01C-7915-4C0C-B9E5-8BE9BE67065D}"/>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AE202A-E5AF-44FE-A2E4-9BB3060D2018}"/>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CB1AFB7C-428C-4933-B86B-E200837B45FB}"/>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8/10</a:t>
            </a:r>
          </a:p>
        </p:txBody>
      </p:sp>
      <p:sp>
        <p:nvSpPr>
          <p:cNvPr id="7" name="">
            <a:extLst xmlns:a="http://schemas.openxmlformats.org/drawingml/2006/main">
              <a:ext uri="{FF2B5EF4-FFF2-40B4-BE49-F238E27FC236}">
                <a16:creationId xmlns:a16="http://schemas.microsoft.com/office/drawing/2014/main" id="{6D2D70FC-92B9-4BF3-A8E9-0725DD53223A}"/>
              </a:ext>
            </a:extLst>
          </p:cNvPr>
          <p:cNvSpPr>
            <a:spLocks xmlns:a="http://schemas.openxmlformats.org/drawingml/2006/main" noGrp="1"/>
          </p:cNvSpPr>
          <p:nvPr/>
        </p:nvSpPr>
        <p:spPr>
          <a:xfrm xmlns:a="http://schemas.openxmlformats.org/drawingml/2006/main">
            <a:off x="619125" y="1657350"/>
            <a:ext cx="723900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b6e9307f2be48d9"/>
          <a:stretch xmlns:a="http://schemas.openxmlformats.org/drawingml/2006/main"/>
        </p:blipFill>
        <p:spPr>
          <a:xfrm xmlns:a="http://schemas.openxmlformats.org/drawingml/2006/main">
            <a:off x="1277524" y="1800225"/>
            <a:ext cx="5922201" cy="4000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73B3E3-F4CC-446C-8D9A-234EC8ED831C}"/>
              </a:ext>
            </a:extLst>
          </p:cNvPr>
          <p:cNvSpPr>
            <a:spLocks xmlns:a="http://schemas.openxmlformats.org/drawingml/2006/main" noGrp="1"/>
          </p:cNvSpPr>
          <p:nvPr/>
        </p:nvSpPr>
        <p:spPr>
          <a:xfrm xmlns:a="http://schemas.openxmlformats.org/drawingml/2006/main">
            <a:off x="8096250" y="1657350"/>
            <a:ext cx="3476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E2D138-1A77-4F72-807D-08078E4A6322}"/>
              </a:ext>
            </a:extLst>
          </p:cNvPr>
          <p:cNvSpPr>
            <a:spLocks xmlns:a="http://schemas.openxmlformats.org/drawingml/2006/main" noGrp="1"/>
          </p:cNvSpPr>
          <p:nvPr/>
        </p:nvSpPr>
        <p:spPr>
          <a:xfrm xmlns:a="http://schemas.openxmlformats.org/drawingml/2006/main">
            <a:off x="8096250" y="1657350"/>
            <a:ext cx="66675" cy="200025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97381D-C017-411B-899F-5DDF12DBC90E}"/>
              </a:ext>
            </a:extLst>
          </p:cNvPr>
          <p:cNvSpPr>
            <a:spLocks xmlns:a="http://schemas.openxmlformats.org/drawingml/2006/main" noGrp="1"/>
          </p:cNvSpPr>
          <p:nvPr/>
        </p:nvSpPr>
        <p:spPr>
          <a:xfrm xmlns:a="http://schemas.openxmlformats.org/drawingml/2006/main">
            <a:off x="8315325" y="18573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Processos</a:t>
            </a:r>
          </a:p>
        </p:txBody>
      </p:sp>
      <p:sp>
        <p:nvSpPr>
          <p:cNvPr id="12" name="">
            <a:extLst xmlns:a="http://schemas.openxmlformats.org/drawingml/2006/main">
              <a:ext uri="{FF2B5EF4-FFF2-40B4-BE49-F238E27FC236}">
                <a16:creationId xmlns:a16="http://schemas.microsoft.com/office/drawing/2014/main" id="{32AD7C09-460B-4893-AA46-9E2CB848C167}"/>
              </a:ext>
            </a:extLst>
          </p:cNvPr>
          <p:cNvSpPr>
            <a:spLocks xmlns:a="http://schemas.openxmlformats.org/drawingml/2006/main" noGrp="1"/>
          </p:cNvSpPr>
          <p:nvPr/>
        </p:nvSpPr>
        <p:spPr>
          <a:xfrm xmlns:a="http://schemas.openxmlformats.org/drawingml/2006/main">
            <a:off x="8315325" y="2247900"/>
            <a:ext cx="304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Duas APIs, um consumidor, um broker Kafka e um PostgreSQL.</a:t>
            </a:r>
          </a:p>
        </p:txBody>
      </p:sp>
      <p:sp>
        <p:nvSpPr>
          <p:cNvPr id="13" name="">
            <a:extLst xmlns:a="http://schemas.openxmlformats.org/drawingml/2006/main">
              <a:ext uri="{FF2B5EF4-FFF2-40B4-BE49-F238E27FC236}">
                <a16:creationId xmlns:a16="http://schemas.microsoft.com/office/drawing/2014/main" id="{91A7A0D8-45FB-463E-B4B7-C8B30945366D}"/>
              </a:ext>
            </a:extLst>
          </p:cNvPr>
          <p:cNvSpPr>
            <a:spLocks xmlns:a="http://schemas.openxmlformats.org/drawingml/2006/main" noGrp="1"/>
          </p:cNvSpPr>
          <p:nvPr/>
        </p:nvSpPr>
        <p:spPr>
          <a:xfrm xmlns:a="http://schemas.openxmlformats.org/drawingml/2006/main">
            <a:off x="8096250" y="3848100"/>
            <a:ext cx="347662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3B47F11-BDC3-40E7-9C85-803C1AD93F87}"/>
              </a:ext>
            </a:extLst>
          </p:cNvPr>
          <p:cNvSpPr>
            <a:spLocks xmlns:a="http://schemas.openxmlformats.org/drawingml/2006/main" noGrp="1"/>
          </p:cNvSpPr>
          <p:nvPr/>
        </p:nvSpPr>
        <p:spPr>
          <a:xfrm xmlns:a="http://schemas.openxmlformats.org/drawingml/2006/main">
            <a:off x="8096250" y="3848100"/>
            <a:ext cx="66675" cy="2095500"/>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6F1E59-6057-4D7F-A6F0-EB8FB0369569}"/>
              </a:ext>
            </a:extLst>
          </p:cNvPr>
          <p:cNvSpPr>
            <a:spLocks xmlns:a="http://schemas.openxmlformats.org/drawingml/2006/main" noGrp="1"/>
          </p:cNvSpPr>
          <p:nvPr/>
        </p:nvSpPr>
        <p:spPr>
          <a:xfrm xmlns:a="http://schemas.openxmlformats.org/drawingml/2006/main">
            <a:off x="8315325" y="40481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Limite</a:t>
            </a:r>
          </a:p>
        </p:txBody>
      </p:sp>
      <p:sp>
        <p:nvSpPr>
          <p:cNvPr id="16" name="">
            <a:extLst xmlns:a="http://schemas.openxmlformats.org/drawingml/2006/main">
              <a:ext uri="{FF2B5EF4-FFF2-40B4-BE49-F238E27FC236}">
                <a16:creationId xmlns:a16="http://schemas.microsoft.com/office/drawing/2014/main" id="{417B1320-6190-4C6C-B08A-6C137B887C0D}"/>
              </a:ext>
            </a:extLst>
          </p:cNvPr>
          <p:cNvSpPr>
            <a:spLocks xmlns:a="http://schemas.openxmlformats.org/drawingml/2006/main" noGrp="1"/>
          </p:cNvSpPr>
          <p:nvPr/>
        </p:nvSpPr>
        <p:spPr>
          <a:xfrm xmlns:a="http://schemas.openxmlformats.org/drawingml/2006/main">
            <a:off x="8315325" y="4438650"/>
            <a:ext cx="304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Um broker e uma partição por tópico: ambiente de estudo, não alta disponibilidade.</a:t>
            </a:r>
          </a:p>
        </p:txBody>
      </p:sp>
    </p:spTree>
    <p:extLst>
      <p:ext uri="{BB962C8B-B14F-4D97-AF65-F5344CB8AC3E}">
        <p14:creationId xmlns:p14="http://schemas.microsoft.com/office/powerpoint/2010/main" val="419594251"/>
      </p:ext>
    </p:extLst>
  </p:cSld>
</p:sld>
</file>

<file path=ppt/slides/slide9.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6F8C55-87F7-4C0C-A83B-B62653EDF282}"/>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3D8E02-766B-4C7E-90BB-CB0ABE2F8115}"/>
              </a:ext>
            </a:extLst>
          </p:cNvPr>
          <p:cNvSpPr>
            <a:spLocks xmlns:a="http://schemas.openxmlformats.org/drawingml/2006/main" noGrp="1"/>
          </p:cNvSpPr>
          <p:nvPr/>
        </p:nvSpPr>
        <p:spPr>
          <a:xfrm xmlns:a="http://schemas.openxmlformats.org/drawingml/2006/main">
            <a:off x="619125"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C8C87"/>
                </a:solidFill>
                <a:latin typeface="Arial"/>
                <a:ea typeface="Arial"/>
                <a:cs typeface="Arial"/>
              </a:defRPr>
            </a:pPr>
            <a:r>
              <a:rPr sz="1050" b="1">
                <a:solidFill>
                  <a:srgbClr val="0C8C87"/>
                </a:solidFill>
                <a:latin typeface="Arial"/>
                <a:ea typeface="Arial"/>
                <a:cs typeface="Arial"/>
              </a:rPr>
              <a:t>ENTREGA 03 · PROTÓTIPO JAVA</a:t>
            </a:r>
          </a:p>
        </p:txBody>
      </p:sp>
      <p:sp>
        <p:nvSpPr>
          <p:cNvPr id="3" name="">
            <a:extLst xmlns:a="http://schemas.openxmlformats.org/drawingml/2006/main">
              <a:ext uri="{FF2B5EF4-FFF2-40B4-BE49-F238E27FC236}">
                <a16:creationId xmlns:a16="http://schemas.microsoft.com/office/drawing/2014/main" id="{FCF096DC-7CA2-40F6-BA21-433BB800C661}"/>
              </a:ext>
            </a:extLst>
          </p:cNvPr>
          <p:cNvSpPr>
            <a:spLocks xmlns:a="http://schemas.openxmlformats.org/drawingml/2006/main" noGrp="1"/>
          </p:cNvSpPr>
          <p:nvPr/>
        </p:nvSpPr>
        <p:spPr>
          <a:xfrm xmlns:a="http://schemas.openxmlformats.org/drawingml/2006/main">
            <a:off x="619125" y="7239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33A"/>
                </a:solidFill>
                <a:latin typeface="Arial"/>
                <a:ea typeface="Arial"/>
                <a:cs typeface="Arial"/>
              </a:defRPr>
            </a:pPr>
            <a:r>
              <a:rPr sz="2625" b="1">
                <a:solidFill>
                  <a:srgbClr val="14233A"/>
                </a:solidFill>
                <a:latin typeface="Arial"/>
                <a:ea typeface="Arial"/>
                <a:cs typeface="Arial"/>
              </a:rPr>
              <a:t>O que já foi verificado — e o que não foi</a:t>
            </a:r>
          </a:p>
        </p:txBody>
      </p:sp>
      <p:sp>
        <p:nvSpPr>
          <p:cNvPr id="4" name="">
            <a:extLst xmlns:a="http://schemas.openxmlformats.org/drawingml/2006/main">
              <a:ext uri="{FF2B5EF4-FFF2-40B4-BE49-F238E27FC236}">
                <a16:creationId xmlns:a16="http://schemas.microsoft.com/office/drawing/2014/main" id="{EC923DA7-CAE4-466F-ADA3-5E7A81574AE5}"/>
              </a:ext>
            </a:extLst>
          </p:cNvPr>
          <p:cNvSpPr>
            <a:spLocks xmlns:a="http://schemas.openxmlformats.org/drawingml/2006/main" noGrp="1"/>
          </p:cNvSpPr>
          <p:nvPr/>
        </p:nvSpPr>
        <p:spPr>
          <a:xfrm xmlns:a="http://schemas.openxmlformats.org/drawingml/2006/main">
            <a:off x="619125" y="6334125"/>
            <a:ext cx="10953750" cy="19050"/>
          </a:xfrm>
          <a:prstGeom xmlns:a="http://schemas.openxmlformats.org/drawingml/2006/main" prst="rect">
            <a:avLst/>
          </a:prstGeom>
          <a:solidFill xmlns:a="http://schemas.openxmlformats.org/drawingml/2006/main">
            <a:srgbClr val="D5DC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054095-37A7-4AB1-B786-E5B382199427}"/>
              </a:ext>
            </a:extLst>
          </p:cNvPr>
          <p:cNvSpPr>
            <a:spLocks xmlns:a="http://schemas.openxmlformats.org/drawingml/2006/main" noGrp="1"/>
          </p:cNvSpPr>
          <p:nvPr/>
        </p:nvSpPr>
        <p:spPr>
          <a:xfrm xmlns:a="http://schemas.openxmlformats.org/drawingml/2006/main">
            <a:off x="619125"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174"/>
                </a:solidFill>
                <a:latin typeface="Arial"/>
                <a:ea typeface="Arial"/>
                <a:cs typeface="Arial"/>
              </a:defRPr>
            </a:pPr>
            <a:r>
              <a:rPr sz="1050" b="0">
                <a:solidFill>
                  <a:srgbClr val="526174"/>
                </a:solidFill>
                <a:latin typeface="Arial"/>
                <a:ea typeface="Arial"/>
                <a:cs typeface="Arial"/>
              </a:rPr>
              <a:t>Ilan Wendling Thoele · TCC 2026</a:t>
            </a:r>
          </a:p>
        </p:txBody>
      </p:sp>
      <p:sp>
        <p:nvSpPr>
          <p:cNvPr id="6" name="">
            <a:extLst xmlns:a="http://schemas.openxmlformats.org/drawingml/2006/main">
              <a:ext uri="{FF2B5EF4-FFF2-40B4-BE49-F238E27FC236}">
                <a16:creationId xmlns:a16="http://schemas.microsoft.com/office/drawing/2014/main" id="{E7BD7613-B2DA-4062-92A9-BD9880D1E5FD}"/>
              </a:ext>
            </a:extLst>
          </p:cNvPr>
          <p:cNvSpPr>
            <a:spLocks xmlns:a="http://schemas.openxmlformats.org/drawingml/2006/main" noGrp="1"/>
          </p:cNvSpPr>
          <p:nvPr/>
        </p:nvSpPr>
        <p:spPr>
          <a:xfrm xmlns:a="http://schemas.openxmlformats.org/drawingml/2006/main">
            <a:off x="10572750" y="6457950"/>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526174"/>
                </a:solidFill>
                <a:latin typeface="Arial"/>
                <a:ea typeface="Arial"/>
                <a:cs typeface="Arial"/>
              </a:defRPr>
            </a:pPr>
            <a:r>
              <a:rPr sz="1050" b="1">
                <a:solidFill>
                  <a:srgbClr val="526174"/>
                </a:solidFill>
                <a:latin typeface="Arial"/>
                <a:ea typeface="Arial"/>
                <a:cs typeface="Arial"/>
              </a:rPr>
              <a:t>9/10</a:t>
            </a:r>
          </a:p>
        </p:txBody>
      </p:sp>
      <p:sp>
        <p:nvSpPr>
          <p:cNvPr id="7" name="">
            <a:extLst xmlns:a="http://schemas.openxmlformats.org/drawingml/2006/main">
              <a:ext uri="{FF2B5EF4-FFF2-40B4-BE49-F238E27FC236}">
                <a16:creationId xmlns:a16="http://schemas.microsoft.com/office/drawing/2014/main" id="{33724C31-D189-4515-85E2-60C79083A164}"/>
              </a:ext>
            </a:extLst>
          </p:cNvPr>
          <p:cNvSpPr>
            <a:spLocks xmlns:a="http://schemas.openxmlformats.org/drawingml/2006/main" noGrp="1"/>
          </p:cNvSpPr>
          <p:nvPr/>
        </p:nvSpPr>
        <p:spPr>
          <a:xfrm xmlns:a="http://schemas.openxmlformats.org/drawingml/2006/main">
            <a:off x="619125" y="1657350"/>
            <a:ext cx="5238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4C0F2E-B01F-434B-B3AE-E28806D5A78E}"/>
              </a:ext>
            </a:extLst>
          </p:cNvPr>
          <p:cNvSpPr>
            <a:spLocks xmlns:a="http://schemas.openxmlformats.org/drawingml/2006/main" noGrp="1"/>
          </p:cNvSpPr>
          <p:nvPr/>
        </p:nvSpPr>
        <p:spPr>
          <a:xfrm xmlns:a="http://schemas.openxmlformats.org/drawingml/2006/main">
            <a:off x="619125" y="1657350"/>
            <a:ext cx="66675" cy="1866900"/>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7AA65F-DF0C-4A20-AD86-D7D766DFA0F1}"/>
              </a:ext>
            </a:extLst>
          </p:cNvPr>
          <p:cNvSpPr>
            <a:spLocks xmlns:a="http://schemas.openxmlformats.org/drawingml/2006/main" noGrp="1"/>
          </p:cNvSpPr>
          <p:nvPr/>
        </p:nvSpPr>
        <p:spPr>
          <a:xfrm xmlns:a="http://schemas.openxmlformats.org/drawingml/2006/main">
            <a:off x="838200" y="1857375"/>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Já verificado</a:t>
            </a:r>
          </a:p>
        </p:txBody>
      </p:sp>
      <p:sp>
        <p:nvSpPr>
          <p:cNvPr id="10" name="">
            <a:extLst xmlns:a="http://schemas.openxmlformats.org/drawingml/2006/main">
              <a:ext uri="{FF2B5EF4-FFF2-40B4-BE49-F238E27FC236}">
                <a16:creationId xmlns:a16="http://schemas.microsoft.com/office/drawing/2014/main" id="{82E9E817-6721-45C1-B4B1-CCC16F0AB98C}"/>
              </a:ext>
            </a:extLst>
          </p:cNvPr>
          <p:cNvSpPr>
            <a:spLocks xmlns:a="http://schemas.openxmlformats.org/drawingml/2006/main" noGrp="1"/>
          </p:cNvSpPr>
          <p:nvPr/>
        </p:nvSpPr>
        <p:spPr>
          <a:xfrm xmlns:a="http://schemas.openxmlformats.org/drawingml/2006/main">
            <a:off x="838200" y="2247900"/>
            <a:ext cx="48101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Build e testes Java; smoke de registro síncrono/assíncrono; indisponibilidade temporária do PostgreSQL.</a:t>
            </a:r>
          </a:p>
        </p:txBody>
      </p:sp>
      <p:sp>
        <p:nvSpPr>
          <p:cNvPr id="11" name="">
            <a:extLst xmlns:a="http://schemas.openxmlformats.org/drawingml/2006/main">
              <a:ext uri="{FF2B5EF4-FFF2-40B4-BE49-F238E27FC236}">
                <a16:creationId xmlns:a16="http://schemas.microsoft.com/office/drawing/2014/main" id="{0B0F1AF0-4512-41CB-8EA2-901CE4F9BAA1}"/>
              </a:ext>
            </a:extLst>
          </p:cNvPr>
          <p:cNvSpPr>
            <a:spLocks xmlns:a="http://schemas.openxmlformats.org/drawingml/2006/main" noGrp="1"/>
          </p:cNvSpPr>
          <p:nvPr/>
        </p:nvSpPr>
        <p:spPr>
          <a:xfrm xmlns:a="http://schemas.openxmlformats.org/drawingml/2006/main">
            <a:off x="6048375" y="1657350"/>
            <a:ext cx="552450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D1A0D0-DE67-418A-8D44-BA7601ADD1DF}"/>
              </a:ext>
            </a:extLst>
          </p:cNvPr>
          <p:cNvSpPr>
            <a:spLocks xmlns:a="http://schemas.openxmlformats.org/drawingml/2006/main" noGrp="1"/>
          </p:cNvSpPr>
          <p:nvPr/>
        </p:nvSpPr>
        <p:spPr>
          <a:xfrm xmlns:a="http://schemas.openxmlformats.org/drawingml/2006/main">
            <a:off x="6048375" y="1657350"/>
            <a:ext cx="66675" cy="1866900"/>
          </a:xfrm>
          <a:prstGeom xmlns:a="http://schemas.openxmlformats.org/drawingml/2006/main" prst="rect">
            <a:avLst/>
          </a:prstGeom>
          <a:solidFill xmlns:a="http://schemas.openxmlformats.org/drawingml/2006/main">
            <a:srgbClr val="E6AD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9F4317-4810-460F-B61B-136580FB5DFF}"/>
              </a:ext>
            </a:extLst>
          </p:cNvPr>
          <p:cNvSpPr>
            <a:spLocks xmlns:a="http://schemas.openxmlformats.org/drawingml/2006/main" noGrp="1"/>
          </p:cNvSpPr>
          <p:nvPr/>
        </p:nvSpPr>
        <p:spPr>
          <a:xfrm xmlns:a="http://schemas.openxmlformats.org/drawingml/2006/main">
            <a:off x="6267450" y="1857375"/>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33A"/>
                </a:solidFill>
                <a:latin typeface="Arial"/>
                <a:ea typeface="Arial"/>
                <a:cs typeface="Arial"/>
              </a:defRPr>
            </a:pPr>
            <a:r>
              <a:rPr sz="1650" b="1">
                <a:solidFill>
                  <a:srgbClr val="14233A"/>
                </a:solidFill>
                <a:latin typeface="Arial"/>
                <a:ea typeface="Arial"/>
                <a:cs typeface="Arial"/>
              </a:rPr>
              <a:t>Não verificado</a:t>
            </a:r>
          </a:p>
        </p:txBody>
      </p:sp>
      <p:sp>
        <p:nvSpPr>
          <p:cNvPr id="14" name="">
            <a:extLst xmlns:a="http://schemas.openxmlformats.org/drawingml/2006/main">
              <a:ext uri="{FF2B5EF4-FFF2-40B4-BE49-F238E27FC236}">
                <a16:creationId xmlns:a16="http://schemas.microsoft.com/office/drawing/2014/main" id="{10D5E8A8-02D6-4A84-A544-D924273686C8}"/>
              </a:ext>
            </a:extLst>
          </p:cNvPr>
          <p:cNvSpPr>
            <a:spLocks xmlns:a="http://schemas.openxmlformats.org/drawingml/2006/main" noGrp="1"/>
          </p:cNvSpPr>
          <p:nvPr/>
        </p:nvSpPr>
        <p:spPr>
          <a:xfrm xmlns:a="http://schemas.openxmlformats.org/drawingml/2006/main">
            <a:off x="6267450" y="2247900"/>
            <a:ext cx="5095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74"/>
                </a:solidFill>
                <a:latin typeface="Arial"/>
                <a:ea typeface="Arial"/>
                <a:cs typeface="Arial"/>
              </a:defRPr>
            </a:pPr>
            <a:r>
              <a:rPr sz="1425" b="0">
                <a:solidFill>
                  <a:srgbClr val="526174"/>
                </a:solidFill>
                <a:latin typeface="Arial"/>
                <a:ea typeface="Arial"/>
                <a:cs typeface="Arial"/>
              </a:rPr>
              <a:t>Latência, throughput, recuperação quantitativa ou persistência automática dos eventos enviados à DLQ.</a:t>
            </a:r>
          </a:p>
        </p:txBody>
      </p:sp>
      <p:sp>
        <p:nvSpPr>
          <p:cNvPr id="15" name="">
            <a:extLst xmlns:a="http://schemas.openxmlformats.org/drawingml/2006/main">
              <a:ext uri="{FF2B5EF4-FFF2-40B4-BE49-F238E27FC236}">
                <a16:creationId xmlns:a16="http://schemas.microsoft.com/office/drawing/2014/main" id="{85DE80E8-453A-4DC7-B8CB-522A9D079527}"/>
              </a:ext>
            </a:extLst>
          </p:cNvPr>
          <p:cNvSpPr>
            <a:spLocks xmlns:a="http://schemas.openxmlformats.org/drawingml/2006/main" noGrp="1"/>
          </p:cNvSpPr>
          <p:nvPr/>
        </p:nvSpPr>
        <p:spPr>
          <a:xfrm xmlns:a="http://schemas.openxmlformats.org/drawingml/2006/main">
            <a:off x="619125" y="3800475"/>
            <a:ext cx="10953750" cy="2114550"/>
          </a:xfrm>
          <a:prstGeom xmlns:a="http://schemas.openxmlformats.org/drawingml/2006/main" prst="roundRect">
            <a:avLst>
              <a:gd name="adj" fmla="val 3604"/>
            </a:avLst>
          </a:prstGeom>
          <a:solidFill xmlns:a="http://schemas.openxmlformats.org/drawingml/2006/main">
            <a:srgbClr val="1D345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CC7A48A-60A8-4191-BF79-C5928B3945BE}"/>
              </a:ext>
            </a:extLst>
          </p:cNvPr>
          <p:cNvSpPr>
            <a:spLocks xmlns:a="http://schemas.openxmlformats.org/drawingml/2006/main" noGrp="1"/>
          </p:cNvSpPr>
          <p:nvPr/>
        </p:nvSpPr>
        <p:spPr>
          <a:xfrm xmlns:a="http://schemas.openxmlformats.org/drawingml/2006/main">
            <a:off x="885825" y="40100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C4 · Falha do PostgreSQL</a:t>
            </a:r>
          </a:p>
        </p:txBody>
      </p:sp>
      <p:sp>
        <p:nvSpPr>
          <p:cNvPr id="17" name="">
            <a:extLst xmlns:a="http://schemas.openxmlformats.org/drawingml/2006/main">
              <a:ext uri="{FF2B5EF4-FFF2-40B4-BE49-F238E27FC236}">
                <a16:creationId xmlns:a16="http://schemas.microsoft.com/office/drawing/2014/main" id="{34F3414D-A7CB-4A1A-AB73-99E54712271C}"/>
              </a:ext>
            </a:extLst>
          </p:cNvPr>
          <p:cNvSpPr>
            <a:spLocks xmlns:a="http://schemas.openxmlformats.org/drawingml/2006/main" noGrp="1"/>
          </p:cNvSpPr>
          <p:nvPr/>
        </p:nvSpPr>
        <p:spPr>
          <a:xfrm xmlns:a="http://schemas.openxmlformats.org/drawingml/2006/main">
            <a:off x="885825" y="458152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0ECF7"/>
                </a:solidFill>
                <a:latin typeface="Arial"/>
                <a:ea typeface="Arial"/>
                <a:cs typeface="Arial"/>
              </a:defRPr>
            </a:pPr>
            <a:r>
              <a:rPr sz="1725" b="0">
                <a:solidFill>
                  <a:srgbClr val="E0ECF7"/>
                </a:solidFill>
                <a:latin typeface="Arial"/>
                <a:ea typeface="Arial"/>
                <a:cs typeface="Arial"/>
              </a:rPr>
              <a:t>Síncrono: 503  •  Assíncrono: 202 com Kafka ativo</a:t>
            </a:r>
          </a:p>
          <a:p xmlns:a="http://schemas.openxmlformats.org/drawingml/2006/main">
            <a:pPr>
              <a:defRPr sz="1725" b="0">
                <a:solidFill>
                  <a:srgbClr val="E0ECF7"/>
                </a:solidFill>
                <a:latin typeface="Arial"/>
                <a:ea typeface="Arial"/>
                <a:cs typeface="Arial"/>
              </a:defRPr>
            </a:pPr>
            <a:r>
              <a:rPr sz="1725" b="0">
                <a:solidFill>
                  <a:srgbClr val="E0ECF7"/>
                </a:solidFill>
                <a:latin typeface="Arial"/>
                <a:ea typeface="Arial"/>
                <a:cs typeface="Arial"/>
              </a:rPr>
              <a:t>Saúde do banco volta após a retomada; isso não prova a conclusão de cada evento aceito.</a:t>
            </a:r>
          </a:p>
        </p:txBody>
      </p:sp>
    </p:spTree>
    <p:extLst>
      <p:ext uri="{BB962C8B-B14F-4D97-AF65-F5344CB8AC3E}">
        <p14:creationId xmlns:p14="http://schemas.microsoft.com/office/powerpoint/2010/main" val="393462616"/>
      </p:ext>
    </p:extLst>
  </p:cSld>
</p:sld>
</file>

<file path=ppt/slides/slide10.xml><?xml version="1.0" encoding="utf-8"?>
<p:sld xmlns:p="http://schemas.openxmlformats.org/presentationml/2006/main">
  <p:cSld>
    <p:bg>
      <p:bgPr>
        <a:solidFill xmlns:a="http://schemas.openxmlformats.org/drawingml/2006/main">
          <a:srgbClr val="1423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1E7232-43D8-434C-8711-5DE14304EE3B}"/>
              </a:ext>
            </a:extLst>
          </p:cNvPr>
          <p:cNvSpPr>
            <a:spLocks xmlns:a="http://schemas.openxmlformats.org/drawingml/2006/main" noGrp="1"/>
          </p:cNvSpPr>
          <p:nvPr/>
        </p:nvSpPr>
        <p:spPr>
          <a:xfrm xmlns:a="http://schemas.openxmlformats.org/drawingml/2006/main">
            <a:off x="714375" y="71437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Fechamento da Entrega 03</a:t>
            </a:r>
          </a:p>
        </p:txBody>
      </p:sp>
      <p:sp>
        <p:nvSpPr>
          <p:cNvPr id="2" name="">
            <a:extLst xmlns:a="http://schemas.openxmlformats.org/drawingml/2006/main">
              <a:ext uri="{FF2B5EF4-FFF2-40B4-BE49-F238E27FC236}">
                <a16:creationId xmlns:a16="http://schemas.microsoft.com/office/drawing/2014/main" id="{D4D06DFC-0C83-4A35-ACF4-97860773DB75}"/>
              </a:ext>
            </a:extLst>
          </p:cNvPr>
          <p:cNvSpPr>
            <a:spLocks xmlns:a="http://schemas.openxmlformats.org/drawingml/2006/main" noGrp="1"/>
          </p:cNvSpPr>
          <p:nvPr/>
        </p:nvSpPr>
        <p:spPr>
          <a:xfrm xmlns:a="http://schemas.openxmlformats.org/drawingml/2006/main">
            <a:off x="714375" y="1638300"/>
            <a:ext cx="10668000" cy="28575"/>
          </a:xfrm>
          <a:prstGeom xmlns:a="http://schemas.openxmlformats.org/drawingml/2006/main" prst="rect">
            <a:avLst/>
          </a:prstGeom>
          <a:solidFill xmlns:a="http://schemas.openxmlformats.org/drawingml/2006/main">
            <a:srgbClr val="0C8C8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C0474D-5819-4C55-9E56-5487B3CD312E}"/>
              </a:ext>
            </a:extLst>
          </p:cNvPr>
          <p:cNvSpPr>
            <a:spLocks xmlns:a="http://schemas.openxmlformats.org/drawingml/2006/main" noGrp="1"/>
          </p:cNvSpPr>
          <p:nvPr/>
        </p:nvSpPr>
        <p:spPr>
          <a:xfrm xmlns:a="http://schemas.openxmlformats.org/drawingml/2006/main">
            <a:off x="714375" y="21240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4DCCC"/>
                </a:solidFill>
                <a:latin typeface="Arial"/>
                <a:ea typeface="Arial"/>
                <a:cs typeface="Arial"/>
              </a:defRPr>
            </a:pPr>
            <a:r>
              <a:rPr sz="2250" b="1">
                <a:solidFill>
                  <a:srgbClr val="84DCCC"/>
                </a:solidFill>
                <a:latin typeface="Arial"/>
                <a:ea typeface="Arial"/>
                <a:cs typeface="Arial"/>
              </a:rPr>
              <a:t>Implementado</a:t>
            </a:r>
          </a:p>
        </p:txBody>
      </p:sp>
      <p:sp>
        <p:nvSpPr>
          <p:cNvPr id="4" name="">
            <a:extLst xmlns:a="http://schemas.openxmlformats.org/drawingml/2006/main">
              <a:ext uri="{FF2B5EF4-FFF2-40B4-BE49-F238E27FC236}">
                <a16:creationId xmlns:a16="http://schemas.microsoft.com/office/drawing/2014/main" id="{7C77154F-FAC1-450D-B2D1-C5E48FE6BFF0}"/>
              </a:ext>
            </a:extLst>
          </p:cNvPr>
          <p:cNvSpPr>
            <a:spLocks xmlns:a="http://schemas.openxmlformats.org/drawingml/2006/main" noGrp="1"/>
          </p:cNvSpPr>
          <p:nvPr/>
        </p:nvSpPr>
        <p:spPr>
          <a:xfrm xmlns:a="http://schemas.openxmlformats.org/drawingml/2006/main">
            <a:off x="714375" y="2676525"/>
            <a:ext cx="1009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Duas variantes Java • contrato compartilhado • idempotência • retry/DLQ • implantação Compose</a:t>
            </a:r>
          </a:p>
        </p:txBody>
      </p:sp>
      <p:sp>
        <p:nvSpPr>
          <p:cNvPr id="5" name="">
            <a:extLst xmlns:a="http://schemas.openxmlformats.org/drawingml/2006/main">
              <a:ext uri="{FF2B5EF4-FFF2-40B4-BE49-F238E27FC236}">
                <a16:creationId xmlns:a16="http://schemas.microsoft.com/office/drawing/2014/main" id="{F060C12D-27F2-464F-BE76-7C24BA4DAD36}"/>
              </a:ext>
            </a:extLst>
          </p:cNvPr>
          <p:cNvSpPr>
            <a:spLocks xmlns:a="http://schemas.openxmlformats.org/drawingml/2006/main" noGrp="1"/>
          </p:cNvSpPr>
          <p:nvPr/>
        </p:nvSpPr>
        <p:spPr>
          <a:xfrm xmlns:a="http://schemas.openxmlformats.org/drawingml/2006/main">
            <a:off x="714375" y="417195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0C87D"/>
                </a:solidFill>
                <a:latin typeface="Arial"/>
                <a:ea typeface="Arial"/>
                <a:cs typeface="Arial"/>
              </a:defRPr>
            </a:pPr>
            <a:r>
              <a:rPr sz="2250" b="1">
                <a:solidFill>
                  <a:srgbClr val="F0C87D"/>
                </a:solidFill>
                <a:latin typeface="Arial"/>
                <a:ea typeface="Arial"/>
                <a:cs typeface="Arial"/>
              </a:rPr>
              <a:t>Próxima etapa</a:t>
            </a:r>
          </a:p>
        </p:txBody>
      </p:sp>
      <p:sp>
        <p:nvSpPr>
          <p:cNvPr id="6" name="">
            <a:extLst xmlns:a="http://schemas.openxmlformats.org/drawingml/2006/main">
              <a:ext uri="{FF2B5EF4-FFF2-40B4-BE49-F238E27FC236}">
                <a16:creationId xmlns:a16="http://schemas.microsoft.com/office/drawing/2014/main" id="{3AE303E2-1C42-4F90-B874-AA8A3CEBAF95}"/>
              </a:ext>
            </a:extLst>
          </p:cNvPr>
          <p:cNvSpPr>
            <a:spLocks xmlns:a="http://schemas.openxmlformats.org/drawingml/2006/main" noGrp="1"/>
          </p:cNvSpPr>
          <p:nvPr/>
        </p:nvSpPr>
        <p:spPr>
          <a:xfrm xmlns:a="http://schemas.openxmlformats.org/drawingml/2006/main">
            <a:off x="714375" y="4705350"/>
            <a:ext cx="10001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Instrumentar, executar repetições e comparar as métricas sem antecipar conclusões.</a:t>
            </a:r>
          </a:p>
        </p:txBody>
      </p:sp>
      <p:sp>
        <p:nvSpPr>
          <p:cNvPr id="7" name="">
            <a:extLst xmlns:a="http://schemas.openxmlformats.org/drawingml/2006/main">
              <a:ext uri="{FF2B5EF4-FFF2-40B4-BE49-F238E27FC236}">
                <a16:creationId xmlns:a16="http://schemas.microsoft.com/office/drawing/2014/main" id="{3DC36A64-6F5C-4F56-8B43-BCD4D11798D1}"/>
              </a:ext>
            </a:extLst>
          </p:cNvPr>
          <p:cNvSpPr>
            <a:spLocks xmlns:a="http://schemas.openxmlformats.org/drawingml/2006/main" noGrp="1"/>
          </p:cNvSpPr>
          <p:nvPr/>
        </p:nvSpPr>
        <p:spPr>
          <a:xfrm xmlns:a="http://schemas.openxmlformats.org/drawingml/2006/main">
            <a:off x="714375" y="61912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FC2D7"/>
                </a:solidFill>
                <a:latin typeface="Arial"/>
                <a:ea typeface="Arial"/>
                <a:cs typeface="Arial"/>
              </a:defRPr>
            </a:pPr>
            <a:r>
              <a:rPr sz="1275" b="0">
                <a:solidFill>
                  <a:srgbClr val="AFC2D7"/>
                </a:solidFill>
                <a:latin typeface="Arial"/>
                <a:ea typeface="Arial"/>
                <a:cs typeface="Arial"/>
              </a:rPr>
              <a:t>Código e especificação: github.com/ilann47/TCC-2026</a:t>
            </a:r>
          </a:p>
        </p:txBody>
      </p:sp>
    </p:spTree>
    <p:extLst>
      <p:ext uri="{BB962C8B-B14F-4D97-AF65-F5344CB8AC3E}">
        <p14:creationId xmlns:p14="http://schemas.microsoft.com/office/powerpoint/2010/main" val="1973574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2026-09-29T21:30:57.7170000Z</dcterms:created>
  <dcterms:modified xsi:type="dcterms:W3CDTF">2026-09-29T21:30:57.7170000Z</dcterms:modified>
</coreProperties>
</file>