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d52dfdf6a6c4a2e" /><Relationship Type="http://schemas.openxmlformats.org/officeDocument/2006/relationships/extended-properties" Target="/docProps/app.xml" Id="R7bb31c6abb77477d" /><Relationship Type="http://schemas.openxmlformats.org/officeDocument/2006/relationships/officeDocument" Target="/ppt/presentation.xml" Id="Rdf9864240aa8483c" /></Relationships>
</file>

<file path=ppt/presentation.xml><?xml version="1.0" encoding="utf-8"?>
<p:presentation xmlns:p="http://schemas.openxmlformats.org/presentationml/2006/main">
  <p:sldMasterIdLst>
    <p:sldMasterId xmlns:r="http://schemas.openxmlformats.org/officeDocument/2006/relationships" id="2147483648" r:id="R4f23d00b0f504ab0"/>
  </p:sldMasterIdLst>
  <p:notesMasterIdLst>
    <p:notesMasterId xmlns:r="http://schemas.openxmlformats.org/officeDocument/2006/relationships" r:id="R5800a5ceaac04505"/>
  </p:notesMasterIdLst>
  <p:sldIdLst>
    <p:sldId xmlns:r="http://schemas.openxmlformats.org/officeDocument/2006/relationships" id="256" r:id="Rdd8559673e4c4781"/>
    <p:sldId xmlns:r="http://schemas.openxmlformats.org/officeDocument/2006/relationships" id="257" r:id="Rf350b4b85cc142e9"/>
    <p:sldId xmlns:r="http://schemas.openxmlformats.org/officeDocument/2006/relationships" id="258" r:id="R7617ebeea90a43c2"/>
    <p:sldId xmlns:r="http://schemas.openxmlformats.org/officeDocument/2006/relationships" id="259" r:id="Rb2448df128a64eb9"/>
    <p:sldId xmlns:r="http://schemas.openxmlformats.org/officeDocument/2006/relationships" id="260" r:id="Ra53e188907074e6f"/>
    <p:sldId xmlns:r="http://schemas.openxmlformats.org/officeDocument/2006/relationships" id="261" r:id="Rfad955c6b08f405b"/>
    <p:sldId xmlns:r="http://schemas.openxmlformats.org/officeDocument/2006/relationships" id="262" r:id="R11a18ae0349643b7"/>
    <p:sldId xmlns:r="http://schemas.openxmlformats.org/officeDocument/2006/relationships" id="263" r:id="R5d890a687b744f6a"/>
    <p:sldId xmlns:r="http://schemas.openxmlformats.org/officeDocument/2006/relationships" id="264" r:id="R86310947b1454722"/>
    <p:sldId xmlns:r="http://schemas.openxmlformats.org/officeDocument/2006/relationships" id="265" r:id="Rfd58b4799bf849fd"/>
    <p:sldId xmlns:r="http://schemas.openxmlformats.org/officeDocument/2006/relationships" id="266" r:id="Rf802b20e59494450"/>
    <p:sldId xmlns:r="http://schemas.openxmlformats.org/officeDocument/2006/relationships" id="267" r:id="Rda4a45a986364218"/>
    <p:sldId xmlns:r="http://schemas.openxmlformats.org/officeDocument/2006/relationships" id="268" r:id="R1480e006804d4ae8"/>
    <p:sldId xmlns:r="http://schemas.openxmlformats.org/officeDocument/2006/relationships" id="269" r:id="Rf6eb04dbfd7147b6"/>
    <p:sldId xmlns:r="http://schemas.openxmlformats.org/officeDocument/2006/relationships" id="270" r:id="R8ae1e39796384597"/>
    <p:sldId xmlns:r="http://schemas.openxmlformats.org/officeDocument/2006/relationships" id="271" r:id="Rabcfd3457f414b47"/>
    <p:sldId xmlns:r="http://schemas.openxmlformats.org/officeDocument/2006/relationships" id="272" r:id="Rafcf53d514c24dd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a5dc34e7d394a7a" /><Relationship Type="http://schemas.openxmlformats.org/officeDocument/2006/relationships/slideMaster" Target="/ppt/slideMasters/slideMaster1.xml" Id="R4f23d00b0f504ab0" /><Relationship Type="http://schemas.openxmlformats.org/officeDocument/2006/relationships/notesMaster" Target="/ppt/notesMasters/notesMaster1.xml" Id="R5800a5ceaac04505" /><Relationship Type="http://schemas.openxmlformats.org/officeDocument/2006/relationships/presProps" Target="/ppt/presProps.xml" Id="Rf501075a89234dd2" /><Relationship Type="http://schemas.openxmlformats.org/officeDocument/2006/relationships/tableStyles" Target="/ppt/tableStyles.xml" Id="R4766d56edf014dad" /><Relationship Type="http://schemas.openxmlformats.org/officeDocument/2006/relationships/slide" Target="/ppt/slides/slide1.xml" Id="Rdd8559673e4c4781" /><Relationship Type="http://schemas.openxmlformats.org/officeDocument/2006/relationships/slide" Target="/ppt/slides/slide2.xml" Id="Rf350b4b85cc142e9" /><Relationship Type="http://schemas.openxmlformats.org/officeDocument/2006/relationships/slide" Target="/ppt/slides/slide3.xml" Id="R7617ebeea90a43c2" /><Relationship Type="http://schemas.openxmlformats.org/officeDocument/2006/relationships/slide" Target="/ppt/slides/slide4.xml" Id="Rb2448df128a64eb9" /><Relationship Type="http://schemas.openxmlformats.org/officeDocument/2006/relationships/slide" Target="/ppt/slides/slide5.xml" Id="Ra53e188907074e6f" /><Relationship Type="http://schemas.openxmlformats.org/officeDocument/2006/relationships/slide" Target="/ppt/slides/slide6.xml" Id="Rfad955c6b08f405b" /><Relationship Type="http://schemas.openxmlformats.org/officeDocument/2006/relationships/slide" Target="/ppt/slides/slide7.xml" Id="R11a18ae0349643b7" /><Relationship Type="http://schemas.openxmlformats.org/officeDocument/2006/relationships/slide" Target="/ppt/slides/slide8.xml" Id="R5d890a687b744f6a" /><Relationship Type="http://schemas.openxmlformats.org/officeDocument/2006/relationships/slide" Target="/ppt/slides/slide9.xml" Id="R86310947b1454722" /><Relationship Type="http://schemas.openxmlformats.org/officeDocument/2006/relationships/slide" Target="/ppt/slides/slide10.xml" Id="Rfd58b4799bf849fd" /><Relationship Type="http://schemas.openxmlformats.org/officeDocument/2006/relationships/slide" Target="/ppt/slides/slide11.xml" Id="Rf802b20e59494450" /><Relationship Type="http://schemas.openxmlformats.org/officeDocument/2006/relationships/slide" Target="/ppt/slides/slide12.xml" Id="Rda4a45a986364218" /><Relationship Type="http://schemas.openxmlformats.org/officeDocument/2006/relationships/slide" Target="/ppt/slides/slide13.xml" Id="R1480e006804d4ae8" /><Relationship Type="http://schemas.openxmlformats.org/officeDocument/2006/relationships/slide" Target="/ppt/slides/slide14.xml" Id="Rf6eb04dbfd7147b6" /><Relationship Type="http://schemas.openxmlformats.org/officeDocument/2006/relationships/slide" Target="/ppt/slides/slide15.xml" Id="R8ae1e39796384597" /><Relationship Type="http://schemas.openxmlformats.org/officeDocument/2006/relationships/slide" Target="/ppt/slides/slide16.xml" Id="Rabcfd3457f414b47" /><Relationship Type="http://schemas.openxmlformats.org/officeDocument/2006/relationships/slide" Target="/ppt/slides/slide17.xml" Id="Rafcf53d514c24d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f182f58f074d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4725aa3da24d60" /><Relationship Type="http://schemas.openxmlformats.org/officeDocument/2006/relationships/notesMaster" Target="/ppt/notesMasters/notesMaster1.xml" Id="R3b74ee070ccf49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9a9979a74504f21" /><Relationship Type="http://schemas.openxmlformats.org/officeDocument/2006/relationships/notesMaster" Target="/ppt/notesMasters/notesMaster1.xml" Id="Rb598c679a3dd4f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265f53b48340da" /><Relationship Type="http://schemas.openxmlformats.org/officeDocument/2006/relationships/notesMaster" Target="/ppt/notesMasters/notesMaster1.xml" Id="Rcbcc1fb85c5e4d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850db5e28344dc" /><Relationship Type="http://schemas.openxmlformats.org/officeDocument/2006/relationships/notesMaster" Target="/ppt/notesMasters/notesMaster1.xml" Id="R51c27bdadf2042fb"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a492f6c487446e" /><Relationship Type="http://schemas.openxmlformats.org/officeDocument/2006/relationships/notesMaster" Target="/ppt/notesMasters/notesMaster1.xml" Id="R4b04553c5d334d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78c8f50d8514c7e" /><Relationship Type="http://schemas.openxmlformats.org/officeDocument/2006/relationships/notesMaster" Target="/ppt/notesMasters/notesMaster1.xml" Id="Ra7d05c15883b437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ea8051d8e6644ad" /><Relationship Type="http://schemas.openxmlformats.org/officeDocument/2006/relationships/notesMaster" Target="/ppt/notesMasters/notesMaster1.xml" Id="Re4b471e05da248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dd5c4bf4d1e14f91" /><Relationship Type="http://schemas.openxmlformats.org/officeDocument/2006/relationships/notesMaster" Target="/ppt/notesMasters/notesMaster1.xml" Id="R83fc536a53c0490c" /></Relationships>
</file>

<file path=ppt/notesSlides/_rels/notesSlide9.xml.rels>&#65279;<?xml version="1.0" encoding="utf-8"?><Relationships xmlns="http://schemas.openxmlformats.org/package/2006/relationships"><Relationship Type="http://schemas.openxmlformats.org/officeDocument/2006/relationships/slide" Target="/ppt/slides/slide9.xml" Id="R2b9cbd4e645d4aa7" /><Relationship Type="http://schemas.openxmlformats.org/officeDocument/2006/relationships/notesMaster" Target="/ppt/notesMasters/notesMaster1.xml" Id="Rac1f93d25e894c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cf1d751c00741ab" /><Relationship Type="http://schemas.openxmlformats.org/officeDocument/2006/relationships/notesMaster" Target="/ppt/notesMasters/notesMaster1.xml" Id="Red4d7525dfb5423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a6c17b5070d4b99" /><Relationship Type="http://schemas.openxmlformats.org/officeDocument/2006/relationships/notesMaster" Target="/ppt/notesMasters/notesMaster1.xml" Id="R816fed261ae64a3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3cb5017bd574e7c" /><Relationship Type="http://schemas.openxmlformats.org/officeDocument/2006/relationships/notesMaster" Target="/ppt/notesMasters/notesMaster1.xml" Id="R4880cc9fb7ed45a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c5313f6c81a4740" /><Relationship Type="http://schemas.openxmlformats.org/officeDocument/2006/relationships/notesMaster" Target="/ppt/notesMasters/notesMaster1.xml" Id="R7a3c8e4ece1f433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680a814babb426d" /><Relationship Type="http://schemas.openxmlformats.org/officeDocument/2006/relationships/notesMaster" Target="/ppt/notesMasters/notesMaster1.xml" Id="Re887d8eb2266464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9e8eeb462294abf" /><Relationship Type="http://schemas.openxmlformats.org/officeDocument/2006/relationships/notesMaster" Target="/ppt/notesMasters/notesMaster1.xml" Id="R41619b981e0d4c9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bc72dcf4ee94f63" /><Relationship Type="http://schemas.openxmlformats.org/officeDocument/2006/relationships/notesMaster" Target="/ppt/notesMasters/notesMaster1.xml" Id="Rb374ba37abb64b8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39b415582884fa1" /><Relationship Type="http://schemas.openxmlformats.org/officeDocument/2006/relationships/notesMaster" Target="/ppt/notesMasters/notesMaster1.xml" Id="R6e8c4a1aa86b4a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Comparei duas implementações Java para registrar auditoria. A pergunta é quais compromissos de desempenho e recuperação aparecem quando se confirma a gravação imediatamente ou se aceita o trabalho para gravar depois. A campanha inclui 64 coletas completas e uma parcial preservada.</a:t>
            </a:r>
          </a:p>
          <a:p xmlns:a="http://schemas.openxmlformats.org/drawingml/2006/main">
            <a:r>
              <a:t/>
            </a:r>
          </a:p>
          <a:p xmlns:a="http://schemas.openxmlformats.org/drawingml/2006/main">
            <a:r>
              <a:t>Fontes: TCC revisto em 30/10/2026, Capítulos 3, 5 e 6. Dados originais em implementacao-java/experimento/campanhas/2026-10-27-reduzida65-r2/resultados-a1/. Sem nova medição.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 duas variantes compartilham contrato, validação, hash e PostgreSQL. A síncrona confirma depois da transação. A assíncrona confirma publicação no Kafka e um consumidor grava depois. O piloto comparou cinquenta registros equivalentes por variante, sem substituir a campanha.</a:t>
            </a:r>
          </a:p>
          <a:p xmlns:a="http://schemas.openxmlformats.org/drawingml/2006/main">
            <a:r>
              <a:t/>
            </a:r>
          </a:p>
          <a:p xmlns:a="http://schemas.openxmlformats.org/drawingml/2006/main">
            <a:r>
              <a:t>Fontes: TCC revisto em 30/10/2026, Capítulos 3, 5 e 6. Dados originais em implementacao-java/experimento/campanhas/2026-10-27-reduzida65-r2/resultados-a1/. Sem nova medição.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Cada coleta é uma execução, não um evento. Fizemos cinco repetições por condição, com o mesmo conteúdo nos pares. O k6 gerou a carga e o analisador Java conciliou resposta, banco e marcos de transação. As 65 coletas incluem cargas constantes, rajada e paradas controladas. A análise é descritiva por coleta e par.</a:t>
            </a:r>
          </a:p>
          <a:p xmlns:a="http://schemas.openxmlformats.org/drawingml/2006/main">
            <a:r>
              <a:t/>
            </a:r>
          </a:p>
          <a:p xmlns:a="http://schemas.openxmlformats.org/drawingml/2006/main">
            <a:r>
              <a:t>Fontes: TCC revisto em 30/10/2026, Capítulos 3, 5 e 6. Dados originais em implementacao-java/experimento/campanhas/2026-10-27-reduzida65-r2/resultados-a1/. Sem nova medição.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48 eventos por segundo, o p95 HTTP médio foi 2,60 milissegundos na assíncrona e 4,34 na síncrona. Até concluir a gravação, foram 5,83 e 3,92 milissegundos. O aceite mais rápido coexistiu com conclusão mais lenta. As duas atingiram a taxa oferecida nesse recorte, sem demonstrar capacidade máxima ou equivalência.</a:t>
            </a:r>
          </a:p>
          <a:p xmlns:a="http://schemas.openxmlformats.org/drawingml/2006/main">
            <a:r>
              <a:t/>
            </a:r>
          </a:p>
          <a:p xmlns:a="http://schemas.openxmlformats.org/drawingml/2006/main">
            <a:r>
              <a:t>Fontes: TCC revisto em 30/10/2026, Capítulo 5, Tabela 7 e group-summary.json, steady 48/s. Dados originais em implementacao-java/experimento/campanhas/2026-10-27-reduzida65-r2/resultados-a1/. Sem nova medição.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12 eventos por segundo, o caminho assíncrono consumiu aproximadamente duas vezes a CPU e quatro vezes a memória. Incluímos API e banco na síncrona, e também consumidor e Kafka na assíncrona. A topologia faz parte da comparação. CPU e memória não medem dinheiro ou esforço de manutenção.</a:t>
            </a:r>
          </a:p>
          <a:p xmlns:a="http://schemas.openxmlformats.org/drawingml/2006/main">
            <a:r>
              <a:t/>
            </a:r>
          </a:p>
          <a:p xmlns:a="http://schemas.openxmlformats.org/drawingml/2006/main">
            <a:r>
              <a:t>Fontes: TCC revisto em 30/10/2026, Capítulo 5, Tabela 11 e group-summary.json, steady 12/s. Dados originais em implementacao-java/experimento/campanhas/2026-10-27-reduzida65-r2/resultados-a1/. Sem nova medição.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 o banco parado, a síncrona teve 2.452 respostas 503. Um desses eventos terminou no banco apesar do erro. Na assíncrona, todos os envios foram aceitos, mas 14 terminaram na fila de falhas. Eles ficaram retidos para inspeção, sem gravação automática posterior. A resposta de aceite e o destino final precisam ser acompanhados separadamente.</a:t>
            </a:r>
          </a:p>
          <a:p xmlns:a="http://schemas.openxmlformats.org/drawingml/2006/main">
            <a:r>
              <a:t/>
            </a:r>
          </a:p>
          <a:p xmlns:a="http://schemas.openxmlformats.org/drawingml/2006/main">
            <a:r>
              <a:t>Fontes: TCC revisto em 30/10/2026, Capítulo 5, Tabela 10 e group-summary.json, postgres-stop. Dados originais em implementacao-java/experimento/campanhas/2026-10-27-reduzida65-r2/resultados-a1/. Sem nova medição.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 o consumidor parado, todos os 10.801 aceites medidos terminaram gravados, sem fila de falhas. O tempo de conclusão chegou à escala de dezenas de segundos. A retenção permitiu aceitar durante a parada, mas essa observação local não prova tolerância à perda do broker ou da máquina.</a:t>
            </a:r>
          </a:p>
          <a:p xmlns:a="http://schemas.openxmlformats.org/drawingml/2006/main">
            <a:r>
              <a:t/>
            </a:r>
          </a:p>
          <a:p xmlns:a="http://schemas.openxmlformats.org/drawingml/2006/main">
            <a:r>
              <a:t>Fontes: TCC revisto em 30/10/2026, Capítulo 5 e dados por coleta de consumer-stop. Dados originais em implementacao-java/experimento/campanhas/2026-10-27-reduzida65-r2/resultados-a1/. Sem nova medição.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parada do banco fazia parte do teste. A falta do horário de uma gravação não era planejada. Preservamos a coleta e o veredito original de evidência incompleta. Uma revisão analítica manteve indicadores auditados e retirou o par afetado da comparação primária de conclusão, que ficou com quatro pares. Não repetimos a coleta nem estimamos o tempo ausente.</a:t>
            </a:r>
          </a:p>
          <a:p xmlns:a="http://schemas.openxmlformats.org/drawingml/2006/main">
            <a:r>
              <a:t/>
            </a:r>
          </a:p>
          <a:p xmlns:a="http://schemas.openxmlformats.org/drawingml/2006/main">
            <a:r>
              <a:t>Fontes: TCC revisto em 30/10/2026, Capítulo 3, revisão analítica, capítulo 5 e Apêndice A. Original instrument_valid=false preservado. Dados originais em implementacao-java/experimento/campanhas/2026-10-27-reduzida65-r2/resultados-a1/. Sem nova medição.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critério original de recuperação exige trinta segundos sustentados sob carga e conta destinos na fila de falhas como aceites sem gravação. Ele permanece atingido em um de cinco casos assíncronos com banco parado. Na leitura exploratória posterior, separar falha terminal de pendência ativa permitiu observar retorno operacional nos cinco casos. Isso não alterou o critério original nem gravou os 14 eventos terminais.</a:t>
            </a:r>
          </a:p>
          <a:p xmlns:a="http://schemas.openxmlformats.org/drawingml/2006/main">
            <a:r>
              <a:t/>
            </a:r>
          </a:p>
          <a:p xmlns:a="http://schemas.openxmlformats.org/drawingml/2006/main">
            <a:r>
              <a:t>Fontes: TCC revisto em 30/10/2026, Capítulo 5, recuperação original e subseção 5.7.5. recuperacao-exploratoria.json, 30/10/2026. Dados originais em implementacao-java/experimento/campanhas/2026-10-27-reduzida65-r2/resultados-a1/. Sem nova medição.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síncrona favoreceu confirmação imediata de gravação e menor uso de recursos. A assíncrona favoreceu aceite rápido e retenção na parada do consumidor, com conclusão posterior e componentes adicionais. As expectativas tiveram apoio descritivo nesse recorte. Custos financeiros, manutenção e superioridade geral permanecem inconclusivos. As contribuições e os requisitos estão nos slides de apoio.</a:t>
            </a:r>
          </a:p>
          <a:p xmlns:a="http://schemas.openxmlformats.org/drawingml/2006/main">
            <a:r>
              <a:t/>
            </a:r>
          </a:p>
          <a:p xmlns:a="http://schemas.openxmlformats.org/drawingml/2006/main">
            <a:r>
              <a:t>Fontes: TCC revisto em 30/10/2026, Capítulos 3, 5 e 6. Dados originais em implementacao-java/experimento/campanhas/2026-10-27-reduzida65-r2/resultados-a1/. Sem nova medição.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núcleo e os instrumentos já existem. UC05 executa cenários por k6 e executor. UC06 consolida os indicadores por analisador e relatórios. A documentação deixou de chamá-los de planejados. Preservamos os limites: uma coleta tem cobertura temporal incompleta, o formulário próprio não foi construído e não demonstramos segurança de produção, portabilidade externa ou escala horizontal.</a:t>
            </a:r>
          </a:p>
          <a:p xmlns:a="http://schemas.openxmlformats.org/drawingml/2006/main">
            <a:r>
              <a:t/>
            </a:r>
          </a:p>
          <a:p xmlns:a="http://schemas.openxmlformats.org/drawingml/2006/main">
            <a:r>
              <a:t>Fontes: TCC revisto em 30/10/2026, Capítulo 4, requisitos e UC05/UC06. Capítulo 5, Tabela 6. Matriz integral de 27 requisitos. Dados originais em implementacao-java/experimento/campanhas/2026-10-27-reduzida65-r2/resultados-a1/. Sem nova medição.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Reproduzimos o resultado original de um em cinco e então subtraímos da pendência somente eventos com confirmação de DLQ observada até o fim de cada janela. Não usamos a DLQ final como se ela já existisse antes. Os demais critérios ficaram iguais. Observamos a sequência operacional nos cinco casos, entre 37,78 e 38,77 segundos após a retomada. Esta é uma sensibilidade posterior, não reclassificação ou confirmação predeclarada.</a:t>
            </a:r>
          </a:p>
          <a:p xmlns:a="http://schemas.openxmlformats.org/drawingml/2006/main">
            <a:r>
              <a:t/>
            </a:r>
          </a:p>
          <a:p xmlns:a="http://schemas.openxmlformats.org/drawingml/2006/main">
            <a:r>
              <a:t>Fontes: TCC revisto em 30/10/2026, Capítulo 5, Tabela 13. RECUPERACAO-EXPLORATORIA.md e recuperacao-exploratoria.json. Dados originais em implementacao-java/experimento/campanhas/2026-10-27-reduzida65-r2/resultados-a1/. Sem nova medição.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Entreguei um protótipo e instrumentos que podem apoiar novas verificações. A contribuição metodológica é separar o que a API aceita, o que o banco grava e o que termina em falha retida. Os controles permitem rastrear as tabelas até a evidência e mantêm resultados desfavoráveis. Eles não eliminam o tamanho amostral reduzido ou a necessidade de replicação.</a:t>
            </a:r>
          </a:p>
          <a:p xmlns:a="http://schemas.openxmlformats.org/drawingml/2006/main">
            <a:r>
              <a:t/>
            </a:r>
          </a:p>
          <a:p xmlns:a="http://schemas.openxmlformats.org/drawingml/2006/main">
            <a:r>
              <a:t>Fontes: TCC revisto em 30/10/2026, Capítulo 5, Pontos fortes. Capítulo 6, Avaliação do sistema e Contribuições. Dados originais em implementacao-java/experimento/campanhas/2026-10-27-reduzida65-r2/resultados-a1/. Sem nova medição.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discussão relaciona os achados aos mecanismos estudados, sem comparar milissegundos de aplicações diferentes. Custos dependem de topologia e ambiente. Comunicação e efeito persistido têm garantias distintas. Observabilidade ajuda a detectar o que faltou, mas não recupera um instante não registrado.</a:t>
            </a:r>
          </a:p>
          <a:p xmlns:a="http://schemas.openxmlformats.org/drawingml/2006/main">
            <a:r>
              <a:t/>
            </a:r>
          </a:p>
          <a:p xmlns:a="http://schemas.openxmlformats.org/drawingml/2006/main">
            <a:r>
              <a:t>Fontes: TCC revisto em 30/10/2026, Capítulo 5, subseção Discussão com a literatura, e referências correspondentes. Cabane/Farias DOI 10.1016/j.future.2023.10.021; Kazanavičius/Mažeika DOI 10.31577/cai_2023_1_1; Blinowski DOI 10.1109/ACCESS.2022.3152803; Laigner DOI 10.14778/3484224.3484232; Niedermaier DOI 10.1007/978-3-030-33702-5_3; Helland CIDR 2007. Dados originais em implementacao-java/experimento/campanhas/2026-10-27-reduzida65-r2/resultados-a1/. Sem nova medição.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gráfico mostra os mesmos números da tabela do slide quatro. Cada barra é a média de cinco percentis calculados por coleta. A síncrona confirma o efeito antes de responder. A assíncrona devolve o aceite antes da gravação, o que explica as direções diferentes.</a:t>
            </a:r>
          </a:p>
          <a:p xmlns:a="http://schemas.openxmlformats.org/drawingml/2006/main">
            <a:r>
              <a:t/>
            </a:r>
          </a:p>
          <a:p xmlns:a="http://schemas.openxmlformats.org/drawingml/2006/main">
            <a:r>
              <a:t>Fontes: TCC revisto em 30/10/2026, group-summary.json, steady 48/s; Capítulo 5, Tabela 7. Gráfico arredondado a duas casas, dados científicos preservados. Dados originais em implementacao-java/experimento/campanhas/2026-10-27-reduzida65-r2/resultados-a1/. Sem nova medição.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 gráficos repetem a tabela do slide cinco em escalas distintas. O primeiro mede percentual de uma CPU lógica e o segundo memória em MiB. A comparação é dos caminhos completos, não de um protocolo abstrato. A direção não mede dinheiro, manutenção ou eficiência de componentes parados.</a:t>
            </a:r>
          </a:p>
          <a:p xmlns:a="http://schemas.openxmlformats.org/drawingml/2006/main">
            <a:r>
              <a:t/>
            </a:r>
          </a:p>
          <a:p xmlns:a="http://schemas.openxmlformats.org/drawingml/2006/main">
            <a:r>
              <a:t>Fontes: TCC revisto em 30/10/2026, group-summary.json, steady 12/s; Capítulo 5, Tabela 11. CPU com duas casas e memória com uma casa no gráfico. Dados originais em implementacao-java/experimento/campanhas/2026-10-27-reduzida65-r2/resultados-a1/. Sem nova medição.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 ferramentas apoiaram mais do que gramática: também código, comandos da campanha, agregação e redação. As medidas vieram da execução dos instrumentos. O autor informou em 30 de outubro que ainda fará sua revisão pessoal integral antes da entrega. Não devo afirmar que ela ou a aprovação da orientadora já ocorreram.</a:t>
            </a:r>
          </a:p>
          <a:p xmlns:a="http://schemas.openxmlformats.org/drawingml/2006/main">
            <a:r>
              <a:t/>
            </a:r>
          </a:p>
          <a:p xmlns:a="http://schemas.openxmlformats.org/drawingml/2006/main">
            <a:r>
              <a:t>Fontes: TCC revisto em 30/10/2026, Declaração de uso de IA e Capítulo 6 do PDF corrigido. ATENDIMENTO-PARECER.md, item M4 e confirmação direta do autor. Dados originais em implementacao-java/experimento/campanhas/2026-10-27-reduzida65-r2/resultados-a1/. Sem nova medição.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b2e5449aa240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8f0716b3d1467d" /><Relationship Type="http://schemas.openxmlformats.org/officeDocument/2006/relationships/slideLayout" Target="/ppt/slideLayouts/slideLayout1.xml" Id="Ra920e6253c8d40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20e6253c8d40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51b94752fb34e04" /><Relationship Type="http://schemas.openxmlformats.org/officeDocument/2006/relationships/notesSlide" Target="/ppt/notesSlides/notesSlide1.xml" Id="R8bd719ba98fe4b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43b5aef93284468" /><Relationship Type="http://schemas.openxmlformats.org/officeDocument/2006/relationships/notesSlide" Target="/ppt/notesSlides/notesSlide2.xml" Id="R31b6da5f43c942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10c88430152475a" /><Relationship Type="http://schemas.openxmlformats.org/officeDocument/2006/relationships/notesSlide" Target="/ppt/notesSlides/notesSlide3.xml" Id="R035d3481812041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0a136bda3d045b6" /><Relationship Type="http://schemas.openxmlformats.org/officeDocument/2006/relationships/notesSlide" Target="/ppt/notesSlides/notesSlide4.xml" Id="R2f152ac81b7b49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b7a191844e649cd" /><Relationship Type="http://schemas.openxmlformats.org/officeDocument/2006/relationships/notesSlide" Target="/ppt/notesSlides/notesSlide5.xml" Id="R05483faf5dd94f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944424ad7a543fb" /><Relationship Type="http://schemas.openxmlformats.org/officeDocument/2006/relationships/notesSlide" Target="/ppt/notesSlides/notesSlide6.xml" Id="Rb804e7718ddb45d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5a8e3f272674f67" /><Relationship Type="http://schemas.openxmlformats.org/officeDocument/2006/relationships/notesSlide" Target="/ppt/notesSlides/notesSlide7.xml" Id="R77bde8dce65f478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98bc7206ba848cc" /><Relationship Type="http://schemas.openxmlformats.org/officeDocument/2006/relationships/notesSlide" Target="/ppt/notesSlides/notesSlide8.xml" Id="R4d6533856c25466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6bc206baf504780" /><Relationship Type="http://schemas.openxmlformats.org/officeDocument/2006/relationships/notesSlide" Target="/ppt/notesSlides/notesSlide9.xml" Id="R7466f42da641458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dce12b37c634223" /><Relationship Type="http://schemas.openxmlformats.org/officeDocument/2006/relationships/notesSlide" Target="/ppt/notesSlides/notesSlide10.xml" Id="R0ec6975f6c79418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fa9be572c1147e2" /><Relationship Type="http://schemas.openxmlformats.org/officeDocument/2006/relationships/notesSlide" Target="/ppt/notesSlides/notesSlide11.xml" Id="R9412157a2972429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9bc977ba1c54eed" /><Relationship Type="http://schemas.openxmlformats.org/officeDocument/2006/relationships/notesSlide" Target="/ppt/notesSlides/notesSlide12.xml" Id="R42ab57b4322842c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d70af01b18a49e7" /><Relationship Type="http://schemas.openxmlformats.org/officeDocument/2006/relationships/notesSlide" Target="/ppt/notesSlides/notesSlide13.xml" Id="R4c3c401b638a457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0d77191da944494" /><Relationship Type="http://schemas.openxmlformats.org/officeDocument/2006/relationships/notesSlide" Target="/ppt/notesSlides/notesSlide14.xml" Id="R02ce23cc620f4ea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c3373585a10405b" /><Relationship Type="http://schemas.openxmlformats.org/officeDocument/2006/relationships/chart" Target="/ppt/slides/charts/chart1.xml" Id="R6c3f54ada19948ff" /><Relationship Type="http://schemas.openxmlformats.org/officeDocument/2006/relationships/notesSlide" Target="/ppt/notesSlides/notesSlide15.xml" Id="Rc79ac9ddede842d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a73b3135f6042aa" /><Relationship Type="http://schemas.openxmlformats.org/officeDocument/2006/relationships/chart" Target="/ppt/slides/charts/chart2.xml" Id="Rdec4e27629704330" /><Relationship Type="http://schemas.openxmlformats.org/officeDocument/2006/relationships/chart" Target="/ppt/slides/charts/chart3.xml" Id="Ree4033a9a4024617" /><Relationship Type="http://schemas.openxmlformats.org/officeDocument/2006/relationships/notesSlide" Target="/ppt/notesSlides/notesSlide16.xml" Id="R33ceef66d89e4e6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5d169911d0e467e" /><Relationship Type="http://schemas.openxmlformats.org/officeDocument/2006/relationships/notesSlide" Target="/ppt/notesSlides/notesSlide17.xml" Id="R2cdc0e15e995472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Síncrona</c:v>
          </c:tx>
          <c:spPr>
            <a:solidFill xmlns:a="http://schemas.openxmlformats.org/drawingml/2006/main">
              <a:srgbClr val="2454BF"/>
            </a:solidFill>
          </c:spPr>
          <c:invertIfNegative val="0"/>
          <c:cat>
            <c:strRef>
              <c:f>'Chart Data'!$A$2:$A$3</c:f>
              <c:strCache>
                <c:ptCount val="2"/>
                <c:pt idx="0">
                  <c:v>p95 HTTP válido</c:v>
                </c:pt>
                <c:pt idx="1">
                  <c:v>p95 até concluir a gravação</c:v>
                </c:pt>
              </c:strCache>
            </c:strRef>
          </c:cat>
          <c:val>
            <c:numRef>
              <c:f>'Chart Data'!$B$2:$B$3</c:f>
              <c:numCache>
                <c:formatCode>0.00</c:formatCode>
                <c:ptCount val="2"/>
                <c:pt idx="0">
                  <c:v>4.34</c:v>
                </c:pt>
                <c:pt idx="1">
                  <c:v>3.92</c:v>
                </c:pt>
              </c:numCache>
            </c:numRef>
          </c:val>
        </c:ser>
        <c:ser>
          <c:idx val="1"/>
          <c:order val="1"/>
          <c:tx>
            <c:v>Assíncrona</c:v>
          </c:tx>
          <c:spPr>
            <a:solidFill xmlns:a="http://schemas.openxmlformats.org/drawingml/2006/main">
              <a:srgbClr val="12877C"/>
            </a:solidFill>
          </c:spPr>
          <c:invertIfNegative val="0"/>
          <c:cat>
            <c:strRef>
              <c:f>'Chart Data'!$C$2:$C$3</c:f>
              <c:strCache>
                <c:ptCount val="2"/>
                <c:pt idx="0">
                  <c:v>p95 HTTP válido</c:v>
                </c:pt>
                <c:pt idx="1">
                  <c:v>p95 até concluir a gravação</c:v>
                </c:pt>
              </c:strCache>
            </c:strRef>
          </c:cat>
          <c:val>
            <c:numRef>
              <c:f>'Chart Data'!$D$2:$D$3</c:f>
              <c:numCache>
                <c:formatCode>0.00</c:formatCode>
                <c:ptCount val="2"/>
                <c:pt idx="0">
                  <c:v>2.6</c:v>
                </c:pt>
                <c:pt idx="1">
                  <c:v>5.83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b="1">
                  <a:solidFill>
                    <a:srgbClr val="172B4D"/>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E1"/>
            </a:solidFill>
          </a:ln>
        </c:spPr>
        <c:txPr>
          <a:bodyPr xmlns:a="http://schemas.openxmlformats.org/drawingml/2006/main" anchorCtr="1"/>
          <a:lstStyle xmlns:a="http://schemas.openxmlformats.org/drawingml/2006/main"/>
          <a:p xmlns:a="http://schemas.openxmlformats.org/drawingml/2006/main">
            <a:pPr>
              <a:defRPr sz="1575">
                <a:solidFill>
                  <a:srgbClr val="172B4D"/>
                </a:solidFill>
                <a:latin typeface="Arial"/>
                <a:ea typeface="Arial"/>
                <a:cs typeface="Arial"/>
              </a:defRPr>
            </a:pPr>
          </a:p>
        </c:txPr>
        <c:crossAx val="48672768"/>
      </c:catAx>
      <c:valAx>
        <c:axId val="48672768"/>
        <c:scaling>
          <c:orientation val="minMax"/>
          <c:max val="7.5"/>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475569"/>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72B4D"/>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Síncrona</c:v>
          </c:tx>
          <c:spPr>
            <a:solidFill xmlns:a="http://schemas.openxmlformats.org/drawingml/2006/main">
              <a:srgbClr val="2454BF"/>
            </a:solidFill>
          </c:spPr>
          <c:invertIfNegative val="0"/>
          <c:cat>
            <c:strRef>
              <c:f>'Chart Data'!$A$2:$A$2</c:f>
              <c:strCache>
                <c:ptCount val="1"/>
                <c:pt idx="0">
                  <c:v>CPU média</c:v>
                </c:pt>
              </c:strCache>
            </c:strRef>
          </c:cat>
          <c:val>
            <c:numRef>
              <c:f>'Chart Data'!$B$2:$B$2</c:f>
              <c:numCache>
                <c:formatCode>0.00</c:formatCode>
                <c:ptCount val="1"/>
                <c:pt idx="0">
                  <c:v>6.79</c:v>
                </c:pt>
              </c:numCache>
            </c:numRef>
          </c:val>
        </c:ser>
        <c:ser>
          <c:idx val="1"/>
          <c:order val="1"/>
          <c:tx>
            <c:v>Assíncrona</c:v>
          </c:tx>
          <c:spPr>
            <a:solidFill xmlns:a="http://schemas.openxmlformats.org/drawingml/2006/main">
              <a:srgbClr val="12877C"/>
            </a:solidFill>
          </c:spPr>
          <c:invertIfNegative val="0"/>
          <c:cat>
            <c:strRef>
              <c:f>'Chart Data'!$C$2:$C$2</c:f>
              <c:strCache>
                <c:ptCount val="1"/>
                <c:pt idx="0">
                  <c:v>CPU média</c:v>
                </c:pt>
              </c:strCache>
            </c:strRef>
          </c:cat>
          <c:val>
            <c:numRef>
              <c:f>'Chart Data'!$D$2:$D$2</c:f>
              <c:numCache>
                <c:formatCode>0.00</c:formatCode>
                <c:ptCount val="1"/>
                <c:pt idx="0">
                  <c:v>15.36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b="1">
                  <a:solidFill>
                    <a:srgbClr val="172B4D"/>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E1"/>
            </a:solidFill>
          </a:ln>
        </c:spPr>
        <c:txPr>
          <a:bodyPr xmlns:a="http://schemas.openxmlformats.org/drawingml/2006/main" anchorCtr="1"/>
          <a:lstStyle xmlns:a="http://schemas.openxmlformats.org/drawingml/2006/main"/>
          <a:p xmlns:a="http://schemas.openxmlformats.org/drawingml/2006/main">
            <a:pPr>
              <a:defRPr sz="1575">
                <a:solidFill>
                  <a:srgbClr val="172B4D"/>
                </a:solidFill>
                <a:latin typeface="Arial"/>
                <a:ea typeface="Arial"/>
                <a:cs typeface="Arial"/>
              </a:defRPr>
            </a:pPr>
          </a:p>
        </c:txPr>
        <c:crossAx val="48672768"/>
      </c:catAx>
      <c:valAx>
        <c:axId val="48672768"/>
        <c:scaling>
          <c:orientation val="minMax"/>
          <c:max val="21"/>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 de uma CPU lógica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475569"/>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72B4D"/>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Síncrona</c:v>
          </c:tx>
          <c:spPr>
            <a:solidFill xmlns:a="http://schemas.openxmlformats.org/drawingml/2006/main">
              <a:srgbClr val="2454BF"/>
            </a:solidFill>
          </c:spPr>
          <c:invertIfNegative val="0"/>
          <c:cat>
            <c:strRef>
              <c:f>'Chart Data'!$A$2:$A$2</c:f>
              <c:strCache>
                <c:ptCount val="1"/>
                <c:pt idx="0">
                  <c:v>Memória média</c:v>
                </c:pt>
              </c:strCache>
            </c:strRef>
          </c:cat>
          <c:val>
            <c:numRef>
              <c:f>'Chart Data'!$B$2:$B$2</c:f>
              <c:numCache>
                <c:formatCode>0.0</c:formatCode>
                <c:ptCount val="1"/>
                <c:pt idx="0">
                  <c:v>231</c:v>
                </c:pt>
              </c:numCache>
            </c:numRef>
          </c:val>
        </c:ser>
        <c:ser>
          <c:idx val="1"/>
          <c:order val="1"/>
          <c:tx>
            <c:v>Assíncrona</c:v>
          </c:tx>
          <c:spPr>
            <a:solidFill xmlns:a="http://schemas.openxmlformats.org/drawingml/2006/main">
              <a:srgbClr val="12877C"/>
            </a:solidFill>
          </c:spPr>
          <c:invertIfNegative val="0"/>
          <c:cat>
            <c:strRef>
              <c:f>'Chart Data'!$C$2:$C$2</c:f>
              <c:strCache>
                <c:ptCount val="1"/>
                <c:pt idx="0">
                  <c:v>Memória média</c:v>
                </c:pt>
              </c:strCache>
            </c:strRef>
          </c:cat>
          <c:val>
            <c:numRef>
              <c:f>'Chart Data'!$D$2:$D$2</c:f>
              <c:numCache>
                <c:formatCode>0.0</c:formatCode>
                <c:ptCount val="1"/>
                <c:pt idx="0">
                  <c:v>1020.5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b="1">
                  <a:solidFill>
                    <a:srgbClr val="172B4D"/>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E1"/>
            </a:solidFill>
          </a:ln>
        </c:spPr>
        <c:txPr>
          <a:bodyPr xmlns:a="http://schemas.openxmlformats.org/drawingml/2006/main" anchorCtr="1"/>
          <a:lstStyle xmlns:a="http://schemas.openxmlformats.org/drawingml/2006/main"/>
          <a:p xmlns:a="http://schemas.openxmlformats.org/drawingml/2006/main">
            <a:pPr>
              <a:defRPr sz="1575">
                <a:solidFill>
                  <a:srgbClr val="172B4D"/>
                </a:solidFill>
                <a:latin typeface="Arial"/>
                <a:ea typeface="Arial"/>
                <a:cs typeface="Arial"/>
              </a:defRPr>
            </a:pPr>
          </a:p>
        </c:txPr>
        <c:crossAx val="48672768"/>
      </c:catAx>
      <c:valAx>
        <c:axId val="48672768"/>
        <c:scaling>
          <c:orientation val="minMax"/>
          <c:max val="1400"/>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MiB</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475569"/>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72B4D"/>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340BB8F-77D8-4CC2-94B6-BDB02A09A1DC}"/>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72B4D"/>
                </a:solidFill>
                <a:latin typeface="Arial"/>
                <a:ea typeface="Arial"/>
                <a:cs typeface="Arial"/>
              </a:defRPr>
            </a:pPr>
            <a:r>
              <a:rPr sz="2850" b="1">
                <a:solidFill>
                  <a:srgbClr val="172B4D"/>
                </a:solidFill>
                <a:latin typeface="Arial"/>
                <a:ea typeface="Arial"/>
                <a:cs typeface="Arial"/>
              </a:rPr>
              <a:t>Comunicação síncrona via REST e assíncrona orientada a eventos</a:t>
            </a:r>
          </a:p>
        </p:txBody>
      </p:sp>
      <p:sp>
        <p:nvSpPr>
          <p:cNvPr id="2" name="">
            <a:extLst xmlns:a="http://schemas.openxmlformats.org/drawingml/2006/main">
              <a:ext uri="{FF2B5EF4-FFF2-40B4-BE49-F238E27FC236}">
                <a16:creationId xmlns:a16="http://schemas.microsoft.com/office/drawing/2014/main" id="{1F8F37C6-145A-4AB7-8325-7C1042574E99}"/>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4748B"/>
                </a:solidFill>
                <a:latin typeface="Arial"/>
                <a:ea typeface="Arial"/>
                <a:cs typeface="Arial"/>
              </a:defRPr>
            </a:pPr>
            <a:r>
              <a:rPr sz="1350" b="0">
                <a:solidFill>
                  <a:srgbClr val="64748B"/>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4E7CF6C8-43D8-4A51-A57A-F11D7D6DDE2B}"/>
              </a:ext>
            </a:extLst>
          </p:cNvPr>
          <p:cNvSpPr>
            <a:spLocks xmlns:a="http://schemas.openxmlformats.org/drawingml/2006/main" noGrp="1"/>
          </p:cNvSpPr>
          <p:nvPr/>
        </p:nvSpPr>
        <p:spPr>
          <a:xfrm xmlns:a="http://schemas.openxmlformats.org/drawingml/2006/main">
            <a:off x="685800" y="2381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72B4D"/>
                </a:solidFill>
                <a:latin typeface="Arial"/>
                <a:ea typeface="Arial"/>
                <a:cs typeface="Arial"/>
              </a:defRPr>
            </a:pPr>
            <a:r>
              <a:rPr sz="2550" b="0">
                <a:solidFill>
                  <a:srgbClr val="172B4D"/>
                </a:solidFill>
                <a:latin typeface="Arial"/>
                <a:ea typeface="Arial"/>
                <a:cs typeface="Arial"/>
              </a:rPr>
              <a:t>Análise experimental no processamento de registros</a:t>
            </a:r>
          </a:p>
        </p:txBody>
      </p:sp>
      <p:sp>
        <p:nvSpPr>
          <p:cNvPr id="4" name="">
            <a:extLst xmlns:a="http://schemas.openxmlformats.org/drawingml/2006/main">
              <a:ext uri="{FF2B5EF4-FFF2-40B4-BE49-F238E27FC236}">
                <a16:creationId xmlns:a16="http://schemas.microsoft.com/office/drawing/2014/main" id="{8DE5058F-1EF4-46F9-9A2A-D7EF9080A14C}"/>
              </a:ext>
            </a:extLst>
          </p:cNvPr>
          <p:cNvSpPr>
            <a:spLocks xmlns:a="http://schemas.openxmlformats.org/drawingml/2006/main" noGrp="1"/>
          </p:cNvSpPr>
          <p:nvPr/>
        </p:nvSpPr>
        <p:spPr>
          <a:xfrm xmlns:a="http://schemas.openxmlformats.org/drawingml/2006/main">
            <a:off x="685800" y="40957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72B4D"/>
                </a:solidFill>
                <a:latin typeface="Arial"/>
                <a:ea typeface="Arial"/>
                <a:cs typeface="Arial"/>
              </a:defRPr>
            </a:pPr>
            <a:r>
              <a:rPr sz="1875" b="0">
                <a:solidFill>
                  <a:srgbClr val="172B4D"/>
                </a:solidFill>
                <a:latin typeface="Arial"/>
                <a:ea typeface="Arial"/>
                <a:cs typeface="Arial"/>
              </a:rPr>
              <a:t>Ilan Wendling Thoele</a:t>
            </a:r>
          </a:p>
          <a:p xmlns:a="http://schemas.openxmlformats.org/drawingml/2006/main">
            <a:pPr>
              <a:buNone/>
              <a:defRPr sz="1875" b="0">
                <a:solidFill>
                  <a:srgbClr val="172B4D"/>
                </a:solidFill>
                <a:latin typeface="Arial"/>
                <a:ea typeface="Arial"/>
                <a:cs typeface="Arial"/>
              </a:defRPr>
            </a:pPr>
            <a:r>
              <a:rPr sz="1875" b="0">
                <a:solidFill>
                  <a:srgbClr val="172B4D"/>
                </a:solidFill>
                <a:latin typeface="Arial"/>
                <a:ea typeface="Arial"/>
                <a:cs typeface="Arial"/>
              </a:rPr>
              <a:t>Orientadora: Profa. Dra. Alessandra Bussador</a:t>
            </a:r>
          </a:p>
        </p:txBody>
      </p:sp>
      <p:sp>
        <p:nvSpPr>
          <p:cNvPr id="5" name="">
            <a:extLst xmlns:a="http://schemas.openxmlformats.org/drawingml/2006/main">
              <a:ext uri="{FF2B5EF4-FFF2-40B4-BE49-F238E27FC236}">
                <a16:creationId xmlns:a16="http://schemas.microsoft.com/office/drawing/2014/main" id="{300DED62-E354-4EA6-BBF1-1B77DA0CCAD8}"/>
              </a:ext>
            </a:extLst>
          </p:cNvPr>
          <p:cNvSpPr>
            <a:spLocks xmlns:a="http://schemas.openxmlformats.org/drawingml/2006/main" noGrp="1"/>
          </p:cNvSpPr>
          <p:nvPr/>
        </p:nvSpPr>
        <p:spPr>
          <a:xfrm xmlns:a="http://schemas.openxmlformats.org/drawingml/2006/main">
            <a:off x="685800" y="56197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475569"/>
                </a:solidFill>
                <a:latin typeface="Arial"/>
                <a:ea typeface="Arial"/>
                <a:cs typeface="Arial"/>
              </a:defRPr>
            </a:pPr>
            <a:r>
              <a:rPr sz="1650" b="0">
                <a:solidFill>
                  <a:srgbClr val="475569"/>
                </a:solidFill>
                <a:latin typeface="Arial"/>
                <a:ea typeface="Arial"/>
                <a:cs typeface="Arial"/>
              </a:rPr>
              <a:t>Resultados de 27/10/2026 e revisão do parecer em 30/10/2026</a:t>
            </a:r>
          </a:p>
        </p:txBody>
      </p:sp>
    </p:spTree>
    <p:extLst>
      <p:ext uri="{BB962C8B-B14F-4D97-AF65-F5344CB8AC3E}">
        <p14:creationId xmlns:p14="http://schemas.microsoft.com/office/powerpoint/2010/main" val="89445500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B348A5A-B23F-4AA4-BFE7-BF5E41F9DF32}"/>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72B4D"/>
                </a:solidFill>
                <a:latin typeface="Arial"/>
                <a:ea typeface="Arial"/>
                <a:cs typeface="Arial"/>
              </a:defRPr>
            </a:pPr>
            <a:r>
              <a:rPr sz="2850" b="1">
                <a:solidFill>
                  <a:srgbClr val="172B4D"/>
                </a:solidFill>
                <a:latin typeface="Arial"/>
                <a:ea typeface="Arial"/>
                <a:cs typeface="Arial"/>
              </a:rPr>
              <a:t>Pergunta e modelo comum de auditoria</a:t>
            </a:r>
          </a:p>
        </p:txBody>
      </p:sp>
      <p:sp>
        <p:nvSpPr>
          <p:cNvPr id="2" name="">
            <a:extLst xmlns:a="http://schemas.openxmlformats.org/drawingml/2006/main">
              <a:ext uri="{FF2B5EF4-FFF2-40B4-BE49-F238E27FC236}">
                <a16:creationId xmlns:a16="http://schemas.microsoft.com/office/drawing/2014/main" id="{1A407E45-414A-45EF-8073-64D535F7937D}"/>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4748B"/>
                </a:solidFill>
                <a:latin typeface="Arial"/>
                <a:ea typeface="Arial"/>
                <a:cs typeface="Arial"/>
              </a:defRPr>
            </a:pPr>
            <a:r>
              <a:rPr sz="1350" b="0">
                <a:solidFill>
                  <a:srgbClr val="64748B"/>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FBDEDCC2-47A2-4C51-B15F-A15D741A373B}"/>
              </a:ext>
            </a:extLst>
          </p:cNvPr>
          <p:cNvSpPr>
            <a:spLocks xmlns:a="http://schemas.openxmlformats.org/drawingml/2006/main" noGrp="1"/>
          </p:cNvSpPr>
          <p:nvPr/>
        </p:nvSpPr>
        <p:spPr>
          <a:xfrm xmlns:a="http://schemas.openxmlformats.org/drawingml/2006/main">
            <a:off x="685800" y="1952625"/>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2B4D"/>
                </a:solidFill>
                <a:latin typeface="Arial"/>
                <a:ea typeface="Arial"/>
                <a:cs typeface="Arial"/>
              </a:defRPr>
            </a:pPr>
            <a:r>
              <a:rPr sz="3300" b="1">
                <a:solidFill>
                  <a:srgbClr val="172B4D"/>
                </a:solidFill>
                <a:latin typeface="Arial"/>
                <a:ea typeface="Arial"/>
                <a:cs typeface="Arial"/>
              </a:rPr>
              <a:t>Quais trade-offs de desempenho e resiliência aparecem nas duas implementações?</a:t>
            </a:r>
          </a:p>
        </p:txBody>
      </p:sp>
      <p:sp>
        <p:nvSpPr>
          <p:cNvPr id="4" name="">
            <a:extLst xmlns:a="http://schemas.openxmlformats.org/drawingml/2006/main">
              <a:ext uri="{FF2B5EF4-FFF2-40B4-BE49-F238E27FC236}">
                <a16:creationId xmlns:a16="http://schemas.microsoft.com/office/drawing/2014/main" id="{41D630C5-687F-40E3-BFF8-E2FA1A694C72}"/>
              </a:ext>
            </a:extLst>
          </p:cNvPr>
          <p:cNvSpPr>
            <a:spLocks xmlns:a="http://schemas.openxmlformats.org/drawingml/2006/main" noGrp="1"/>
          </p:cNvSpPr>
          <p:nvPr/>
        </p:nvSpPr>
        <p:spPr>
          <a:xfrm xmlns:a="http://schemas.openxmlformats.org/drawingml/2006/main">
            <a:off x="685800" y="4476750"/>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72B4D"/>
                </a:solidFill>
                <a:latin typeface="Arial"/>
                <a:ea typeface="Arial"/>
                <a:cs typeface="Arial"/>
              </a:defRPr>
            </a:pPr>
            <a:r>
              <a:rPr sz="2250" b="0">
                <a:solidFill>
                  <a:srgbClr val="172B4D"/>
                </a:solidFill>
                <a:latin typeface="Arial"/>
                <a:ea typeface="Arial"/>
                <a:cs typeface="Arial"/>
              </a:rPr>
              <a:t>Mesmo contrato, validação, hash e PostgreSQL.</a:t>
            </a:r>
          </a:p>
          <a:p xmlns:a="http://schemas.openxmlformats.org/drawingml/2006/main">
            <a:pPr>
              <a:buNone/>
              <a:defRPr sz="2250" b="0">
                <a:solidFill>
                  <a:srgbClr val="172B4D"/>
                </a:solidFill>
                <a:latin typeface="Arial"/>
                <a:ea typeface="Arial"/>
                <a:cs typeface="Arial"/>
              </a:defRPr>
            </a:pPr>
            <a:r>
              <a:rPr sz="2250" b="0">
                <a:solidFill>
                  <a:srgbClr val="172B4D"/>
                </a:solidFill>
                <a:latin typeface="Arial"/>
                <a:ea typeface="Arial"/>
                <a:cs typeface="Arial"/>
              </a:rPr>
              <a:t>Piloto funcional: 50 registros equivalentes por variante.</a:t>
            </a:r>
          </a:p>
        </p:txBody>
      </p:sp>
    </p:spTree>
    <p:extLst>
      <p:ext uri="{BB962C8B-B14F-4D97-AF65-F5344CB8AC3E}">
        <p14:creationId xmlns:p14="http://schemas.microsoft.com/office/powerpoint/2010/main" val="3808869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E772F50-A96C-4547-A865-3A9943CFC11F}"/>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72B4D"/>
                </a:solidFill>
                <a:latin typeface="Arial"/>
                <a:ea typeface="Arial"/>
                <a:cs typeface="Arial"/>
              </a:defRPr>
            </a:pPr>
            <a:r>
              <a:rPr sz="2850" b="1">
                <a:solidFill>
                  <a:srgbClr val="172B4D"/>
                </a:solidFill>
                <a:latin typeface="Arial"/>
                <a:ea typeface="Arial"/>
                <a:cs typeface="Arial"/>
              </a:rPr>
              <a:t>Campanha executada e unidade de comparação</a:t>
            </a:r>
          </a:p>
        </p:txBody>
      </p:sp>
      <p:sp>
        <p:nvSpPr>
          <p:cNvPr id="2" name="">
            <a:extLst xmlns:a="http://schemas.openxmlformats.org/drawingml/2006/main">
              <a:ext uri="{FF2B5EF4-FFF2-40B4-BE49-F238E27FC236}">
                <a16:creationId xmlns:a16="http://schemas.microsoft.com/office/drawing/2014/main" id="{5D6828C9-C577-48E4-8F51-C02A856F01A8}"/>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4748B"/>
                </a:solidFill>
                <a:latin typeface="Arial"/>
                <a:ea typeface="Arial"/>
                <a:cs typeface="Arial"/>
              </a:defRPr>
            </a:pPr>
            <a:r>
              <a:rPr sz="1350" b="0">
                <a:solidFill>
                  <a:srgbClr val="64748B"/>
                </a:solidFill>
                <a:latin typeface="Arial"/>
                <a:ea typeface="Arial"/>
                <a:cs typeface="Arial"/>
              </a:rPr>
              <a:t>3</a:t>
            </a:r>
          </a:p>
        </p:txBody>
      </p:sp>
      <p:sp>
        <p:nvSpPr>
          <p:cNvPr id="7" name="">
            <a:extLst xmlns:a="http://schemas.openxmlformats.org/drawingml/2006/main">
              <a:ext uri="{FF2B5EF4-FFF2-40B4-BE49-F238E27FC236}">
                <a16:creationId xmlns:a16="http://schemas.microsoft.com/office/drawing/2014/main" id="{04FA8B88-80C2-40BA-8542-AE34D474ED80}"/>
              </a:ext>
            </a:extLst>
          </p:cNvPr>
          <p:cNvSpPr>
            <a:spLocks xmlns:a="http://schemas.openxmlformats.org/drawingml/2006/main" noGrp="1"/>
          </p:cNvSpPr>
          <p:nvPr/>
        </p:nvSpPr>
        <p:spPr>
          <a:xfrm xmlns:a="http://schemas.openxmlformats.org/drawingml/2006/main">
            <a:off x="685800" y="185737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2B4D"/>
                </a:solidFill>
                <a:latin typeface="Arial"/>
                <a:ea typeface="Arial"/>
                <a:cs typeface="Arial"/>
              </a:defRPr>
            </a:defPPr>
            <a:lvl1pPr>
              <a:buNone/>
              <a:defRPr sz="2175" b="0">
                <a:solidFill>
                  <a:srgbClr val="172B4D"/>
                </a:solidFill>
                <a:latin typeface="Arial"/>
                <a:ea typeface="Arial"/>
                <a:cs typeface="Arial"/>
              </a:defRPr>
            </a:lvl1pPr>
            <a:lvl2pPr>
              <a:buNone/>
              <a:defRPr sz="2175" b="0">
                <a:solidFill>
                  <a:srgbClr val="172B4D"/>
                </a:solidFill>
                <a:latin typeface="Arial"/>
                <a:ea typeface="Arial"/>
                <a:cs typeface="Arial"/>
              </a:defRPr>
            </a:lvl2pPr>
            <a:lvl3pPr>
              <a:buNone/>
              <a:defRPr sz="2175" b="0">
                <a:solidFill>
                  <a:srgbClr val="172B4D"/>
                </a:solidFill>
                <a:latin typeface="Arial"/>
                <a:ea typeface="Arial"/>
                <a:cs typeface="Arial"/>
              </a:defRPr>
            </a:lvl3pPr>
            <a:lvl4pPr>
              <a:buNone/>
              <a:defRPr sz="2175" b="0">
                <a:solidFill>
                  <a:srgbClr val="172B4D"/>
                </a:solidFill>
                <a:latin typeface="Arial"/>
                <a:ea typeface="Arial"/>
                <a:cs typeface="Arial"/>
              </a:defRPr>
            </a:lvl4pPr>
            <a:lvl5pPr>
              <a:buNone/>
              <a:defRPr sz="2175" b="0">
                <a:solidFill>
                  <a:srgbClr val="172B4D"/>
                </a:solidFill>
                <a:latin typeface="Arial"/>
                <a:ea typeface="Arial"/>
                <a:cs typeface="Arial"/>
              </a:defRPr>
            </a:lvl5pPr>
            <a:lvl6pPr>
              <a:buNone/>
              <a:defRPr sz="2175" b="0">
                <a:solidFill>
                  <a:srgbClr val="172B4D"/>
                </a:solidFill>
                <a:latin typeface="Arial"/>
                <a:ea typeface="Arial"/>
                <a:cs typeface="Arial"/>
              </a:defRPr>
            </a:lvl6pPr>
            <a:lvl7pPr>
              <a:buNone/>
              <a:defRPr sz="2175" b="0">
                <a:solidFill>
                  <a:srgbClr val="172B4D"/>
                </a:solidFill>
                <a:latin typeface="Arial"/>
                <a:ea typeface="Arial"/>
                <a:cs typeface="Arial"/>
              </a:defRPr>
            </a:lvl7pPr>
            <a:lvl8pPr>
              <a:buNone/>
              <a:defRPr sz="2175" b="0">
                <a:solidFill>
                  <a:srgbClr val="172B4D"/>
                </a:solidFill>
                <a:latin typeface="Arial"/>
                <a:ea typeface="Arial"/>
                <a:cs typeface="Arial"/>
              </a:defRPr>
            </a:lvl8pPr>
            <a:lvl9pPr>
              <a:buNone/>
              <a:defRPr sz="2175" b="0">
                <a:solidFill>
                  <a:srgbClr val="172B4D"/>
                </a:solidFill>
                <a:latin typeface="Arial"/>
                <a:ea typeface="Arial"/>
                <a:cs typeface="Arial"/>
              </a:defRPr>
            </a:lvl9pPr>
          </a:lstStyle>
          <a:p xmlns:a="http://schemas.openxmlformats.org/drawingml/2006/main">
            <a:pPr>
              <a:buNone/>
              <a:defRPr sz="2175" b="0">
                <a:solidFill>
                  <a:srgbClr val="172B4D"/>
                </a:solidFill>
                <a:latin typeface="Arial"/>
                <a:ea typeface="Arial"/>
                <a:cs typeface="Arial"/>
              </a:defRPr>
            </a:pPr>
            <a:r>
              <a:rPr sz="2175" b="0">
                <a:solidFill>
                  <a:srgbClr val="172B4D"/>
                </a:solidFill>
                <a:latin typeface="Arial"/>
                <a:ea typeface="Arial"/>
                <a:cs typeface="Arial"/>
              </a:rPr>
              <a:t>65 coletas em 13 condições, com cinco repetições por condição.</a:t>
            </a:r>
          </a:p>
        </p:txBody>
      </p:sp>
      <p:sp>
        <p:nvSpPr>
          <p:cNvPr id="8" name="">
            <a:extLst xmlns:a="http://schemas.openxmlformats.org/drawingml/2006/main">
              <a:ext uri="{FF2B5EF4-FFF2-40B4-BE49-F238E27FC236}">
                <a16:creationId xmlns:a16="http://schemas.microsoft.com/office/drawing/2014/main" id="{0292F65E-4CE5-435B-A87F-1659FB993801}"/>
              </a:ext>
            </a:extLst>
          </p:cNvPr>
          <p:cNvSpPr>
            <a:spLocks xmlns:a="http://schemas.openxmlformats.org/drawingml/2006/main" noGrp="1"/>
          </p:cNvSpPr>
          <p:nvPr/>
        </p:nvSpPr>
        <p:spPr>
          <a:xfrm xmlns:a="http://schemas.openxmlformats.org/drawingml/2006/main">
            <a:off x="685800" y="28384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2B4D"/>
                </a:solidFill>
                <a:latin typeface="Arial"/>
                <a:ea typeface="Arial"/>
                <a:cs typeface="Arial"/>
              </a:defRPr>
            </a:defPPr>
            <a:lvl1pPr>
              <a:buNone/>
              <a:defRPr sz="2175" b="0">
                <a:solidFill>
                  <a:srgbClr val="172B4D"/>
                </a:solidFill>
                <a:latin typeface="Arial"/>
                <a:ea typeface="Arial"/>
                <a:cs typeface="Arial"/>
              </a:defRPr>
            </a:lvl1pPr>
            <a:lvl2pPr>
              <a:buNone/>
              <a:defRPr sz="2175" b="0">
                <a:solidFill>
                  <a:srgbClr val="172B4D"/>
                </a:solidFill>
                <a:latin typeface="Arial"/>
                <a:ea typeface="Arial"/>
                <a:cs typeface="Arial"/>
              </a:defRPr>
            </a:lvl2pPr>
            <a:lvl3pPr>
              <a:buNone/>
              <a:defRPr sz="2175" b="0">
                <a:solidFill>
                  <a:srgbClr val="172B4D"/>
                </a:solidFill>
                <a:latin typeface="Arial"/>
                <a:ea typeface="Arial"/>
                <a:cs typeface="Arial"/>
              </a:defRPr>
            </a:lvl3pPr>
            <a:lvl4pPr>
              <a:buNone/>
              <a:defRPr sz="2175" b="0">
                <a:solidFill>
                  <a:srgbClr val="172B4D"/>
                </a:solidFill>
                <a:latin typeface="Arial"/>
                <a:ea typeface="Arial"/>
                <a:cs typeface="Arial"/>
              </a:defRPr>
            </a:lvl4pPr>
            <a:lvl5pPr>
              <a:buNone/>
              <a:defRPr sz="2175" b="0">
                <a:solidFill>
                  <a:srgbClr val="172B4D"/>
                </a:solidFill>
                <a:latin typeface="Arial"/>
                <a:ea typeface="Arial"/>
                <a:cs typeface="Arial"/>
              </a:defRPr>
            </a:lvl5pPr>
            <a:lvl6pPr>
              <a:buNone/>
              <a:defRPr sz="2175" b="0">
                <a:solidFill>
                  <a:srgbClr val="172B4D"/>
                </a:solidFill>
                <a:latin typeface="Arial"/>
                <a:ea typeface="Arial"/>
                <a:cs typeface="Arial"/>
              </a:defRPr>
            </a:lvl6pPr>
            <a:lvl7pPr>
              <a:buNone/>
              <a:defRPr sz="2175" b="0">
                <a:solidFill>
                  <a:srgbClr val="172B4D"/>
                </a:solidFill>
                <a:latin typeface="Arial"/>
                <a:ea typeface="Arial"/>
                <a:cs typeface="Arial"/>
              </a:defRPr>
            </a:lvl7pPr>
            <a:lvl8pPr>
              <a:buNone/>
              <a:defRPr sz="2175" b="0">
                <a:solidFill>
                  <a:srgbClr val="172B4D"/>
                </a:solidFill>
                <a:latin typeface="Arial"/>
                <a:ea typeface="Arial"/>
                <a:cs typeface="Arial"/>
              </a:defRPr>
            </a:lvl8pPr>
            <a:lvl9pPr>
              <a:buNone/>
              <a:defRPr sz="2175" b="0">
                <a:solidFill>
                  <a:srgbClr val="172B4D"/>
                </a:solidFill>
                <a:latin typeface="Arial"/>
                <a:ea typeface="Arial"/>
                <a:cs typeface="Arial"/>
              </a:defRPr>
            </a:lvl9pPr>
          </a:lstStyle>
          <a:p xmlns:a="http://schemas.openxmlformats.org/drawingml/2006/main">
            <a:pPr>
              <a:buNone/>
              <a:defRPr sz="2175" b="0">
                <a:solidFill>
                  <a:srgbClr val="172B4D"/>
                </a:solidFill>
                <a:latin typeface="Arial"/>
                <a:ea typeface="Arial"/>
                <a:cs typeface="Arial"/>
              </a:defRPr>
            </a:pPr>
            <a:r>
              <a:rPr sz="2175" b="0">
                <a:solidFill>
                  <a:srgbClr val="172B4D"/>
                </a:solidFill>
                <a:latin typeface="Arial"/>
                <a:ea typeface="Arial"/>
                <a:cs typeface="Arial"/>
              </a:rPr>
              <a:t>Constantes: 12, 24, 36 e 48/s. Rajada: 48, 96 e 48/s.</a:t>
            </a:r>
          </a:p>
        </p:txBody>
      </p:sp>
      <p:sp>
        <p:nvSpPr>
          <p:cNvPr id="9" name="">
            <a:extLst xmlns:a="http://schemas.openxmlformats.org/drawingml/2006/main">
              <a:ext uri="{FF2B5EF4-FFF2-40B4-BE49-F238E27FC236}">
                <a16:creationId xmlns:a16="http://schemas.microsoft.com/office/drawing/2014/main" id="{755BB376-7AA0-481D-9A1E-4D1DF116BB97}"/>
              </a:ext>
            </a:extLst>
          </p:cNvPr>
          <p:cNvSpPr>
            <a:spLocks xmlns:a="http://schemas.openxmlformats.org/drawingml/2006/main" noGrp="1"/>
          </p:cNvSpPr>
          <p:nvPr/>
        </p:nvSpPr>
        <p:spPr>
          <a:xfrm xmlns:a="http://schemas.openxmlformats.org/drawingml/2006/main">
            <a:off x="685800" y="38195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2B4D"/>
                </a:solidFill>
                <a:latin typeface="Arial"/>
                <a:ea typeface="Arial"/>
                <a:cs typeface="Arial"/>
              </a:defRPr>
            </a:defPPr>
            <a:lvl1pPr>
              <a:buNone/>
              <a:defRPr sz="2175" b="0">
                <a:solidFill>
                  <a:srgbClr val="172B4D"/>
                </a:solidFill>
                <a:latin typeface="Arial"/>
                <a:ea typeface="Arial"/>
                <a:cs typeface="Arial"/>
              </a:defRPr>
            </a:lvl1pPr>
            <a:lvl2pPr>
              <a:buNone/>
              <a:defRPr sz="2175" b="0">
                <a:solidFill>
                  <a:srgbClr val="172B4D"/>
                </a:solidFill>
                <a:latin typeface="Arial"/>
                <a:ea typeface="Arial"/>
                <a:cs typeface="Arial"/>
              </a:defRPr>
            </a:lvl2pPr>
            <a:lvl3pPr>
              <a:buNone/>
              <a:defRPr sz="2175" b="0">
                <a:solidFill>
                  <a:srgbClr val="172B4D"/>
                </a:solidFill>
                <a:latin typeface="Arial"/>
                <a:ea typeface="Arial"/>
                <a:cs typeface="Arial"/>
              </a:defRPr>
            </a:lvl3pPr>
            <a:lvl4pPr>
              <a:buNone/>
              <a:defRPr sz="2175" b="0">
                <a:solidFill>
                  <a:srgbClr val="172B4D"/>
                </a:solidFill>
                <a:latin typeface="Arial"/>
                <a:ea typeface="Arial"/>
                <a:cs typeface="Arial"/>
              </a:defRPr>
            </a:lvl4pPr>
            <a:lvl5pPr>
              <a:buNone/>
              <a:defRPr sz="2175" b="0">
                <a:solidFill>
                  <a:srgbClr val="172B4D"/>
                </a:solidFill>
                <a:latin typeface="Arial"/>
                <a:ea typeface="Arial"/>
                <a:cs typeface="Arial"/>
              </a:defRPr>
            </a:lvl5pPr>
            <a:lvl6pPr>
              <a:buNone/>
              <a:defRPr sz="2175" b="0">
                <a:solidFill>
                  <a:srgbClr val="172B4D"/>
                </a:solidFill>
                <a:latin typeface="Arial"/>
                <a:ea typeface="Arial"/>
                <a:cs typeface="Arial"/>
              </a:defRPr>
            </a:lvl6pPr>
            <a:lvl7pPr>
              <a:buNone/>
              <a:defRPr sz="2175" b="0">
                <a:solidFill>
                  <a:srgbClr val="172B4D"/>
                </a:solidFill>
                <a:latin typeface="Arial"/>
                <a:ea typeface="Arial"/>
                <a:cs typeface="Arial"/>
              </a:defRPr>
            </a:lvl7pPr>
            <a:lvl8pPr>
              <a:buNone/>
              <a:defRPr sz="2175" b="0">
                <a:solidFill>
                  <a:srgbClr val="172B4D"/>
                </a:solidFill>
                <a:latin typeface="Arial"/>
                <a:ea typeface="Arial"/>
                <a:cs typeface="Arial"/>
              </a:defRPr>
            </a:lvl8pPr>
            <a:lvl9pPr>
              <a:buNone/>
              <a:defRPr sz="2175" b="0">
                <a:solidFill>
                  <a:srgbClr val="172B4D"/>
                </a:solidFill>
                <a:latin typeface="Arial"/>
                <a:ea typeface="Arial"/>
                <a:cs typeface="Arial"/>
              </a:defRPr>
            </a:lvl9pPr>
          </a:lstStyle>
          <a:p xmlns:a="http://schemas.openxmlformats.org/drawingml/2006/main">
            <a:pPr>
              <a:buNone/>
              <a:defRPr sz="2175" b="0">
                <a:solidFill>
                  <a:srgbClr val="172B4D"/>
                </a:solidFill>
                <a:latin typeface="Arial"/>
                <a:ea typeface="Arial"/>
                <a:cs typeface="Arial"/>
              </a:defRPr>
            </a:pPr>
            <a:r>
              <a:rPr sz="2175" b="0">
                <a:solidFill>
                  <a:srgbClr val="172B4D"/>
                </a:solidFill>
                <a:latin typeface="Arial"/>
                <a:ea typeface="Arial"/>
                <a:cs typeface="Arial"/>
              </a:rPr>
              <a:t>Falhas: PostgreSQL nas duas variantes e consumidor na assíncrona.</a:t>
            </a:r>
          </a:p>
        </p:txBody>
      </p:sp>
      <p:sp>
        <p:nvSpPr>
          <p:cNvPr id="10" name="">
            <a:extLst xmlns:a="http://schemas.openxmlformats.org/drawingml/2006/main">
              <a:ext uri="{FF2B5EF4-FFF2-40B4-BE49-F238E27FC236}">
                <a16:creationId xmlns:a16="http://schemas.microsoft.com/office/drawing/2014/main" id="{99D070DA-0A15-462C-B673-4053FE2770C1}"/>
              </a:ext>
            </a:extLst>
          </p:cNvPr>
          <p:cNvSpPr>
            <a:spLocks xmlns:a="http://schemas.openxmlformats.org/drawingml/2006/main" noGrp="1"/>
          </p:cNvSpPr>
          <p:nvPr/>
        </p:nvSpPr>
        <p:spPr>
          <a:xfrm xmlns:a="http://schemas.openxmlformats.org/drawingml/2006/main">
            <a:off x="685800" y="48006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2B4D"/>
                </a:solidFill>
                <a:latin typeface="Arial"/>
                <a:ea typeface="Arial"/>
                <a:cs typeface="Arial"/>
              </a:defRPr>
            </a:defPPr>
            <a:lvl1pPr>
              <a:buNone/>
              <a:defRPr sz="2175" b="0">
                <a:solidFill>
                  <a:srgbClr val="172B4D"/>
                </a:solidFill>
                <a:latin typeface="Arial"/>
                <a:ea typeface="Arial"/>
                <a:cs typeface="Arial"/>
              </a:defRPr>
            </a:lvl1pPr>
            <a:lvl2pPr>
              <a:buNone/>
              <a:defRPr sz="2175" b="0">
                <a:solidFill>
                  <a:srgbClr val="172B4D"/>
                </a:solidFill>
                <a:latin typeface="Arial"/>
                <a:ea typeface="Arial"/>
                <a:cs typeface="Arial"/>
              </a:defRPr>
            </a:lvl2pPr>
            <a:lvl3pPr>
              <a:buNone/>
              <a:defRPr sz="2175" b="0">
                <a:solidFill>
                  <a:srgbClr val="172B4D"/>
                </a:solidFill>
                <a:latin typeface="Arial"/>
                <a:ea typeface="Arial"/>
                <a:cs typeface="Arial"/>
              </a:defRPr>
            </a:lvl3pPr>
            <a:lvl4pPr>
              <a:buNone/>
              <a:defRPr sz="2175" b="0">
                <a:solidFill>
                  <a:srgbClr val="172B4D"/>
                </a:solidFill>
                <a:latin typeface="Arial"/>
                <a:ea typeface="Arial"/>
                <a:cs typeface="Arial"/>
              </a:defRPr>
            </a:lvl4pPr>
            <a:lvl5pPr>
              <a:buNone/>
              <a:defRPr sz="2175" b="0">
                <a:solidFill>
                  <a:srgbClr val="172B4D"/>
                </a:solidFill>
                <a:latin typeface="Arial"/>
                <a:ea typeface="Arial"/>
                <a:cs typeface="Arial"/>
              </a:defRPr>
            </a:lvl5pPr>
            <a:lvl6pPr>
              <a:buNone/>
              <a:defRPr sz="2175" b="0">
                <a:solidFill>
                  <a:srgbClr val="172B4D"/>
                </a:solidFill>
                <a:latin typeface="Arial"/>
                <a:ea typeface="Arial"/>
                <a:cs typeface="Arial"/>
              </a:defRPr>
            </a:lvl6pPr>
            <a:lvl7pPr>
              <a:buNone/>
              <a:defRPr sz="2175" b="0">
                <a:solidFill>
                  <a:srgbClr val="172B4D"/>
                </a:solidFill>
                <a:latin typeface="Arial"/>
                <a:ea typeface="Arial"/>
                <a:cs typeface="Arial"/>
              </a:defRPr>
            </a:lvl7pPr>
            <a:lvl8pPr>
              <a:buNone/>
              <a:defRPr sz="2175" b="0">
                <a:solidFill>
                  <a:srgbClr val="172B4D"/>
                </a:solidFill>
                <a:latin typeface="Arial"/>
                <a:ea typeface="Arial"/>
                <a:cs typeface="Arial"/>
              </a:defRPr>
            </a:lvl8pPr>
            <a:lvl9pPr>
              <a:buNone/>
              <a:defRPr sz="2175" b="0">
                <a:solidFill>
                  <a:srgbClr val="172B4D"/>
                </a:solidFill>
                <a:latin typeface="Arial"/>
                <a:ea typeface="Arial"/>
                <a:cs typeface="Arial"/>
              </a:defRPr>
            </a:lvl9pPr>
          </a:lstStyle>
          <a:p xmlns:a="http://schemas.openxmlformats.org/drawingml/2006/main">
            <a:pPr>
              <a:buNone/>
              <a:defRPr sz="2175" b="0">
                <a:solidFill>
                  <a:srgbClr val="172B4D"/>
                </a:solidFill>
                <a:latin typeface="Arial"/>
                <a:ea typeface="Arial"/>
                <a:cs typeface="Arial"/>
              </a:defRPr>
            </a:pPr>
            <a:r>
              <a:rPr sz="2175" b="0">
                <a:solidFill>
                  <a:srgbClr val="172B4D"/>
                </a:solidFill>
                <a:latin typeface="Arial"/>
                <a:ea typeface="Arial"/>
                <a:cs typeface="Arial"/>
              </a:rPr>
              <a:t>60 s de aquecimento, 180 s medidos e 90 s de observação posterior.</a:t>
            </a:r>
          </a:p>
        </p:txBody>
      </p:sp>
    </p:spTree>
    <p:extLst>
      <p:ext uri="{BB962C8B-B14F-4D97-AF65-F5344CB8AC3E}">
        <p14:creationId xmlns:p14="http://schemas.microsoft.com/office/powerpoint/2010/main" val="192415017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A8D7639-F3CE-498B-AE58-6B2572E40189}"/>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72B4D"/>
                </a:solidFill>
                <a:latin typeface="Arial"/>
                <a:ea typeface="Arial"/>
                <a:cs typeface="Arial"/>
              </a:defRPr>
            </a:pPr>
            <a:r>
              <a:rPr sz="2850" b="1">
                <a:solidFill>
                  <a:srgbClr val="172B4D"/>
                </a:solidFill>
                <a:latin typeface="Arial"/>
                <a:ea typeface="Arial"/>
                <a:cs typeface="Arial"/>
              </a:rPr>
              <a:t>HTTP e conclusão a 48 eventos por segundo</a:t>
            </a:r>
          </a:p>
        </p:txBody>
      </p:sp>
      <p:sp>
        <p:nvSpPr>
          <p:cNvPr id="2" name="">
            <a:extLst xmlns:a="http://schemas.openxmlformats.org/drawingml/2006/main">
              <a:ext uri="{FF2B5EF4-FFF2-40B4-BE49-F238E27FC236}">
                <a16:creationId xmlns:a16="http://schemas.microsoft.com/office/drawing/2014/main" id="{3B123E97-A882-4BF7-88B4-FC470570119F}"/>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4748B"/>
                </a:solidFill>
                <a:latin typeface="Arial"/>
                <a:ea typeface="Arial"/>
                <a:cs typeface="Arial"/>
              </a:defRPr>
            </a:pPr>
            <a:r>
              <a:rPr sz="1350" b="0">
                <a:solidFill>
                  <a:srgbClr val="64748B"/>
                </a:solidFill>
                <a:latin typeface="Arial"/>
                <a:ea typeface="Arial"/>
                <a:cs typeface="Arial"/>
              </a:rPr>
              <a:t>4</a:t>
            </a:r>
          </a:p>
        </p:txBody>
      </p:sp>
      <p:graphicFrame>
        <p:nvGraphicFramePr>
          <p:cNvPr id="7" name="">
            <a:extLst xmlns:a="http://schemas.openxmlformats.org/drawingml/2006/main">
              <a:ext uri="{FF2B5EF4-FFF2-40B4-BE49-F238E27FC236}">
                <a16:creationId xmlns:a16="http://schemas.microsoft.com/office/drawing/2014/main" id="{8F877EB0-C4D9-4F9D-9039-0DA3855B7DA3}"/>
              </a:ext>
            </a:extLst>
          </p:cNvPr>
          <p:cNvGraphicFramePr/>
          <p:nvPr/>
        </p:nvGraphicFramePr>
        <p:xfrm>
          <a:off xmlns:a="http://schemas.openxmlformats.org/drawingml/2006/main" x="685800" y="1714500"/>
          <a:ext xmlns:a="http://schemas.openxmlformats.org/drawingml/2006/main" cx="10820400" cy="3714750"/>
        </p:xfrm>
        <a:graphic xmlns:a="http://schemas.openxmlformats.org/drawingml/2006/main">
          <a:graphicData uri="http://schemas.openxmlformats.org/drawingml/2006/table">
            <a:tbl>
              <a:tblPr/>
              <a:tblGrid>
                <a:gridCol w="5143500"/>
                <a:gridCol w="2838450"/>
                <a:gridCol w="2838450"/>
              </a:tblGrid>
              <a:tr h="742950">
                <a:tc>
                  <a:txBody>
                    <a:bodyPr>
                      <a:noAutofit/>
                    </a:bodyPr>
                    <a:lstStyle/>
                    <a:p>
                      <a:r>
                        <a:rPr sz="1875" b="1">
                          <a:solidFill>
                            <a:srgbClr val="FFFFFF"/>
                          </a:solidFill>
                          <a:latin typeface="Arial"/>
                          <a:ea typeface="Arial"/>
                          <a:cs typeface="Arial"/>
                        </a:rPr>
                        <a:t>Indicador</a:t>
                      </a:r>
                    </a:p>
                  </a:txBody>
                  <a:tcPr marL="91440" marR="91440" marT="45720" marB="45720">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875" b="1">
                          <a:solidFill>
                            <a:srgbClr val="FFFFFF"/>
                          </a:solidFill>
                          <a:latin typeface="Arial"/>
                          <a:ea typeface="Arial"/>
                          <a:cs typeface="Arial"/>
                        </a:rPr>
                        <a:t>Síncrona</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875" b="1">
                          <a:solidFill>
                            <a:srgbClr val="FFFFFF"/>
                          </a:solidFill>
                          <a:latin typeface="Arial"/>
                          <a:ea typeface="Arial"/>
                          <a:cs typeface="Arial"/>
                        </a:rPr>
                        <a:t>Assíncrona</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r>
              <a:tr h="742950">
                <a:tc>
                  <a:txBody>
                    <a:bodyPr>
                      <a:noAutofit/>
                    </a:bodyPr>
                    <a:lstStyle/>
                    <a:p>
                      <a:r>
                        <a:rPr sz="1875" b="0">
                          <a:solidFill>
                            <a:srgbClr val="172B4D"/>
                          </a:solidFill>
                          <a:latin typeface="Arial"/>
                          <a:ea typeface="Arial"/>
                          <a:cs typeface="Arial"/>
                        </a:rPr>
                        <a:t>p95 HTTP válido (ms)</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4,34</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2,60</a:t>
                      </a:r>
                    </a:p>
                  </a:txBody>
                  <a:tcPr marL="91440" marR="91440" marT="45720" marB="45720">
                    <a:lnR w="9525">
                      <a:solidFill>
                        <a:srgbClr val="CBD5E1"/>
                      </a:solidFill>
                      <a:prstDash val="solid"/>
                    </a:lnR>
                    <a:lnB w="9525">
                      <a:solidFill>
                        <a:srgbClr val="CBD5E1"/>
                      </a:solidFill>
                      <a:prstDash val="solid"/>
                    </a:lnB>
                    <a:solidFill>
                      <a:srgbClr val="FFFFFF"/>
                    </a:solidFill>
                  </a:tcPr>
                </a:tc>
              </a:tr>
              <a:tr h="742950">
                <a:tc>
                  <a:txBody>
                    <a:bodyPr>
                      <a:noAutofit/>
                    </a:bodyPr>
                    <a:lstStyle/>
                    <a:p>
                      <a:r>
                        <a:rPr sz="1875" b="0">
                          <a:solidFill>
                            <a:srgbClr val="172B4D"/>
                          </a:solidFill>
                          <a:latin typeface="Arial"/>
                          <a:ea typeface="Arial"/>
                          <a:cs typeface="Arial"/>
                        </a:rPr>
                        <a:t>p95 até concluir a gravação (ms)</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3,92</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5,83</a:t>
                      </a:r>
                    </a:p>
                  </a:txBody>
                  <a:tcPr marL="91440" marR="91440" marT="45720" marB="45720">
                    <a:lnR w="9525">
                      <a:solidFill>
                        <a:srgbClr val="CBD5E1"/>
                      </a:solidFill>
                      <a:prstDash val="solid"/>
                    </a:lnR>
                    <a:lnB w="9525">
                      <a:solidFill>
                        <a:srgbClr val="CBD5E1"/>
                      </a:solidFill>
                      <a:prstDash val="solid"/>
                    </a:lnB>
                    <a:solidFill>
                      <a:srgbClr val="FFFFFF"/>
                    </a:solidFill>
                  </a:tcPr>
                </a:tc>
              </a:tr>
              <a:tr h="742950">
                <a:tc>
                  <a:txBody>
                    <a:bodyPr>
                      <a:noAutofit/>
                    </a:bodyPr>
                    <a:lstStyle/>
                    <a:p>
                      <a:r>
                        <a:rPr sz="1875" b="0">
                          <a:solidFill>
                            <a:srgbClr val="172B4D"/>
                          </a:solidFill>
                          <a:latin typeface="Arial"/>
                          <a:ea typeface="Arial"/>
                          <a:cs typeface="Arial"/>
                        </a:rPr>
                        <a:t>Vazão concluída (eventos/s)</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48,00</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48,00</a:t>
                      </a:r>
                    </a:p>
                  </a:txBody>
                  <a:tcPr marL="91440" marR="91440" marT="45720" marB="45720">
                    <a:lnR w="9525">
                      <a:solidFill>
                        <a:srgbClr val="CBD5E1"/>
                      </a:solidFill>
                      <a:prstDash val="solid"/>
                    </a:lnR>
                    <a:lnB w="9525">
                      <a:solidFill>
                        <a:srgbClr val="CBD5E1"/>
                      </a:solidFill>
                      <a:prstDash val="solid"/>
                    </a:lnB>
                    <a:solidFill>
                      <a:srgbClr val="FFFFFF"/>
                    </a:solidFill>
                  </a:tcPr>
                </a:tc>
              </a:tr>
              <a:tr h="742950">
                <a:tc>
                  <a:txBody>
                    <a:bodyPr>
                      <a:noAutofit/>
                    </a:bodyPr>
                    <a:lstStyle/>
                    <a:p>
                      <a:r>
                        <a:rPr sz="1875" b="0">
                          <a:solidFill>
                            <a:srgbClr val="172B4D"/>
                          </a:solidFill>
                          <a:latin typeface="Arial"/>
                          <a:ea typeface="Arial"/>
                          <a:cs typeface="Arial"/>
                        </a:rPr>
                        <a:t>Erro HTTP medido (%)</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0,00</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0,00</a:t>
                      </a:r>
                    </a:p>
                  </a:txBody>
                  <a:tcPr marL="91440" marR="91440" marT="45720" marB="45720">
                    <a:lnR w="9525">
                      <a:solidFill>
                        <a:srgbClr val="CBD5E1"/>
                      </a:solidFill>
                      <a:prstDash val="solid"/>
                    </a:lnR>
                    <a:lnB w="9525">
                      <a:solidFill>
                        <a:srgbClr val="CBD5E1"/>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8B04DE3-CBE5-42A3-9D54-CA75EDA6A126}"/>
              </a:ext>
            </a:extLst>
          </p:cNvPr>
          <p:cNvSpPr>
            <a:spLocks xmlns:a="http://schemas.openxmlformats.org/drawingml/2006/main" noGrp="1"/>
          </p:cNvSpPr>
          <p:nvPr/>
        </p:nvSpPr>
        <p:spPr>
          <a:xfrm xmlns:a="http://schemas.openxmlformats.org/drawingml/2006/main">
            <a:off x="685800" y="55721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72B4D"/>
                </a:solidFill>
                <a:latin typeface="Arial"/>
                <a:ea typeface="Arial"/>
                <a:cs typeface="Arial"/>
              </a:defRPr>
            </a:defPPr>
            <a:lvl1pPr>
              <a:buNone/>
              <a:defRPr sz="1800" b="0">
                <a:solidFill>
                  <a:srgbClr val="172B4D"/>
                </a:solidFill>
                <a:latin typeface="Arial"/>
                <a:ea typeface="Arial"/>
                <a:cs typeface="Arial"/>
              </a:defRPr>
            </a:lvl1pPr>
            <a:lvl2pPr>
              <a:buNone/>
              <a:defRPr sz="1800" b="0">
                <a:solidFill>
                  <a:srgbClr val="172B4D"/>
                </a:solidFill>
                <a:latin typeface="Arial"/>
                <a:ea typeface="Arial"/>
                <a:cs typeface="Arial"/>
              </a:defRPr>
            </a:lvl2pPr>
            <a:lvl3pPr>
              <a:buNone/>
              <a:defRPr sz="1800" b="0">
                <a:solidFill>
                  <a:srgbClr val="172B4D"/>
                </a:solidFill>
                <a:latin typeface="Arial"/>
                <a:ea typeface="Arial"/>
                <a:cs typeface="Arial"/>
              </a:defRPr>
            </a:lvl3pPr>
            <a:lvl4pPr>
              <a:buNone/>
              <a:defRPr sz="1800" b="0">
                <a:solidFill>
                  <a:srgbClr val="172B4D"/>
                </a:solidFill>
                <a:latin typeface="Arial"/>
                <a:ea typeface="Arial"/>
                <a:cs typeface="Arial"/>
              </a:defRPr>
            </a:lvl4pPr>
            <a:lvl5pPr>
              <a:buNone/>
              <a:defRPr sz="1800" b="0">
                <a:solidFill>
                  <a:srgbClr val="172B4D"/>
                </a:solidFill>
                <a:latin typeface="Arial"/>
                <a:ea typeface="Arial"/>
                <a:cs typeface="Arial"/>
              </a:defRPr>
            </a:lvl5pPr>
            <a:lvl6pPr>
              <a:buNone/>
              <a:defRPr sz="1800" b="0">
                <a:solidFill>
                  <a:srgbClr val="172B4D"/>
                </a:solidFill>
                <a:latin typeface="Arial"/>
                <a:ea typeface="Arial"/>
                <a:cs typeface="Arial"/>
              </a:defRPr>
            </a:lvl6pPr>
            <a:lvl7pPr>
              <a:buNone/>
              <a:defRPr sz="1800" b="0">
                <a:solidFill>
                  <a:srgbClr val="172B4D"/>
                </a:solidFill>
                <a:latin typeface="Arial"/>
                <a:ea typeface="Arial"/>
                <a:cs typeface="Arial"/>
              </a:defRPr>
            </a:lvl7pPr>
            <a:lvl8pPr>
              <a:buNone/>
              <a:defRPr sz="1800" b="0">
                <a:solidFill>
                  <a:srgbClr val="172B4D"/>
                </a:solidFill>
                <a:latin typeface="Arial"/>
                <a:ea typeface="Arial"/>
                <a:cs typeface="Arial"/>
              </a:defRPr>
            </a:lvl8pPr>
            <a:lvl9pPr>
              <a:buNone/>
              <a:defRPr sz="1800" b="0">
                <a:solidFill>
                  <a:srgbClr val="172B4D"/>
                </a:solidFill>
                <a:latin typeface="Arial"/>
                <a:ea typeface="Arial"/>
                <a:cs typeface="Arial"/>
              </a:defRPr>
            </a:lvl9pPr>
          </a:lstStyle>
          <a:p xmlns:a="http://schemas.openxmlformats.org/drawingml/2006/main">
            <a:pPr>
              <a:buNone/>
              <a:defRPr sz="1800" b="0">
                <a:solidFill>
                  <a:srgbClr val="172B4D"/>
                </a:solidFill>
                <a:latin typeface="Arial"/>
                <a:ea typeface="Arial"/>
                <a:cs typeface="Arial"/>
              </a:defRPr>
            </a:pPr>
            <a:r>
              <a:rPr sz="1800" b="0">
                <a:solidFill>
                  <a:srgbClr val="172B4D"/>
                </a:solidFill>
                <a:latin typeface="Arial"/>
                <a:ea typeface="Arial"/>
                <a:cs typeface="Arial"/>
              </a:rPr>
              <a:t>Médias de cinco coletas. Cada p95 é calculado dentro de uma coleta.</a:t>
            </a:r>
          </a:p>
        </p:txBody>
      </p:sp>
    </p:spTree>
    <p:extLst>
      <p:ext uri="{BB962C8B-B14F-4D97-AF65-F5344CB8AC3E}">
        <p14:creationId xmlns:p14="http://schemas.microsoft.com/office/powerpoint/2010/main" val="14067139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FA7F59F-5208-4EC4-A949-56861BB789C3}"/>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72B4D"/>
                </a:solidFill>
                <a:latin typeface="Arial"/>
                <a:ea typeface="Arial"/>
                <a:cs typeface="Arial"/>
              </a:defRPr>
            </a:pPr>
            <a:r>
              <a:rPr sz="2850" b="1">
                <a:solidFill>
                  <a:srgbClr val="172B4D"/>
                </a:solidFill>
                <a:latin typeface="Arial"/>
                <a:ea typeface="Arial"/>
                <a:cs typeface="Arial"/>
              </a:rPr>
              <a:t>Recursos do caminho completo a 12 eventos por segundo</a:t>
            </a:r>
          </a:p>
        </p:txBody>
      </p:sp>
      <p:sp>
        <p:nvSpPr>
          <p:cNvPr id="2" name="">
            <a:extLst xmlns:a="http://schemas.openxmlformats.org/drawingml/2006/main">
              <a:ext uri="{FF2B5EF4-FFF2-40B4-BE49-F238E27FC236}">
                <a16:creationId xmlns:a16="http://schemas.microsoft.com/office/drawing/2014/main" id="{8A1579E8-E47C-4163-A2B5-E522E451902C}"/>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4748B"/>
                </a:solidFill>
                <a:latin typeface="Arial"/>
                <a:ea typeface="Arial"/>
                <a:cs typeface="Arial"/>
              </a:defRPr>
            </a:pPr>
            <a:r>
              <a:rPr sz="1350" b="0">
                <a:solidFill>
                  <a:srgbClr val="64748B"/>
                </a:solidFill>
                <a:latin typeface="Arial"/>
                <a:ea typeface="Arial"/>
                <a:cs typeface="Arial"/>
              </a:rPr>
              <a:t>5</a:t>
            </a:r>
          </a:p>
        </p:txBody>
      </p:sp>
      <p:graphicFrame>
        <p:nvGraphicFramePr>
          <p:cNvPr id="7" name="">
            <a:extLst xmlns:a="http://schemas.openxmlformats.org/drawingml/2006/main">
              <a:ext uri="{FF2B5EF4-FFF2-40B4-BE49-F238E27FC236}">
                <a16:creationId xmlns:a16="http://schemas.microsoft.com/office/drawing/2014/main" id="{A395F98B-14C3-4B0F-B7A1-B446A58DD163}"/>
              </a:ext>
            </a:extLst>
          </p:cNvPr>
          <p:cNvGraphicFramePr/>
          <p:nvPr/>
        </p:nvGraphicFramePr>
        <p:xfrm>
          <a:off xmlns:a="http://schemas.openxmlformats.org/drawingml/2006/main" x="685800" y="1714500"/>
          <a:ext xmlns:a="http://schemas.openxmlformats.org/drawingml/2006/main" cx="10820400" cy="3714750"/>
        </p:xfrm>
        <a:graphic xmlns:a="http://schemas.openxmlformats.org/drawingml/2006/main">
          <a:graphicData uri="http://schemas.openxmlformats.org/drawingml/2006/table">
            <a:tbl>
              <a:tblPr/>
              <a:tblGrid>
                <a:gridCol w="5143500"/>
                <a:gridCol w="2838450"/>
                <a:gridCol w="2838450"/>
              </a:tblGrid>
              <a:tr h="742950">
                <a:tc>
                  <a:txBody>
                    <a:bodyPr>
                      <a:noAutofit/>
                    </a:bodyPr>
                    <a:lstStyle/>
                    <a:p>
                      <a:r>
                        <a:rPr sz="1875" b="1">
                          <a:solidFill>
                            <a:srgbClr val="FFFFFF"/>
                          </a:solidFill>
                          <a:latin typeface="Arial"/>
                          <a:ea typeface="Arial"/>
                          <a:cs typeface="Arial"/>
                        </a:rPr>
                        <a:t>Indicador</a:t>
                      </a:r>
                    </a:p>
                  </a:txBody>
                  <a:tcPr marL="91440" marR="91440" marT="45720" marB="45720">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875" b="1">
                          <a:solidFill>
                            <a:srgbClr val="FFFFFF"/>
                          </a:solidFill>
                          <a:latin typeface="Arial"/>
                          <a:ea typeface="Arial"/>
                          <a:cs typeface="Arial"/>
                        </a:rPr>
                        <a:t>Síncrona</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875" b="1">
                          <a:solidFill>
                            <a:srgbClr val="FFFFFF"/>
                          </a:solidFill>
                          <a:latin typeface="Arial"/>
                          <a:ea typeface="Arial"/>
                          <a:cs typeface="Arial"/>
                        </a:rPr>
                        <a:t>Assíncrona</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r>
              <a:tr h="742950">
                <a:tc>
                  <a:txBody>
                    <a:bodyPr>
                      <a:noAutofit/>
                    </a:bodyPr>
                    <a:lstStyle/>
                    <a:p>
                      <a:r>
                        <a:rPr sz="1875" b="0">
                          <a:solidFill>
                            <a:srgbClr val="172B4D"/>
                          </a:solidFill>
                          <a:latin typeface="Arial"/>
                          <a:ea typeface="Arial"/>
                          <a:cs typeface="Arial"/>
                        </a:rPr>
                        <a:t>CPU média (% de uma CPU lógica)</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6,79</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15,36</a:t>
                      </a:r>
                    </a:p>
                  </a:txBody>
                  <a:tcPr marL="91440" marR="91440" marT="45720" marB="45720">
                    <a:lnR w="9525">
                      <a:solidFill>
                        <a:srgbClr val="CBD5E1"/>
                      </a:solidFill>
                      <a:prstDash val="solid"/>
                    </a:lnR>
                    <a:lnB w="9525">
                      <a:solidFill>
                        <a:srgbClr val="CBD5E1"/>
                      </a:solidFill>
                      <a:prstDash val="solid"/>
                    </a:lnB>
                    <a:solidFill>
                      <a:srgbClr val="FFFFFF"/>
                    </a:solidFill>
                  </a:tcPr>
                </a:tc>
              </a:tr>
              <a:tr h="742950">
                <a:tc>
                  <a:txBody>
                    <a:bodyPr>
                      <a:noAutofit/>
                    </a:bodyPr>
                    <a:lstStyle/>
                    <a:p>
                      <a:r>
                        <a:rPr sz="1875" b="0">
                          <a:solidFill>
                            <a:srgbClr val="172B4D"/>
                          </a:solidFill>
                          <a:latin typeface="Arial"/>
                          <a:ea typeface="Arial"/>
                          <a:cs typeface="Arial"/>
                        </a:rPr>
                        <a:t>Memória média (MiB)</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231,0</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1.020,5</a:t>
                      </a:r>
                    </a:p>
                  </a:txBody>
                  <a:tcPr marL="91440" marR="91440" marT="45720" marB="45720">
                    <a:lnR w="9525">
                      <a:solidFill>
                        <a:srgbClr val="CBD5E1"/>
                      </a:solidFill>
                      <a:prstDash val="solid"/>
                    </a:lnR>
                    <a:lnB w="9525">
                      <a:solidFill>
                        <a:srgbClr val="CBD5E1"/>
                      </a:solidFill>
                      <a:prstDash val="solid"/>
                    </a:lnB>
                    <a:solidFill>
                      <a:srgbClr val="FFFFFF"/>
                    </a:solidFill>
                  </a:tcPr>
                </a:tc>
              </a:tr>
              <a:tr h="742950">
                <a:tc>
                  <a:txBody>
                    <a:bodyPr>
                      <a:noAutofit/>
                    </a:bodyPr>
                    <a:lstStyle/>
                    <a:p>
                      <a:r>
                        <a:rPr sz="1875" b="0">
                          <a:solidFill>
                            <a:srgbClr val="172B4D"/>
                          </a:solidFill>
                          <a:latin typeface="Arial"/>
                          <a:ea typeface="Arial"/>
                          <a:cs typeface="Arial"/>
                        </a:rPr>
                        <a:t>Componentes no caminho</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2</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4</a:t>
                      </a:r>
                    </a:p>
                  </a:txBody>
                  <a:tcPr marL="91440" marR="91440" marT="45720" marB="45720">
                    <a:lnR w="9525">
                      <a:solidFill>
                        <a:srgbClr val="CBD5E1"/>
                      </a:solidFill>
                      <a:prstDash val="solid"/>
                    </a:lnR>
                    <a:lnB w="9525">
                      <a:solidFill>
                        <a:srgbClr val="CBD5E1"/>
                      </a:solidFill>
                      <a:prstDash val="solid"/>
                    </a:lnB>
                    <a:solidFill>
                      <a:srgbClr val="FFFFFF"/>
                    </a:solidFill>
                  </a:tcPr>
                </a:tc>
              </a:tr>
              <a:tr h="742950">
                <a:tc>
                  <a:txBody>
                    <a:bodyPr>
                      <a:noAutofit/>
                    </a:bodyPr>
                    <a:lstStyle/>
                    <a:p>
                      <a:r>
                        <a:rPr sz="1875" b="0">
                          <a:solidFill>
                            <a:srgbClr val="172B4D"/>
                          </a:solidFill>
                          <a:latin typeface="Arial"/>
                          <a:ea typeface="Arial"/>
                          <a:cs typeface="Arial"/>
                        </a:rPr>
                        <a:t>Coletas por variante</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5</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5</a:t>
                      </a:r>
                    </a:p>
                  </a:txBody>
                  <a:tcPr marL="91440" marR="91440" marT="45720" marB="45720">
                    <a:lnR w="9525">
                      <a:solidFill>
                        <a:srgbClr val="CBD5E1"/>
                      </a:solidFill>
                      <a:prstDash val="solid"/>
                    </a:lnR>
                    <a:lnB w="9525">
                      <a:solidFill>
                        <a:srgbClr val="CBD5E1"/>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5CFF437-9325-408D-9BA5-B54A31F87DDE}"/>
              </a:ext>
            </a:extLst>
          </p:cNvPr>
          <p:cNvSpPr>
            <a:spLocks xmlns:a="http://schemas.openxmlformats.org/drawingml/2006/main" noGrp="1"/>
          </p:cNvSpPr>
          <p:nvPr/>
        </p:nvSpPr>
        <p:spPr>
          <a:xfrm xmlns:a="http://schemas.openxmlformats.org/drawingml/2006/main">
            <a:off x="685800" y="55721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B4D"/>
                </a:solidFill>
                <a:latin typeface="Arial"/>
                <a:ea typeface="Arial"/>
                <a:cs typeface="Arial"/>
              </a:defRPr>
            </a:defPPr>
            <a:lvl1pPr>
              <a:buNone/>
              <a:defRPr sz="1725" b="0">
                <a:solidFill>
                  <a:srgbClr val="172B4D"/>
                </a:solidFill>
                <a:latin typeface="Arial"/>
                <a:ea typeface="Arial"/>
                <a:cs typeface="Arial"/>
              </a:defRPr>
            </a:lvl1pPr>
            <a:lvl2pPr>
              <a:buNone/>
              <a:defRPr sz="1725" b="0">
                <a:solidFill>
                  <a:srgbClr val="172B4D"/>
                </a:solidFill>
                <a:latin typeface="Arial"/>
                <a:ea typeface="Arial"/>
                <a:cs typeface="Arial"/>
              </a:defRPr>
            </a:lvl2pPr>
            <a:lvl3pPr>
              <a:buNone/>
              <a:defRPr sz="1725" b="0">
                <a:solidFill>
                  <a:srgbClr val="172B4D"/>
                </a:solidFill>
                <a:latin typeface="Arial"/>
                <a:ea typeface="Arial"/>
                <a:cs typeface="Arial"/>
              </a:defRPr>
            </a:lvl3pPr>
            <a:lvl4pPr>
              <a:buNone/>
              <a:defRPr sz="1725" b="0">
                <a:solidFill>
                  <a:srgbClr val="172B4D"/>
                </a:solidFill>
                <a:latin typeface="Arial"/>
                <a:ea typeface="Arial"/>
                <a:cs typeface="Arial"/>
              </a:defRPr>
            </a:lvl4pPr>
            <a:lvl5pPr>
              <a:buNone/>
              <a:defRPr sz="1725" b="0">
                <a:solidFill>
                  <a:srgbClr val="172B4D"/>
                </a:solidFill>
                <a:latin typeface="Arial"/>
                <a:ea typeface="Arial"/>
                <a:cs typeface="Arial"/>
              </a:defRPr>
            </a:lvl5pPr>
            <a:lvl6pPr>
              <a:buNone/>
              <a:defRPr sz="1725" b="0">
                <a:solidFill>
                  <a:srgbClr val="172B4D"/>
                </a:solidFill>
                <a:latin typeface="Arial"/>
                <a:ea typeface="Arial"/>
                <a:cs typeface="Arial"/>
              </a:defRPr>
            </a:lvl6pPr>
            <a:lvl7pPr>
              <a:buNone/>
              <a:defRPr sz="1725" b="0">
                <a:solidFill>
                  <a:srgbClr val="172B4D"/>
                </a:solidFill>
                <a:latin typeface="Arial"/>
                <a:ea typeface="Arial"/>
                <a:cs typeface="Arial"/>
              </a:defRPr>
            </a:lvl7pPr>
            <a:lvl8pPr>
              <a:buNone/>
              <a:defRPr sz="1725" b="0">
                <a:solidFill>
                  <a:srgbClr val="172B4D"/>
                </a:solidFill>
                <a:latin typeface="Arial"/>
                <a:ea typeface="Arial"/>
                <a:cs typeface="Arial"/>
              </a:defRPr>
            </a:lvl8pPr>
            <a:lvl9pPr>
              <a:buNone/>
              <a:defRPr sz="1725" b="0">
                <a:solidFill>
                  <a:srgbClr val="172B4D"/>
                </a:solidFill>
                <a:latin typeface="Arial"/>
                <a:ea typeface="Arial"/>
                <a:cs typeface="Arial"/>
              </a:defRPr>
            </a:lvl9pPr>
          </a:lstStyle>
          <a:p xmlns:a="http://schemas.openxmlformats.org/drawingml/2006/main">
            <a:pPr>
              <a:buNone/>
              <a:defRPr sz="1725" b="0">
                <a:solidFill>
                  <a:srgbClr val="172B4D"/>
                </a:solidFill>
                <a:latin typeface="Arial"/>
                <a:ea typeface="Arial"/>
                <a:cs typeface="Arial"/>
              </a:defRPr>
            </a:pPr>
            <a:r>
              <a:rPr sz="1725" b="0">
                <a:solidFill>
                  <a:srgbClr val="172B4D"/>
                </a:solidFill>
                <a:latin typeface="Arial"/>
                <a:ea typeface="Arial"/>
                <a:cs typeface="Arial"/>
              </a:rPr>
              <a:t>API e banco na síncrona. API, consumidor, banco e Kafka na assíncrona.</a:t>
            </a:r>
          </a:p>
          <a:p xmlns:a="http://schemas.openxmlformats.org/drawingml/2006/main">
            <a:pPr>
              <a:buNone/>
              <a:defRPr sz="1725" b="0">
                <a:solidFill>
                  <a:srgbClr val="172B4D"/>
                </a:solidFill>
                <a:latin typeface="Arial"/>
                <a:ea typeface="Arial"/>
                <a:cs typeface="Arial"/>
              </a:defRPr>
            </a:pPr>
            <a:r>
              <a:rPr sz="1725" b="0">
                <a:solidFill>
                  <a:srgbClr val="172B4D"/>
                </a:solidFill>
                <a:latin typeface="Arial"/>
                <a:ea typeface="Arial"/>
                <a:cs typeface="Arial"/>
              </a:rPr>
              <a:t>Gerador e observador separados. Sem medição financeira ou de manutenção.</a:t>
            </a:r>
          </a:p>
        </p:txBody>
      </p:sp>
    </p:spTree>
    <p:extLst>
      <p:ext uri="{BB962C8B-B14F-4D97-AF65-F5344CB8AC3E}">
        <p14:creationId xmlns:p14="http://schemas.microsoft.com/office/powerpoint/2010/main" val="28177597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10EF7CA-3D50-4299-8EDC-9CCFCBD87CD6}"/>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72B4D"/>
                </a:solidFill>
                <a:latin typeface="Arial"/>
                <a:ea typeface="Arial"/>
                <a:cs typeface="Arial"/>
              </a:defRPr>
            </a:pPr>
            <a:r>
              <a:rPr sz="2850" b="1">
                <a:solidFill>
                  <a:srgbClr val="172B4D"/>
                </a:solidFill>
                <a:latin typeface="Arial"/>
                <a:ea typeface="Arial"/>
                <a:cs typeface="Arial"/>
              </a:rPr>
              <a:t>PostgreSQL parado: aceites e destinos finais</a:t>
            </a:r>
          </a:p>
        </p:txBody>
      </p:sp>
      <p:sp>
        <p:nvSpPr>
          <p:cNvPr id="2" name="">
            <a:extLst xmlns:a="http://schemas.openxmlformats.org/drawingml/2006/main">
              <a:ext uri="{FF2B5EF4-FFF2-40B4-BE49-F238E27FC236}">
                <a16:creationId xmlns:a16="http://schemas.microsoft.com/office/drawing/2014/main" id="{4A60FA36-569C-4493-8D3D-68EDC438116A}"/>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4748B"/>
                </a:solidFill>
                <a:latin typeface="Arial"/>
                <a:ea typeface="Arial"/>
                <a:cs typeface="Arial"/>
              </a:defRPr>
            </a:pPr>
            <a:r>
              <a:rPr sz="1350" b="0">
                <a:solidFill>
                  <a:srgbClr val="64748B"/>
                </a:solidFill>
                <a:latin typeface="Arial"/>
                <a:ea typeface="Arial"/>
                <a:cs typeface="Arial"/>
              </a:rPr>
              <a:t>6</a:t>
            </a:r>
          </a:p>
        </p:txBody>
      </p:sp>
      <p:graphicFrame>
        <p:nvGraphicFramePr>
          <p:cNvPr id="7" name="">
            <a:extLst xmlns:a="http://schemas.openxmlformats.org/drawingml/2006/main">
              <a:ext uri="{FF2B5EF4-FFF2-40B4-BE49-F238E27FC236}">
                <a16:creationId xmlns:a16="http://schemas.microsoft.com/office/drawing/2014/main" id="{88B446CD-D091-4D79-8C8C-A5275657B534}"/>
              </a:ext>
            </a:extLst>
          </p:cNvPr>
          <p:cNvGraphicFramePr/>
          <p:nvPr/>
        </p:nvGraphicFramePr>
        <p:xfrm>
          <a:off xmlns:a="http://schemas.openxmlformats.org/drawingml/2006/main" x="685800" y="1666875"/>
          <a:ext xmlns:a="http://schemas.openxmlformats.org/drawingml/2006/main" cx="10820400" cy="3714750"/>
        </p:xfrm>
        <a:graphic xmlns:a="http://schemas.openxmlformats.org/drawingml/2006/main">
          <a:graphicData uri="http://schemas.openxmlformats.org/drawingml/2006/table">
            <a:tbl>
              <a:tblPr/>
              <a:tblGrid>
                <a:gridCol w="5143500"/>
                <a:gridCol w="2838450"/>
                <a:gridCol w="2838450"/>
              </a:tblGrid>
              <a:tr h="619125">
                <a:tc>
                  <a:txBody>
                    <a:bodyPr>
                      <a:noAutofit/>
                    </a:bodyPr>
                    <a:lstStyle/>
                    <a:p>
                      <a:r>
                        <a:rPr sz="1875" b="1">
                          <a:solidFill>
                            <a:srgbClr val="FFFFFF"/>
                          </a:solidFill>
                          <a:latin typeface="Arial"/>
                          <a:ea typeface="Arial"/>
                          <a:cs typeface="Arial"/>
                        </a:rPr>
                        <a:t>Totais das cinco coletas</a:t>
                      </a:r>
                    </a:p>
                  </a:txBody>
                  <a:tcPr marL="91440" marR="91440" marT="45720" marB="45720">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875" b="1">
                          <a:solidFill>
                            <a:srgbClr val="FFFFFF"/>
                          </a:solidFill>
                          <a:latin typeface="Arial"/>
                          <a:ea typeface="Arial"/>
                          <a:cs typeface="Arial"/>
                        </a:rPr>
                        <a:t>Síncrona</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875" b="1">
                          <a:solidFill>
                            <a:srgbClr val="FFFFFF"/>
                          </a:solidFill>
                          <a:latin typeface="Arial"/>
                          <a:ea typeface="Arial"/>
                          <a:cs typeface="Arial"/>
                        </a:rPr>
                        <a:t>Assíncrona</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r>
              <a:tr h="619125">
                <a:tc>
                  <a:txBody>
                    <a:bodyPr>
                      <a:noAutofit/>
                    </a:bodyPr>
                    <a:lstStyle/>
                    <a:p>
                      <a:r>
                        <a:rPr sz="1875" b="0">
                          <a:solidFill>
                            <a:srgbClr val="172B4D"/>
                          </a:solidFill>
                          <a:latin typeface="Arial"/>
                          <a:ea typeface="Arial"/>
                          <a:cs typeface="Arial"/>
                        </a:rPr>
                        <a:t>Enviados</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10.803</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10.804</a:t>
                      </a:r>
                    </a:p>
                  </a:txBody>
                  <a:tcPr marL="91440" marR="91440" marT="45720" marB="45720">
                    <a:lnR w="9525">
                      <a:solidFill>
                        <a:srgbClr val="CBD5E1"/>
                      </a:solidFill>
                      <a:prstDash val="solid"/>
                    </a:lnR>
                    <a:lnB w="9525">
                      <a:solidFill>
                        <a:srgbClr val="CBD5E1"/>
                      </a:solidFill>
                      <a:prstDash val="solid"/>
                    </a:lnB>
                    <a:solidFill>
                      <a:srgbClr val="FFFFFF"/>
                    </a:solidFill>
                  </a:tcPr>
                </a:tc>
              </a:tr>
              <a:tr h="619125">
                <a:tc>
                  <a:txBody>
                    <a:bodyPr>
                      <a:noAutofit/>
                    </a:bodyPr>
                    <a:lstStyle/>
                    <a:p>
                      <a:r>
                        <a:rPr sz="1875" b="0">
                          <a:solidFill>
                            <a:srgbClr val="172B4D"/>
                          </a:solidFill>
                          <a:latin typeface="Arial"/>
                          <a:ea typeface="Arial"/>
                          <a:cs typeface="Arial"/>
                        </a:rPr>
                        <a:t>Aceitos com 201 ou 202</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8.351</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10.804</a:t>
                      </a:r>
                    </a:p>
                  </a:txBody>
                  <a:tcPr marL="91440" marR="91440" marT="45720" marB="45720">
                    <a:lnR w="9525">
                      <a:solidFill>
                        <a:srgbClr val="CBD5E1"/>
                      </a:solidFill>
                      <a:prstDash val="solid"/>
                    </a:lnR>
                    <a:lnB w="9525">
                      <a:solidFill>
                        <a:srgbClr val="CBD5E1"/>
                      </a:solidFill>
                      <a:prstDash val="solid"/>
                    </a:lnB>
                    <a:solidFill>
                      <a:srgbClr val="FFFFFF"/>
                    </a:solidFill>
                  </a:tcPr>
                </a:tc>
              </a:tr>
              <a:tr h="619125">
                <a:tc>
                  <a:txBody>
                    <a:bodyPr>
                      <a:noAutofit/>
                    </a:bodyPr>
                    <a:lstStyle/>
                    <a:p>
                      <a:r>
                        <a:rPr sz="1875" b="0">
                          <a:solidFill>
                            <a:srgbClr val="172B4D"/>
                          </a:solidFill>
                          <a:latin typeface="Arial"/>
                          <a:ea typeface="Arial"/>
                          <a:cs typeface="Arial"/>
                        </a:rPr>
                        <a:t>Persistidos ao fim</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8.352</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10.790</a:t>
                      </a:r>
                    </a:p>
                  </a:txBody>
                  <a:tcPr marL="91440" marR="91440" marT="45720" marB="45720">
                    <a:lnR w="9525">
                      <a:solidFill>
                        <a:srgbClr val="CBD5E1"/>
                      </a:solidFill>
                      <a:prstDash val="solid"/>
                    </a:lnR>
                    <a:lnB w="9525">
                      <a:solidFill>
                        <a:srgbClr val="CBD5E1"/>
                      </a:solidFill>
                      <a:prstDash val="solid"/>
                    </a:lnB>
                    <a:solidFill>
                      <a:srgbClr val="FFFFFF"/>
                    </a:solidFill>
                  </a:tcPr>
                </a:tc>
              </a:tr>
              <a:tr h="619125">
                <a:tc>
                  <a:txBody>
                    <a:bodyPr>
                      <a:noAutofit/>
                    </a:bodyPr>
                    <a:lstStyle/>
                    <a:p>
                      <a:r>
                        <a:rPr sz="1875" b="0">
                          <a:solidFill>
                            <a:srgbClr val="172B4D"/>
                          </a:solidFill>
                          <a:latin typeface="Arial"/>
                          <a:ea typeface="Arial"/>
                          <a:cs typeface="Arial"/>
                        </a:rPr>
                        <a:t>DLQ terminal</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0</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14</a:t>
                      </a:r>
                    </a:p>
                  </a:txBody>
                  <a:tcPr marL="91440" marR="91440" marT="45720" marB="45720">
                    <a:lnR w="9525">
                      <a:solidFill>
                        <a:srgbClr val="CBD5E1"/>
                      </a:solidFill>
                      <a:prstDash val="solid"/>
                    </a:lnR>
                    <a:lnB w="9525">
                      <a:solidFill>
                        <a:srgbClr val="CBD5E1"/>
                      </a:solidFill>
                      <a:prstDash val="solid"/>
                    </a:lnB>
                    <a:solidFill>
                      <a:srgbClr val="FFFFFF"/>
                    </a:solidFill>
                  </a:tcPr>
                </a:tc>
              </a:tr>
              <a:tr h="619125">
                <a:tc>
                  <a:txBody>
                    <a:bodyPr>
                      <a:noAutofit/>
                    </a:bodyPr>
                    <a:lstStyle/>
                    <a:p>
                      <a:r>
                        <a:rPr sz="1875" b="0">
                          <a:solidFill>
                            <a:srgbClr val="172B4D"/>
                          </a:solidFill>
                          <a:latin typeface="Arial"/>
                          <a:ea typeface="Arial"/>
                          <a:cs typeface="Arial"/>
                        </a:rPr>
                        <a:t>Respostas HTTP 503</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2.452</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0</a:t>
                      </a:r>
                    </a:p>
                  </a:txBody>
                  <a:tcPr marL="91440" marR="91440" marT="45720" marB="45720">
                    <a:lnR w="9525">
                      <a:solidFill>
                        <a:srgbClr val="CBD5E1"/>
                      </a:solidFill>
                      <a:prstDash val="solid"/>
                    </a:lnR>
                    <a:lnB w="9525">
                      <a:solidFill>
                        <a:srgbClr val="CBD5E1"/>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63EFDF5-B14C-40AC-B7F6-236B5EE41A7E}"/>
              </a:ext>
            </a:extLst>
          </p:cNvPr>
          <p:cNvSpPr>
            <a:spLocks xmlns:a="http://schemas.openxmlformats.org/drawingml/2006/main" noGrp="1"/>
          </p:cNvSpPr>
          <p:nvPr/>
        </p:nvSpPr>
        <p:spPr>
          <a:xfrm xmlns:a="http://schemas.openxmlformats.org/drawingml/2006/main">
            <a:off x="685800" y="55721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72B4D"/>
                </a:solidFill>
                <a:latin typeface="Arial"/>
                <a:ea typeface="Arial"/>
                <a:cs typeface="Arial"/>
              </a:defRPr>
            </a:defPPr>
            <a:lvl1pPr>
              <a:buNone/>
              <a:defRPr sz="1800" b="0">
                <a:solidFill>
                  <a:srgbClr val="172B4D"/>
                </a:solidFill>
                <a:latin typeface="Arial"/>
                <a:ea typeface="Arial"/>
                <a:cs typeface="Arial"/>
              </a:defRPr>
            </a:lvl1pPr>
            <a:lvl2pPr>
              <a:buNone/>
              <a:defRPr sz="1800" b="0">
                <a:solidFill>
                  <a:srgbClr val="172B4D"/>
                </a:solidFill>
                <a:latin typeface="Arial"/>
                <a:ea typeface="Arial"/>
                <a:cs typeface="Arial"/>
              </a:defRPr>
            </a:lvl2pPr>
            <a:lvl3pPr>
              <a:buNone/>
              <a:defRPr sz="1800" b="0">
                <a:solidFill>
                  <a:srgbClr val="172B4D"/>
                </a:solidFill>
                <a:latin typeface="Arial"/>
                <a:ea typeface="Arial"/>
                <a:cs typeface="Arial"/>
              </a:defRPr>
            </a:lvl3pPr>
            <a:lvl4pPr>
              <a:buNone/>
              <a:defRPr sz="1800" b="0">
                <a:solidFill>
                  <a:srgbClr val="172B4D"/>
                </a:solidFill>
                <a:latin typeface="Arial"/>
                <a:ea typeface="Arial"/>
                <a:cs typeface="Arial"/>
              </a:defRPr>
            </a:lvl4pPr>
            <a:lvl5pPr>
              <a:buNone/>
              <a:defRPr sz="1800" b="0">
                <a:solidFill>
                  <a:srgbClr val="172B4D"/>
                </a:solidFill>
                <a:latin typeface="Arial"/>
                <a:ea typeface="Arial"/>
                <a:cs typeface="Arial"/>
              </a:defRPr>
            </a:lvl5pPr>
            <a:lvl6pPr>
              <a:buNone/>
              <a:defRPr sz="1800" b="0">
                <a:solidFill>
                  <a:srgbClr val="172B4D"/>
                </a:solidFill>
                <a:latin typeface="Arial"/>
                <a:ea typeface="Arial"/>
                <a:cs typeface="Arial"/>
              </a:defRPr>
            </a:lvl6pPr>
            <a:lvl7pPr>
              <a:buNone/>
              <a:defRPr sz="1800" b="0">
                <a:solidFill>
                  <a:srgbClr val="172B4D"/>
                </a:solidFill>
                <a:latin typeface="Arial"/>
                <a:ea typeface="Arial"/>
                <a:cs typeface="Arial"/>
              </a:defRPr>
            </a:lvl7pPr>
            <a:lvl8pPr>
              <a:buNone/>
              <a:defRPr sz="1800" b="0">
                <a:solidFill>
                  <a:srgbClr val="172B4D"/>
                </a:solidFill>
                <a:latin typeface="Arial"/>
                <a:ea typeface="Arial"/>
                <a:cs typeface="Arial"/>
              </a:defRPr>
            </a:lvl8pPr>
            <a:lvl9pPr>
              <a:buNone/>
              <a:defRPr sz="1800" b="0">
                <a:solidFill>
                  <a:srgbClr val="172B4D"/>
                </a:solidFill>
                <a:latin typeface="Arial"/>
                <a:ea typeface="Arial"/>
                <a:cs typeface="Arial"/>
              </a:defRPr>
            </a:lvl9pPr>
          </a:lstStyle>
          <a:p xmlns:a="http://schemas.openxmlformats.org/drawingml/2006/main">
            <a:pPr>
              <a:buNone/>
              <a:defRPr sz="1800" b="0">
                <a:solidFill>
                  <a:srgbClr val="172B4D"/>
                </a:solidFill>
                <a:latin typeface="Arial"/>
                <a:ea typeface="Arial"/>
                <a:cs typeface="Arial"/>
              </a:defRPr>
            </a:pPr>
            <a:r>
              <a:rPr sz="1800" b="0">
                <a:solidFill>
                  <a:srgbClr val="172B4D"/>
                </a:solidFill>
                <a:latin typeface="Arial"/>
                <a:ea typeface="Arial"/>
                <a:cs typeface="Arial"/>
              </a:rPr>
              <a:t>Um evento síncrono apareceu no banco apesar de HTTP 503, sem horário de commit.</a:t>
            </a:r>
          </a:p>
          <a:p xmlns:a="http://schemas.openxmlformats.org/drawingml/2006/main">
            <a:pPr>
              <a:buNone/>
              <a:defRPr sz="1800" b="0">
                <a:solidFill>
                  <a:srgbClr val="172B4D"/>
                </a:solidFill>
                <a:latin typeface="Arial"/>
                <a:ea typeface="Arial"/>
                <a:cs typeface="Arial"/>
              </a:defRPr>
            </a:pPr>
            <a:r>
              <a:rPr sz="1800" b="0">
                <a:solidFill>
                  <a:srgbClr val="172B4D"/>
                </a:solidFill>
                <a:latin typeface="Arial"/>
                <a:ea typeface="Arial"/>
                <a:cs typeface="Arial"/>
              </a:rPr>
              <a:t>Na assíncrona, 14 aceites terminaram na DLQ e não no PostgreSQL.</a:t>
            </a:r>
          </a:p>
        </p:txBody>
      </p:sp>
    </p:spTree>
    <p:extLst>
      <p:ext uri="{BB962C8B-B14F-4D97-AF65-F5344CB8AC3E}">
        <p14:creationId xmlns:p14="http://schemas.microsoft.com/office/powerpoint/2010/main" val="167168748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F375ACE-C20D-4DE0-B8A4-4AB2078B0D34}"/>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72B4D"/>
                </a:solidFill>
                <a:latin typeface="Arial"/>
                <a:ea typeface="Arial"/>
                <a:cs typeface="Arial"/>
              </a:defRPr>
            </a:pPr>
            <a:r>
              <a:rPr sz="2850" b="1">
                <a:solidFill>
                  <a:srgbClr val="172B4D"/>
                </a:solidFill>
                <a:latin typeface="Arial"/>
                <a:ea typeface="Arial"/>
                <a:cs typeface="Arial"/>
              </a:rPr>
              <a:t>Consumidor parado: retenção e recuperação</a:t>
            </a:r>
          </a:p>
        </p:txBody>
      </p:sp>
      <p:sp>
        <p:nvSpPr>
          <p:cNvPr id="2" name="">
            <a:extLst xmlns:a="http://schemas.openxmlformats.org/drawingml/2006/main">
              <a:ext uri="{FF2B5EF4-FFF2-40B4-BE49-F238E27FC236}">
                <a16:creationId xmlns:a16="http://schemas.microsoft.com/office/drawing/2014/main" id="{93B6DCD2-0B3D-41DD-8E6E-81AEDCBC70AC}"/>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4748B"/>
                </a:solidFill>
                <a:latin typeface="Arial"/>
                <a:ea typeface="Arial"/>
                <a:cs typeface="Arial"/>
              </a:defRPr>
            </a:pPr>
            <a:r>
              <a:rPr sz="1350" b="0">
                <a:solidFill>
                  <a:srgbClr val="64748B"/>
                </a:solidFill>
                <a:latin typeface="Arial"/>
                <a:ea typeface="Arial"/>
                <a:cs typeface="Arial"/>
              </a:rPr>
              <a:t>7</a:t>
            </a:r>
          </a:p>
        </p:txBody>
      </p:sp>
      <p:graphicFrame>
        <p:nvGraphicFramePr>
          <p:cNvPr id="6" name="">
            <a:extLst xmlns:a="http://schemas.openxmlformats.org/drawingml/2006/main">
              <a:ext uri="{FF2B5EF4-FFF2-40B4-BE49-F238E27FC236}">
                <a16:creationId xmlns:a16="http://schemas.microsoft.com/office/drawing/2014/main" id="{23317F8F-0195-4935-9E87-6DF787112D5F}"/>
              </a:ext>
            </a:extLst>
          </p:cNvPr>
          <p:cNvGraphicFramePr/>
          <p:nvPr/>
        </p:nvGraphicFramePr>
        <p:xfrm>
          <a:off xmlns:a="http://schemas.openxmlformats.org/drawingml/2006/main" x="685800" y="1714500"/>
          <a:ext xmlns:a="http://schemas.openxmlformats.org/drawingml/2006/main" cx="10820400" cy="3619500"/>
        </p:xfrm>
        <a:graphic xmlns:a="http://schemas.openxmlformats.org/drawingml/2006/main">
          <a:graphicData uri="http://schemas.openxmlformats.org/drawingml/2006/table">
            <a:tbl>
              <a:tblPr/>
              <a:tblGrid>
                <a:gridCol w="5524500"/>
                <a:gridCol w="5295900"/>
              </a:tblGrid>
              <a:tr h="723900">
                <a:tc>
                  <a:txBody>
                    <a:bodyPr>
                      <a:noAutofit/>
                    </a:bodyPr>
                    <a:lstStyle/>
                    <a:p>
                      <a:r>
                        <a:rPr sz="1950" b="1">
                          <a:solidFill>
                            <a:srgbClr val="FFFFFF"/>
                          </a:solidFill>
                          <a:latin typeface="Arial"/>
                          <a:ea typeface="Arial"/>
                          <a:cs typeface="Arial"/>
                        </a:rPr>
                        <a:t>Indicador nas cinco coletas</a:t>
                      </a:r>
                    </a:p>
                  </a:txBody>
                  <a:tcPr marL="91440" marR="91440" marT="45720" marB="45720">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950" b="1">
                          <a:solidFill>
                            <a:srgbClr val="FFFFFF"/>
                          </a:solidFill>
                          <a:latin typeface="Arial"/>
                          <a:ea typeface="Arial"/>
                          <a:cs typeface="Arial"/>
                        </a:rPr>
                        <a:t>Resultado</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r>
              <a:tr h="723900">
                <a:tc>
                  <a:txBody>
                    <a:bodyPr>
                      <a:noAutofit/>
                    </a:bodyPr>
                    <a:lstStyle/>
                    <a:p>
                      <a:r>
                        <a:rPr sz="1950" b="0">
                          <a:solidFill>
                            <a:srgbClr val="172B4D"/>
                          </a:solidFill>
                          <a:latin typeface="Arial"/>
                          <a:ea typeface="Arial"/>
                          <a:cs typeface="Arial"/>
                        </a:rPr>
                        <a:t>Aceitos durante a medição</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950" b="0">
                          <a:solidFill>
                            <a:srgbClr val="172B4D"/>
                          </a:solidFill>
                          <a:latin typeface="Arial"/>
                          <a:ea typeface="Arial"/>
                          <a:cs typeface="Arial"/>
                        </a:rPr>
                        <a:t>10.801</a:t>
                      </a:r>
                    </a:p>
                  </a:txBody>
                  <a:tcPr marL="91440" marR="91440" marT="45720" marB="45720">
                    <a:lnR w="9525">
                      <a:solidFill>
                        <a:srgbClr val="CBD5E1"/>
                      </a:solidFill>
                      <a:prstDash val="solid"/>
                    </a:lnR>
                    <a:lnB w="9525">
                      <a:solidFill>
                        <a:srgbClr val="CBD5E1"/>
                      </a:solidFill>
                      <a:prstDash val="solid"/>
                    </a:lnB>
                    <a:solidFill>
                      <a:srgbClr val="FFFFFF"/>
                    </a:solidFill>
                  </a:tcPr>
                </a:tc>
              </a:tr>
              <a:tr h="723900">
                <a:tc>
                  <a:txBody>
                    <a:bodyPr>
                      <a:noAutofit/>
                    </a:bodyPr>
                    <a:lstStyle/>
                    <a:p>
                      <a:r>
                        <a:rPr sz="1950" b="0">
                          <a:solidFill>
                            <a:srgbClr val="172B4D"/>
                          </a:solidFill>
                          <a:latin typeface="Arial"/>
                          <a:ea typeface="Arial"/>
                          <a:cs typeface="Arial"/>
                        </a:rPr>
                        <a:t>Persistidos ao fim</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950" b="0">
                          <a:solidFill>
                            <a:srgbClr val="172B4D"/>
                          </a:solidFill>
                          <a:latin typeface="Arial"/>
                          <a:ea typeface="Arial"/>
                          <a:cs typeface="Arial"/>
                        </a:rPr>
                        <a:t>10.801</a:t>
                      </a:r>
                    </a:p>
                  </a:txBody>
                  <a:tcPr marL="91440" marR="91440" marT="45720" marB="45720">
                    <a:lnR w="9525">
                      <a:solidFill>
                        <a:srgbClr val="CBD5E1"/>
                      </a:solidFill>
                      <a:prstDash val="solid"/>
                    </a:lnR>
                    <a:lnB w="9525">
                      <a:solidFill>
                        <a:srgbClr val="CBD5E1"/>
                      </a:solidFill>
                      <a:prstDash val="solid"/>
                    </a:lnB>
                    <a:solidFill>
                      <a:srgbClr val="FFFFFF"/>
                    </a:solidFill>
                  </a:tcPr>
                </a:tc>
              </a:tr>
              <a:tr h="723900">
                <a:tc>
                  <a:txBody>
                    <a:bodyPr>
                      <a:noAutofit/>
                    </a:bodyPr>
                    <a:lstStyle/>
                    <a:p>
                      <a:r>
                        <a:rPr sz="1950" b="0">
                          <a:solidFill>
                            <a:srgbClr val="172B4D"/>
                          </a:solidFill>
                          <a:latin typeface="Arial"/>
                          <a:ea typeface="Arial"/>
                          <a:cs typeface="Arial"/>
                        </a:rPr>
                        <a:t>DLQ terminal</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950" b="0">
                          <a:solidFill>
                            <a:srgbClr val="172B4D"/>
                          </a:solidFill>
                          <a:latin typeface="Arial"/>
                          <a:ea typeface="Arial"/>
                          <a:cs typeface="Arial"/>
                        </a:rPr>
                        <a:t>0</a:t>
                      </a:r>
                    </a:p>
                  </a:txBody>
                  <a:tcPr marL="91440" marR="91440" marT="45720" marB="45720">
                    <a:lnR w="9525">
                      <a:solidFill>
                        <a:srgbClr val="CBD5E1"/>
                      </a:solidFill>
                      <a:prstDash val="solid"/>
                    </a:lnR>
                    <a:lnB w="9525">
                      <a:solidFill>
                        <a:srgbClr val="CBD5E1"/>
                      </a:solidFill>
                      <a:prstDash val="solid"/>
                    </a:lnB>
                    <a:solidFill>
                      <a:srgbClr val="FFFFFF"/>
                    </a:solidFill>
                  </a:tcPr>
                </a:tc>
              </a:tr>
              <a:tr h="723900">
                <a:tc>
                  <a:txBody>
                    <a:bodyPr>
                      <a:noAutofit/>
                    </a:bodyPr>
                    <a:lstStyle/>
                    <a:p>
                      <a:r>
                        <a:rPr sz="1950" b="0">
                          <a:solidFill>
                            <a:srgbClr val="172B4D"/>
                          </a:solidFill>
                          <a:latin typeface="Arial"/>
                          <a:ea typeface="Arial"/>
                          <a:cs typeface="Arial"/>
                        </a:rPr>
                        <a:t>Recuperação sustentada</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950" b="0">
                          <a:solidFill>
                            <a:srgbClr val="172B4D"/>
                          </a:solidFill>
                          <a:latin typeface="Arial"/>
                          <a:ea typeface="Arial"/>
                          <a:cs typeface="Arial"/>
                        </a:rPr>
                        <a:t>5 de 5 coletas</a:t>
                      </a:r>
                    </a:p>
                  </a:txBody>
                  <a:tcPr marL="91440" marR="91440" marT="45720" marB="45720">
                    <a:lnR w="9525">
                      <a:solidFill>
                        <a:srgbClr val="CBD5E1"/>
                      </a:solidFill>
                      <a:prstDash val="solid"/>
                    </a:lnR>
                    <a:lnB w="9525">
                      <a:solidFill>
                        <a:srgbClr val="CBD5E1"/>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872CC85-A1BC-4DCA-BDCF-BD46BC090A57}"/>
              </a:ext>
            </a:extLst>
          </p:cNvPr>
          <p:cNvSpPr>
            <a:spLocks xmlns:a="http://schemas.openxmlformats.org/drawingml/2006/main" noGrp="1"/>
          </p:cNvSpPr>
          <p:nvPr/>
        </p:nvSpPr>
        <p:spPr>
          <a:xfrm xmlns:a="http://schemas.openxmlformats.org/drawingml/2006/main">
            <a:off x="685800" y="55721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72B4D"/>
                </a:solidFill>
                <a:latin typeface="Arial"/>
                <a:ea typeface="Arial"/>
                <a:cs typeface="Arial"/>
              </a:defRPr>
            </a:defPPr>
            <a:lvl1pPr>
              <a:buNone/>
              <a:defRPr sz="1800" b="0">
                <a:solidFill>
                  <a:srgbClr val="172B4D"/>
                </a:solidFill>
                <a:latin typeface="Arial"/>
                <a:ea typeface="Arial"/>
                <a:cs typeface="Arial"/>
              </a:defRPr>
            </a:lvl1pPr>
            <a:lvl2pPr>
              <a:buNone/>
              <a:defRPr sz="1800" b="0">
                <a:solidFill>
                  <a:srgbClr val="172B4D"/>
                </a:solidFill>
                <a:latin typeface="Arial"/>
                <a:ea typeface="Arial"/>
                <a:cs typeface="Arial"/>
              </a:defRPr>
            </a:lvl2pPr>
            <a:lvl3pPr>
              <a:buNone/>
              <a:defRPr sz="1800" b="0">
                <a:solidFill>
                  <a:srgbClr val="172B4D"/>
                </a:solidFill>
                <a:latin typeface="Arial"/>
                <a:ea typeface="Arial"/>
                <a:cs typeface="Arial"/>
              </a:defRPr>
            </a:lvl3pPr>
            <a:lvl4pPr>
              <a:buNone/>
              <a:defRPr sz="1800" b="0">
                <a:solidFill>
                  <a:srgbClr val="172B4D"/>
                </a:solidFill>
                <a:latin typeface="Arial"/>
                <a:ea typeface="Arial"/>
                <a:cs typeface="Arial"/>
              </a:defRPr>
            </a:lvl4pPr>
            <a:lvl5pPr>
              <a:buNone/>
              <a:defRPr sz="1800" b="0">
                <a:solidFill>
                  <a:srgbClr val="172B4D"/>
                </a:solidFill>
                <a:latin typeface="Arial"/>
                <a:ea typeface="Arial"/>
                <a:cs typeface="Arial"/>
              </a:defRPr>
            </a:lvl5pPr>
            <a:lvl6pPr>
              <a:buNone/>
              <a:defRPr sz="1800" b="0">
                <a:solidFill>
                  <a:srgbClr val="172B4D"/>
                </a:solidFill>
                <a:latin typeface="Arial"/>
                <a:ea typeface="Arial"/>
                <a:cs typeface="Arial"/>
              </a:defRPr>
            </a:lvl6pPr>
            <a:lvl7pPr>
              <a:buNone/>
              <a:defRPr sz="1800" b="0">
                <a:solidFill>
                  <a:srgbClr val="172B4D"/>
                </a:solidFill>
                <a:latin typeface="Arial"/>
                <a:ea typeface="Arial"/>
                <a:cs typeface="Arial"/>
              </a:defRPr>
            </a:lvl7pPr>
            <a:lvl8pPr>
              <a:buNone/>
              <a:defRPr sz="1800" b="0">
                <a:solidFill>
                  <a:srgbClr val="172B4D"/>
                </a:solidFill>
                <a:latin typeface="Arial"/>
                <a:ea typeface="Arial"/>
                <a:cs typeface="Arial"/>
              </a:defRPr>
            </a:lvl8pPr>
            <a:lvl9pPr>
              <a:buNone/>
              <a:defRPr sz="1800" b="0">
                <a:solidFill>
                  <a:srgbClr val="172B4D"/>
                </a:solidFill>
                <a:latin typeface="Arial"/>
                <a:ea typeface="Arial"/>
                <a:cs typeface="Arial"/>
              </a:defRPr>
            </a:lvl9pPr>
          </a:lstStyle>
          <a:p xmlns:a="http://schemas.openxmlformats.org/drawingml/2006/main">
            <a:pPr>
              <a:buNone/>
              <a:defRPr sz="1800" b="0">
                <a:solidFill>
                  <a:srgbClr val="172B4D"/>
                </a:solidFill>
                <a:latin typeface="Arial"/>
                <a:ea typeface="Arial"/>
                <a:cs typeface="Arial"/>
              </a:defRPr>
            </a:pPr>
            <a:r>
              <a:rPr sz="1800" b="0">
                <a:solidFill>
                  <a:srgbClr val="172B4D"/>
                </a:solidFill>
                <a:latin typeface="Arial"/>
                <a:ea typeface="Arial"/>
                <a:cs typeface="Arial"/>
              </a:rPr>
              <a:t>Backlog integral: 12,55 a 24,16 s após comando de retomada.</a:t>
            </a:r>
          </a:p>
          <a:p xmlns:a="http://schemas.openxmlformats.org/drawingml/2006/main">
            <a:pPr>
              <a:buNone/>
              <a:defRPr sz="1800" b="0">
                <a:solidFill>
                  <a:srgbClr val="172B4D"/>
                </a:solidFill>
                <a:latin typeface="Arial"/>
                <a:ea typeface="Arial"/>
                <a:cs typeface="Arial"/>
              </a:defRPr>
            </a:pPr>
            <a:r>
              <a:rPr sz="1800" b="0">
                <a:solidFill>
                  <a:srgbClr val="172B4D"/>
                </a:solidFill>
                <a:latin typeface="Arial"/>
                <a:ea typeface="Arial"/>
                <a:cs typeface="Arial"/>
              </a:rPr>
              <a:t>P95 de conclusão por execução: 46,95 a 57,80 s.</a:t>
            </a:r>
          </a:p>
        </p:txBody>
      </p:sp>
    </p:spTree>
    <p:extLst>
      <p:ext uri="{BB962C8B-B14F-4D97-AF65-F5344CB8AC3E}">
        <p14:creationId xmlns:p14="http://schemas.microsoft.com/office/powerpoint/2010/main" val="15299651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B2ECAE-0DD8-4448-94F0-03DEA23131FA}"/>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72B4D"/>
                </a:solidFill>
                <a:latin typeface="Arial"/>
                <a:ea typeface="Arial"/>
                <a:cs typeface="Arial"/>
              </a:defRPr>
            </a:pPr>
            <a:r>
              <a:rPr sz="2850" b="1">
                <a:solidFill>
                  <a:srgbClr val="172B4D"/>
                </a:solidFill>
                <a:latin typeface="Arial"/>
                <a:ea typeface="Arial"/>
                <a:cs typeface="Arial"/>
              </a:rPr>
              <a:t>Por que uma coleta ficou parcial</a:t>
            </a:r>
          </a:p>
        </p:txBody>
      </p:sp>
      <p:sp>
        <p:nvSpPr>
          <p:cNvPr id="2" name="">
            <a:extLst xmlns:a="http://schemas.openxmlformats.org/drawingml/2006/main">
              <a:ext uri="{FF2B5EF4-FFF2-40B4-BE49-F238E27FC236}">
                <a16:creationId xmlns:a16="http://schemas.microsoft.com/office/drawing/2014/main" id="{B775F8D5-235B-4BE8-82DE-A11038D22800}"/>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4748B"/>
                </a:solidFill>
                <a:latin typeface="Arial"/>
                <a:ea typeface="Arial"/>
                <a:cs typeface="Arial"/>
              </a:defRPr>
            </a:pPr>
            <a:r>
              <a:rPr sz="1350" b="0">
                <a:solidFill>
                  <a:srgbClr val="64748B"/>
                </a:solidFill>
                <a:latin typeface="Arial"/>
                <a:ea typeface="Arial"/>
                <a:cs typeface="Arial"/>
              </a:rPr>
              <a:t>8</a:t>
            </a:r>
          </a:p>
        </p:txBody>
      </p:sp>
      <p:graphicFrame>
        <p:nvGraphicFramePr>
          <p:cNvPr id="7" name="">
            <a:extLst xmlns:a="http://schemas.openxmlformats.org/drawingml/2006/main">
              <a:ext uri="{FF2B5EF4-FFF2-40B4-BE49-F238E27FC236}">
                <a16:creationId xmlns:a16="http://schemas.microsoft.com/office/drawing/2014/main" id="{1702D547-FB03-41F5-8EEF-5CC1FCFD2163}"/>
              </a:ext>
            </a:extLst>
          </p:cNvPr>
          <p:cNvGraphicFramePr/>
          <p:nvPr/>
        </p:nvGraphicFramePr>
        <p:xfrm>
          <a:off xmlns:a="http://schemas.openxmlformats.org/drawingml/2006/main" x="685800" y="1714500"/>
          <a:ext xmlns:a="http://schemas.openxmlformats.org/drawingml/2006/main" cx="10820400" cy="3476625"/>
        </p:xfrm>
        <a:graphic xmlns:a="http://schemas.openxmlformats.org/drawingml/2006/main">
          <a:graphicData uri="http://schemas.openxmlformats.org/drawingml/2006/table">
            <a:tbl>
              <a:tblPr/>
              <a:tblGrid>
                <a:gridCol w="3619500"/>
                <a:gridCol w="4476750"/>
                <a:gridCol w="2724150"/>
              </a:tblGrid>
              <a:tr h="695325">
                <a:tc>
                  <a:txBody>
                    <a:bodyPr>
                      <a:noAutofit/>
                    </a:bodyPr>
                    <a:lstStyle/>
                    <a:p>
                      <a:r>
                        <a:rPr sz="1800" b="1">
                          <a:solidFill>
                            <a:srgbClr val="FFFFFF"/>
                          </a:solidFill>
                          <a:latin typeface="Arial"/>
                          <a:ea typeface="Arial"/>
                          <a:cs typeface="Arial"/>
                        </a:rPr>
                        <a:t>O que aconteceu</a:t>
                      </a:r>
                    </a:p>
                  </a:txBody>
                  <a:tcPr marL="91440" marR="91440" marT="45720" marB="45720">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800" b="1">
                          <a:solidFill>
                            <a:srgbClr val="FFFFFF"/>
                          </a:solidFill>
                          <a:latin typeface="Arial"/>
                          <a:ea typeface="Arial"/>
                          <a:cs typeface="Arial"/>
                        </a:rPr>
                        <a:t>Efeito na análise</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800" b="1">
                          <a:solidFill>
                            <a:srgbClr val="FFFFFF"/>
                          </a:solidFill>
                          <a:latin typeface="Arial"/>
                          <a:ea typeface="Arial"/>
                          <a:cs typeface="Arial"/>
                        </a:rPr>
                        <a:t>Cobertura</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r>
              <a:tr h="695325">
                <a:tc>
                  <a:txBody>
                    <a:bodyPr>
                      <a:noAutofit/>
                    </a:bodyPr>
                    <a:lstStyle/>
                    <a:p>
                      <a:r>
                        <a:rPr sz="1800" b="0">
                          <a:solidFill>
                            <a:srgbClr val="172B4D"/>
                          </a:solidFill>
                          <a:latin typeface="Arial"/>
                          <a:ea typeface="Arial"/>
                          <a:cs typeface="Arial"/>
                        </a:rPr>
                        <a:t>Evento no banco apesar de HTTP 503</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Horário de uma gravação ausente</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1 de 1.667 registros</a:t>
                      </a:r>
                    </a:p>
                  </a:txBody>
                  <a:tcPr marL="91440" marR="91440" marT="45720" marB="45720">
                    <a:lnR w="9525">
                      <a:solidFill>
                        <a:srgbClr val="CBD5E1"/>
                      </a:solidFill>
                      <a:prstDash val="solid"/>
                    </a:lnR>
                    <a:lnB w="9525">
                      <a:solidFill>
                        <a:srgbClr val="CBD5E1"/>
                      </a:solidFill>
                      <a:prstDash val="solid"/>
                    </a:lnB>
                    <a:solidFill>
                      <a:srgbClr val="FFFFFF"/>
                    </a:solidFill>
                  </a:tcPr>
                </a:tc>
              </a:tr>
              <a:tr h="695325">
                <a:tc>
                  <a:txBody>
                    <a:bodyPr>
                      <a:noAutofit/>
                    </a:bodyPr>
                    <a:lstStyle/>
                    <a:p>
                      <a:r>
                        <a:rPr sz="1800" b="0">
                          <a:solidFill>
                            <a:srgbClr val="172B4D"/>
                          </a:solidFill>
                          <a:latin typeface="Arial"/>
                          <a:ea typeface="Arial"/>
                          <a:cs typeface="Arial"/>
                        </a:rPr>
                        <a:t>Conclusão primária com banco parado</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Exclusão do par com evidência parcial</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4 pares completos</a:t>
                      </a:r>
                    </a:p>
                  </a:txBody>
                  <a:tcPr marL="91440" marR="91440" marT="45720" marB="45720">
                    <a:lnR w="9525">
                      <a:solidFill>
                        <a:srgbClr val="CBD5E1"/>
                      </a:solidFill>
                      <a:prstDash val="solid"/>
                    </a:lnR>
                    <a:lnB w="9525">
                      <a:solidFill>
                        <a:srgbClr val="CBD5E1"/>
                      </a:solidFill>
                      <a:prstDash val="solid"/>
                    </a:lnB>
                    <a:solidFill>
                      <a:srgbClr val="FFFFFF"/>
                    </a:solidFill>
                  </a:tcPr>
                </a:tc>
              </a:tr>
              <a:tr h="695325">
                <a:tc>
                  <a:txBody>
                    <a:bodyPr>
                      <a:noAutofit/>
                    </a:bodyPr>
                    <a:lstStyle/>
                    <a:p>
                      <a:r>
                        <a:rPr sz="1800" b="0">
                          <a:solidFill>
                            <a:srgbClr val="172B4D"/>
                          </a:solidFill>
                          <a:latin typeface="Arial"/>
                          <a:ea typeface="Arial"/>
                          <a:cs typeface="Arial"/>
                        </a:rPr>
                        <a:t>HTTP, destinos e recursos</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Observações auditadas mantidas</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5 por condição</a:t>
                      </a:r>
                    </a:p>
                  </a:txBody>
                  <a:tcPr marL="91440" marR="91440" marT="45720" marB="45720">
                    <a:lnR w="9525">
                      <a:solidFill>
                        <a:srgbClr val="CBD5E1"/>
                      </a:solidFill>
                      <a:prstDash val="solid"/>
                    </a:lnR>
                    <a:lnB w="9525">
                      <a:solidFill>
                        <a:srgbClr val="CBD5E1"/>
                      </a:solidFill>
                      <a:prstDash val="solid"/>
                    </a:lnB>
                    <a:solidFill>
                      <a:srgbClr val="FFFFFF"/>
                    </a:solidFill>
                  </a:tcPr>
                </a:tc>
              </a:tr>
              <a:tr h="695325">
                <a:tc>
                  <a:txBody>
                    <a:bodyPr>
                      <a:noAutofit/>
                    </a:bodyPr>
                    <a:lstStyle/>
                    <a:p>
                      <a:r>
                        <a:rPr sz="1800" b="0">
                          <a:solidFill>
                            <a:srgbClr val="172B4D"/>
                          </a:solidFill>
                          <a:latin typeface="Arial"/>
                          <a:ea typeface="Arial"/>
                          <a:cs typeface="Arial"/>
                        </a:rPr>
                        <a:t>Veredito original</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Inválido, sem alteração</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1 coleta</a:t>
                      </a:r>
                    </a:p>
                  </a:txBody>
                  <a:tcPr marL="91440" marR="91440" marT="45720" marB="45720">
                    <a:lnR w="9525">
                      <a:solidFill>
                        <a:srgbClr val="CBD5E1"/>
                      </a:solidFill>
                      <a:prstDash val="solid"/>
                    </a:lnR>
                    <a:lnB w="9525">
                      <a:solidFill>
                        <a:srgbClr val="CBD5E1"/>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84FFED2-3617-412E-9F52-D84E07D4D7F2}"/>
              </a:ext>
            </a:extLst>
          </p:cNvPr>
          <p:cNvSpPr>
            <a:spLocks xmlns:a="http://schemas.openxmlformats.org/drawingml/2006/main" noGrp="1"/>
          </p:cNvSpPr>
          <p:nvPr/>
        </p:nvSpPr>
        <p:spPr>
          <a:xfrm xmlns:a="http://schemas.openxmlformats.org/drawingml/2006/main">
            <a:off x="685800" y="55721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72B4D"/>
                </a:solidFill>
                <a:latin typeface="Arial"/>
                <a:ea typeface="Arial"/>
                <a:cs typeface="Arial"/>
              </a:defRPr>
            </a:defPPr>
            <a:lvl1pPr>
              <a:buNone/>
              <a:defRPr sz="1800" b="0">
                <a:solidFill>
                  <a:srgbClr val="172B4D"/>
                </a:solidFill>
                <a:latin typeface="Arial"/>
                <a:ea typeface="Arial"/>
                <a:cs typeface="Arial"/>
              </a:defRPr>
            </a:lvl1pPr>
            <a:lvl2pPr>
              <a:buNone/>
              <a:defRPr sz="1800" b="0">
                <a:solidFill>
                  <a:srgbClr val="172B4D"/>
                </a:solidFill>
                <a:latin typeface="Arial"/>
                <a:ea typeface="Arial"/>
                <a:cs typeface="Arial"/>
              </a:defRPr>
            </a:lvl2pPr>
            <a:lvl3pPr>
              <a:buNone/>
              <a:defRPr sz="1800" b="0">
                <a:solidFill>
                  <a:srgbClr val="172B4D"/>
                </a:solidFill>
                <a:latin typeface="Arial"/>
                <a:ea typeface="Arial"/>
                <a:cs typeface="Arial"/>
              </a:defRPr>
            </a:lvl3pPr>
            <a:lvl4pPr>
              <a:buNone/>
              <a:defRPr sz="1800" b="0">
                <a:solidFill>
                  <a:srgbClr val="172B4D"/>
                </a:solidFill>
                <a:latin typeface="Arial"/>
                <a:ea typeface="Arial"/>
                <a:cs typeface="Arial"/>
              </a:defRPr>
            </a:lvl4pPr>
            <a:lvl5pPr>
              <a:buNone/>
              <a:defRPr sz="1800" b="0">
                <a:solidFill>
                  <a:srgbClr val="172B4D"/>
                </a:solidFill>
                <a:latin typeface="Arial"/>
                <a:ea typeface="Arial"/>
                <a:cs typeface="Arial"/>
              </a:defRPr>
            </a:lvl5pPr>
            <a:lvl6pPr>
              <a:buNone/>
              <a:defRPr sz="1800" b="0">
                <a:solidFill>
                  <a:srgbClr val="172B4D"/>
                </a:solidFill>
                <a:latin typeface="Arial"/>
                <a:ea typeface="Arial"/>
                <a:cs typeface="Arial"/>
              </a:defRPr>
            </a:lvl6pPr>
            <a:lvl7pPr>
              <a:buNone/>
              <a:defRPr sz="1800" b="0">
                <a:solidFill>
                  <a:srgbClr val="172B4D"/>
                </a:solidFill>
                <a:latin typeface="Arial"/>
                <a:ea typeface="Arial"/>
                <a:cs typeface="Arial"/>
              </a:defRPr>
            </a:lvl7pPr>
            <a:lvl8pPr>
              <a:buNone/>
              <a:defRPr sz="1800" b="0">
                <a:solidFill>
                  <a:srgbClr val="172B4D"/>
                </a:solidFill>
                <a:latin typeface="Arial"/>
                <a:ea typeface="Arial"/>
                <a:cs typeface="Arial"/>
              </a:defRPr>
            </a:lvl8pPr>
            <a:lvl9pPr>
              <a:buNone/>
              <a:defRPr sz="1800" b="0">
                <a:solidFill>
                  <a:srgbClr val="172B4D"/>
                </a:solidFill>
                <a:latin typeface="Arial"/>
                <a:ea typeface="Arial"/>
                <a:cs typeface="Arial"/>
              </a:defRPr>
            </a:lvl9pPr>
          </a:lstStyle>
          <a:p xmlns:a="http://schemas.openxmlformats.org/drawingml/2006/main">
            <a:pPr>
              <a:buNone/>
              <a:defRPr sz="1800" b="0">
                <a:solidFill>
                  <a:srgbClr val="172B4D"/>
                </a:solidFill>
                <a:latin typeface="Arial"/>
                <a:ea typeface="Arial"/>
                <a:cs typeface="Arial"/>
              </a:defRPr>
            </a:pPr>
            <a:r>
              <a:rPr sz="1800" b="0">
                <a:solidFill>
                  <a:srgbClr val="172B4D"/>
                </a:solidFill>
                <a:latin typeface="Arial"/>
                <a:ea typeface="Arial"/>
                <a:cs typeface="Arial"/>
              </a:rPr>
              <a:t>A parada do banco era planejada. A ausência do tempo de conclusão foi imprevista.</a:t>
            </a:r>
          </a:p>
          <a:p xmlns:a="http://schemas.openxmlformats.org/drawingml/2006/main">
            <a:pPr>
              <a:buNone/>
              <a:defRPr sz="1800" b="0">
                <a:solidFill>
                  <a:srgbClr val="172B4D"/>
                </a:solidFill>
                <a:latin typeface="Arial"/>
                <a:ea typeface="Arial"/>
                <a:cs typeface="Arial"/>
              </a:defRPr>
            </a:pPr>
            <a:r>
              <a:rPr sz="1800" b="0">
                <a:solidFill>
                  <a:srgbClr val="172B4D"/>
                </a:solidFill>
                <a:latin typeface="Arial"/>
                <a:ea typeface="Arial"/>
                <a:cs typeface="Arial"/>
              </a:rPr>
              <a:t>A revisão veio após 37 coletas, antes das 28 restantes. Sem estimar o instante ausente.</a:t>
            </a:r>
          </a:p>
        </p:txBody>
      </p:sp>
    </p:spTree>
    <p:extLst>
      <p:ext uri="{BB962C8B-B14F-4D97-AF65-F5344CB8AC3E}">
        <p14:creationId xmlns:p14="http://schemas.microsoft.com/office/powerpoint/2010/main" val="21434018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FC026E6-9592-4AF8-9AE0-4135DCE14039}"/>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72B4D"/>
                </a:solidFill>
                <a:latin typeface="Arial"/>
                <a:ea typeface="Arial"/>
                <a:cs typeface="Arial"/>
              </a:defRPr>
            </a:pPr>
            <a:r>
              <a:rPr sz="2850" b="1">
                <a:solidFill>
                  <a:srgbClr val="172B4D"/>
                </a:solidFill>
                <a:latin typeface="Arial"/>
                <a:ea typeface="Arial"/>
                <a:cs typeface="Arial"/>
              </a:rPr>
              <a:t>Recuperação sustentada e leitura exploratória</a:t>
            </a:r>
          </a:p>
        </p:txBody>
      </p:sp>
      <p:sp>
        <p:nvSpPr>
          <p:cNvPr id="2" name="">
            <a:extLst xmlns:a="http://schemas.openxmlformats.org/drawingml/2006/main">
              <a:ext uri="{FF2B5EF4-FFF2-40B4-BE49-F238E27FC236}">
                <a16:creationId xmlns:a16="http://schemas.microsoft.com/office/drawing/2014/main" id="{D5FA65EC-E740-4761-A331-C5FA96E88858}"/>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4748B"/>
                </a:solidFill>
                <a:latin typeface="Arial"/>
                <a:ea typeface="Arial"/>
                <a:cs typeface="Arial"/>
              </a:defRPr>
            </a:pPr>
            <a:r>
              <a:rPr sz="1350" b="0">
                <a:solidFill>
                  <a:srgbClr val="64748B"/>
                </a:solidFill>
                <a:latin typeface="Arial"/>
                <a:ea typeface="Arial"/>
                <a:cs typeface="Arial"/>
              </a:rPr>
              <a:t>9</a:t>
            </a:r>
          </a:p>
        </p:txBody>
      </p:sp>
      <p:graphicFrame>
        <p:nvGraphicFramePr>
          <p:cNvPr id="8" name="">
            <a:extLst xmlns:a="http://schemas.openxmlformats.org/drawingml/2006/main">
              <a:ext uri="{FF2B5EF4-FFF2-40B4-BE49-F238E27FC236}">
                <a16:creationId xmlns:a16="http://schemas.microsoft.com/office/drawing/2014/main" id="{54FBEA07-42BC-4771-87F1-E10F7831DAEB}"/>
              </a:ext>
            </a:extLst>
          </p:cNvPr>
          <p:cNvGraphicFramePr/>
          <p:nvPr/>
        </p:nvGraphicFramePr>
        <p:xfrm>
          <a:off xmlns:a="http://schemas.openxmlformats.org/drawingml/2006/main" x="685800" y="1714500"/>
          <a:ext xmlns:a="http://schemas.openxmlformats.org/drawingml/2006/main" cx="10820400" cy="3143250"/>
        </p:xfrm>
        <a:graphic xmlns:a="http://schemas.openxmlformats.org/drawingml/2006/main">
          <a:graphicData uri="http://schemas.openxmlformats.org/drawingml/2006/table">
            <a:tbl>
              <a:tblPr/>
              <a:tblGrid>
                <a:gridCol w="4762500"/>
                <a:gridCol w="2190750"/>
                <a:gridCol w="3867150"/>
              </a:tblGrid>
              <a:tr h="785813">
                <a:tc>
                  <a:txBody>
                    <a:bodyPr>
                      <a:noAutofit/>
                    </a:bodyPr>
                    <a:lstStyle/>
                    <a:p>
                      <a:r>
                        <a:rPr sz="1800" b="1">
                          <a:solidFill>
                            <a:srgbClr val="FFFFFF"/>
                          </a:solidFill>
                          <a:latin typeface="Arial"/>
                          <a:ea typeface="Arial"/>
                          <a:cs typeface="Arial"/>
                        </a:rPr>
                        <a:t>Cenário</a:t>
                      </a:r>
                    </a:p>
                  </a:txBody>
                  <a:tcPr marL="91440" marR="91440" marT="45720" marB="45720">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800" b="1">
                          <a:solidFill>
                            <a:srgbClr val="FFFFFF"/>
                          </a:solidFill>
                          <a:latin typeface="Arial"/>
                          <a:ea typeface="Arial"/>
                          <a:cs typeface="Arial"/>
                        </a:rPr>
                        <a:t>Critério atingido</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800" b="1">
                          <a:solidFill>
                            <a:srgbClr val="FFFFFF"/>
                          </a:solidFill>
                          <a:latin typeface="Arial"/>
                          <a:ea typeface="Arial"/>
                          <a:cs typeface="Arial"/>
                        </a:rPr>
                        <a:t>Confirmação após retomada</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r>
              <a:tr h="785813">
                <a:tc>
                  <a:txBody>
                    <a:bodyPr>
                      <a:noAutofit/>
                    </a:bodyPr>
                    <a:lstStyle/>
                    <a:p>
                      <a:r>
                        <a:rPr sz="1800" b="0">
                          <a:solidFill>
                            <a:srgbClr val="172B4D"/>
                          </a:solidFill>
                          <a:latin typeface="Arial"/>
                          <a:ea typeface="Arial"/>
                          <a:cs typeface="Arial"/>
                        </a:rPr>
                        <a:t>Banco parado, síncrona</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5 de 5</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38,47 s em média</a:t>
                      </a:r>
                    </a:p>
                  </a:txBody>
                  <a:tcPr marL="91440" marR="91440" marT="45720" marB="45720">
                    <a:lnR w="9525">
                      <a:solidFill>
                        <a:srgbClr val="CBD5E1"/>
                      </a:solidFill>
                      <a:prstDash val="solid"/>
                    </a:lnR>
                    <a:lnB w="9525">
                      <a:solidFill>
                        <a:srgbClr val="CBD5E1"/>
                      </a:solidFill>
                      <a:prstDash val="solid"/>
                    </a:lnB>
                    <a:solidFill>
                      <a:srgbClr val="FFFFFF"/>
                    </a:solidFill>
                  </a:tcPr>
                </a:tc>
              </a:tr>
              <a:tr h="785813">
                <a:tc>
                  <a:txBody>
                    <a:bodyPr>
                      <a:noAutofit/>
                    </a:bodyPr>
                    <a:lstStyle/>
                    <a:p>
                      <a:r>
                        <a:rPr sz="1800" b="0">
                          <a:solidFill>
                            <a:srgbClr val="172B4D"/>
                          </a:solidFill>
                          <a:latin typeface="Arial"/>
                          <a:ea typeface="Arial"/>
                          <a:cs typeface="Arial"/>
                        </a:rPr>
                        <a:t>Consumidor parado, assíncrona</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5 de 5</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41,63 s em média</a:t>
                      </a:r>
                    </a:p>
                  </a:txBody>
                  <a:tcPr marL="91440" marR="91440" marT="45720" marB="45720">
                    <a:lnR w="9525">
                      <a:solidFill>
                        <a:srgbClr val="CBD5E1"/>
                      </a:solidFill>
                      <a:prstDash val="solid"/>
                    </a:lnR>
                    <a:lnB w="9525">
                      <a:solidFill>
                        <a:srgbClr val="CBD5E1"/>
                      </a:solidFill>
                      <a:prstDash val="solid"/>
                    </a:lnB>
                    <a:solidFill>
                      <a:srgbClr val="FFFFFF"/>
                    </a:solidFill>
                  </a:tcPr>
                </a:tc>
              </a:tr>
              <a:tr h="785813">
                <a:tc>
                  <a:txBody>
                    <a:bodyPr>
                      <a:noAutofit/>
                    </a:bodyPr>
                    <a:lstStyle/>
                    <a:p>
                      <a:r>
                        <a:rPr sz="1800" b="0">
                          <a:solidFill>
                            <a:srgbClr val="172B4D"/>
                          </a:solidFill>
                          <a:latin typeface="Arial"/>
                          <a:ea typeface="Arial"/>
                          <a:cs typeface="Arial"/>
                        </a:rPr>
                        <a:t>Banco parado, assíncrona</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1 de 5</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38,71 s no caso observado</a:t>
                      </a:r>
                    </a:p>
                  </a:txBody>
                  <a:tcPr marL="91440" marR="91440" marT="45720" marB="45720">
                    <a:lnR w="9525">
                      <a:solidFill>
                        <a:srgbClr val="CBD5E1"/>
                      </a:solidFill>
                      <a:prstDash val="solid"/>
                    </a:lnR>
                    <a:lnB w="9525">
                      <a:solidFill>
                        <a:srgbClr val="CBD5E1"/>
                      </a:solidFill>
                      <a:prstDash val="solid"/>
                    </a:lnB>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9FFB4705-02DB-4295-8BF4-5A8BCC9767D0}"/>
              </a:ext>
            </a:extLst>
          </p:cNvPr>
          <p:cNvSpPr>
            <a:spLocks xmlns:a="http://schemas.openxmlformats.org/drawingml/2006/main" noGrp="1"/>
          </p:cNvSpPr>
          <p:nvPr/>
        </p:nvSpPr>
        <p:spPr>
          <a:xfrm xmlns:a="http://schemas.openxmlformats.org/drawingml/2006/main">
            <a:off x="685800" y="5143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B4D"/>
                </a:solidFill>
                <a:latin typeface="Arial"/>
                <a:ea typeface="Arial"/>
                <a:cs typeface="Arial"/>
              </a:defRPr>
            </a:defPPr>
            <a:lvl1pPr>
              <a:buNone/>
              <a:defRPr sz="1725" b="0">
                <a:solidFill>
                  <a:srgbClr val="172B4D"/>
                </a:solidFill>
                <a:latin typeface="Arial"/>
                <a:ea typeface="Arial"/>
                <a:cs typeface="Arial"/>
              </a:defRPr>
            </a:lvl1pPr>
            <a:lvl2pPr>
              <a:buNone/>
              <a:defRPr sz="1725" b="0">
                <a:solidFill>
                  <a:srgbClr val="172B4D"/>
                </a:solidFill>
                <a:latin typeface="Arial"/>
                <a:ea typeface="Arial"/>
                <a:cs typeface="Arial"/>
              </a:defRPr>
            </a:lvl2pPr>
            <a:lvl3pPr>
              <a:buNone/>
              <a:defRPr sz="1725" b="0">
                <a:solidFill>
                  <a:srgbClr val="172B4D"/>
                </a:solidFill>
                <a:latin typeface="Arial"/>
                <a:ea typeface="Arial"/>
                <a:cs typeface="Arial"/>
              </a:defRPr>
            </a:lvl3pPr>
            <a:lvl4pPr>
              <a:buNone/>
              <a:defRPr sz="1725" b="0">
                <a:solidFill>
                  <a:srgbClr val="172B4D"/>
                </a:solidFill>
                <a:latin typeface="Arial"/>
                <a:ea typeface="Arial"/>
                <a:cs typeface="Arial"/>
              </a:defRPr>
            </a:lvl4pPr>
            <a:lvl5pPr>
              <a:buNone/>
              <a:defRPr sz="1725" b="0">
                <a:solidFill>
                  <a:srgbClr val="172B4D"/>
                </a:solidFill>
                <a:latin typeface="Arial"/>
                <a:ea typeface="Arial"/>
                <a:cs typeface="Arial"/>
              </a:defRPr>
            </a:lvl5pPr>
            <a:lvl6pPr>
              <a:buNone/>
              <a:defRPr sz="1725" b="0">
                <a:solidFill>
                  <a:srgbClr val="172B4D"/>
                </a:solidFill>
                <a:latin typeface="Arial"/>
                <a:ea typeface="Arial"/>
                <a:cs typeface="Arial"/>
              </a:defRPr>
            </a:lvl6pPr>
            <a:lvl7pPr>
              <a:buNone/>
              <a:defRPr sz="1725" b="0">
                <a:solidFill>
                  <a:srgbClr val="172B4D"/>
                </a:solidFill>
                <a:latin typeface="Arial"/>
                <a:ea typeface="Arial"/>
                <a:cs typeface="Arial"/>
              </a:defRPr>
            </a:lvl7pPr>
            <a:lvl8pPr>
              <a:buNone/>
              <a:defRPr sz="1725" b="0">
                <a:solidFill>
                  <a:srgbClr val="172B4D"/>
                </a:solidFill>
                <a:latin typeface="Arial"/>
                <a:ea typeface="Arial"/>
                <a:cs typeface="Arial"/>
              </a:defRPr>
            </a:lvl8pPr>
            <a:lvl9pPr>
              <a:buNone/>
              <a:defRPr sz="1725" b="0">
                <a:solidFill>
                  <a:srgbClr val="172B4D"/>
                </a:solidFill>
                <a:latin typeface="Arial"/>
                <a:ea typeface="Arial"/>
                <a:cs typeface="Arial"/>
              </a:defRPr>
            </a:lvl9pPr>
          </a:lstStyle>
          <a:p xmlns:a="http://schemas.openxmlformats.org/drawingml/2006/main">
            <a:pPr>
              <a:buNone/>
              <a:defRPr sz="1725" b="0">
                <a:solidFill>
                  <a:srgbClr val="172B4D"/>
                </a:solidFill>
                <a:latin typeface="Arial"/>
                <a:ea typeface="Arial"/>
                <a:cs typeface="Arial"/>
              </a:defRPr>
            </a:pPr>
            <a:r>
              <a:rPr sz="1725" b="0">
                <a:solidFill>
                  <a:srgbClr val="172B4D"/>
                </a:solidFill>
                <a:latin typeface="Arial"/>
                <a:ea typeface="Arial"/>
                <a:cs typeface="Arial"/>
              </a:rPr>
              <a:t>O critério original permanece em 1 de 5 no banco assíncrono.</a:t>
            </a:r>
          </a:p>
          <a:p xmlns:a="http://schemas.openxmlformats.org/drawingml/2006/main">
            <a:pPr>
              <a:buNone/>
              <a:defRPr sz="1725" b="0">
                <a:solidFill>
                  <a:srgbClr val="172B4D"/>
                </a:solidFill>
                <a:latin typeface="Arial"/>
                <a:ea typeface="Arial"/>
                <a:cs typeface="Arial"/>
              </a:defRPr>
            </a:pPr>
            <a:r>
              <a:rPr sz="1725" b="0">
                <a:solidFill>
                  <a:srgbClr val="172B4D"/>
                </a:solidFill>
                <a:latin typeface="Arial"/>
                <a:ea typeface="Arial"/>
                <a:cs typeface="Arial"/>
              </a:rPr>
              <a:t>A leitura exploratória separou a DLQ da fila ativa e observou 5 de 5.</a:t>
            </a:r>
          </a:p>
          <a:p xmlns:a="http://schemas.openxmlformats.org/drawingml/2006/main">
            <a:pPr>
              <a:buNone/>
              <a:defRPr sz="1725" b="0">
                <a:solidFill>
                  <a:srgbClr val="172B4D"/>
                </a:solidFill>
                <a:latin typeface="Arial"/>
                <a:ea typeface="Arial"/>
                <a:cs typeface="Arial"/>
              </a:defRPr>
            </a:pPr>
            <a:r>
              <a:rPr sz="1725" b="0">
                <a:solidFill>
                  <a:srgbClr val="172B4D"/>
                </a:solidFill>
                <a:latin typeface="Arial"/>
                <a:ea typeface="Arial"/>
                <a:cs typeface="Arial"/>
              </a:rPr>
              <a:t>Os 14 eventos terminais continuam sem gravação. Detalhes no apoio 2.</a:t>
            </a:r>
          </a:p>
        </p:txBody>
      </p:sp>
    </p:spTree>
    <p:extLst>
      <p:ext uri="{BB962C8B-B14F-4D97-AF65-F5344CB8AC3E}">
        <p14:creationId xmlns:p14="http://schemas.microsoft.com/office/powerpoint/2010/main" val="107322834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5DB3ED4-436F-4CF7-897B-1A7C72068C81}"/>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72B4D"/>
                </a:solidFill>
                <a:latin typeface="Arial"/>
                <a:ea typeface="Arial"/>
                <a:cs typeface="Arial"/>
              </a:defRPr>
            </a:pPr>
            <a:r>
              <a:rPr sz="2850" b="1">
                <a:solidFill>
                  <a:srgbClr val="172B4D"/>
                </a:solidFill>
                <a:latin typeface="Arial"/>
                <a:ea typeface="Arial"/>
                <a:cs typeface="Arial"/>
              </a:rPr>
              <a:t>Conclusões e alcance das hipóteses</a:t>
            </a:r>
          </a:p>
        </p:txBody>
      </p:sp>
      <p:sp>
        <p:nvSpPr>
          <p:cNvPr id="2" name="">
            <a:extLst xmlns:a="http://schemas.openxmlformats.org/drawingml/2006/main">
              <a:ext uri="{FF2B5EF4-FFF2-40B4-BE49-F238E27FC236}">
                <a16:creationId xmlns:a16="http://schemas.microsoft.com/office/drawing/2014/main" id="{DACBAACC-A292-46BD-86EE-820DFAC157EA}"/>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4748B"/>
                </a:solidFill>
                <a:latin typeface="Arial"/>
                <a:ea typeface="Arial"/>
                <a:cs typeface="Arial"/>
              </a:defRPr>
            </a:pPr>
            <a:r>
              <a:rPr sz="1350" b="0">
                <a:solidFill>
                  <a:srgbClr val="64748B"/>
                </a:solidFill>
                <a:latin typeface="Arial"/>
                <a:ea typeface="Arial"/>
                <a:cs typeface="Arial"/>
              </a:rPr>
              <a:t>10</a:t>
            </a:r>
          </a:p>
        </p:txBody>
      </p:sp>
      <p:sp>
        <p:nvSpPr>
          <p:cNvPr id="8" name="">
            <a:extLst xmlns:a="http://schemas.openxmlformats.org/drawingml/2006/main">
              <a:ext uri="{FF2B5EF4-FFF2-40B4-BE49-F238E27FC236}">
                <a16:creationId xmlns:a16="http://schemas.microsoft.com/office/drawing/2014/main" id="{887B531F-6D56-4B04-9FE5-5AF7D8206205}"/>
              </a:ext>
            </a:extLst>
          </p:cNvPr>
          <p:cNvSpPr>
            <a:spLocks xmlns:a="http://schemas.openxmlformats.org/drawingml/2006/main" noGrp="1"/>
          </p:cNvSpPr>
          <p:nvPr/>
        </p:nvSpPr>
        <p:spPr>
          <a:xfrm xmlns:a="http://schemas.openxmlformats.org/drawingml/2006/main">
            <a:off x="685800" y="185737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2B4D"/>
                </a:solidFill>
                <a:latin typeface="Arial"/>
                <a:ea typeface="Arial"/>
                <a:cs typeface="Arial"/>
              </a:defRPr>
            </a:defPPr>
            <a:lvl1pPr>
              <a:buNone/>
              <a:defRPr sz="2175" b="0">
                <a:solidFill>
                  <a:srgbClr val="172B4D"/>
                </a:solidFill>
                <a:latin typeface="Arial"/>
                <a:ea typeface="Arial"/>
                <a:cs typeface="Arial"/>
              </a:defRPr>
            </a:lvl1pPr>
            <a:lvl2pPr>
              <a:buNone/>
              <a:defRPr sz="2175" b="0">
                <a:solidFill>
                  <a:srgbClr val="172B4D"/>
                </a:solidFill>
                <a:latin typeface="Arial"/>
                <a:ea typeface="Arial"/>
                <a:cs typeface="Arial"/>
              </a:defRPr>
            </a:lvl2pPr>
            <a:lvl3pPr>
              <a:buNone/>
              <a:defRPr sz="2175" b="0">
                <a:solidFill>
                  <a:srgbClr val="172B4D"/>
                </a:solidFill>
                <a:latin typeface="Arial"/>
                <a:ea typeface="Arial"/>
                <a:cs typeface="Arial"/>
              </a:defRPr>
            </a:lvl3pPr>
            <a:lvl4pPr>
              <a:buNone/>
              <a:defRPr sz="2175" b="0">
                <a:solidFill>
                  <a:srgbClr val="172B4D"/>
                </a:solidFill>
                <a:latin typeface="Arial"/>
                <a:ea typeface="Arial"/>
                <a:cs typeface="Arial"/>
              </a:defRPr>
            </a:lvl4pPr>
            <a:lvl5pPr>
              <a:buNone/>
              <a:defRPr sz="2175" b="0">
                <a:solidFill>
                  <a:srgbClr val="172B4D"/>
                </a:solidFill>
                <a:latin typeface="Arial"/>
                <a:ea typeface="Arial"/>
                <a:cs typeface="Arial"/>
              </a:defRPr>
            </a:lvl5pPr>
            <a:lvl6pPr>
              <a:buNone/>
              <a:defRPr sz="2175" b="0">
                <a:solidFill>
                  <a:srgbClr val="172B4D"/>
                </a:solidFill>
                <a:latin typeface="Arial"/>
                <a:ea typeface="Arial"/>
                <a:cs typeface="Arial"/>
              </a:defRPr>
            </a:lvl6pPr>
            <a:lvl7pPr>
              <a:buNone/>
              <a:defRPr sz="2175" b="0">
                <a:solidFill>
                  <a:srgbClr val="172B4D"/>
                </a:solidFill>
                <a:latin typeface="Arial"/>
                <a:ea typeface="Arial"/>
                <a:cs typeface="Arial"/>
              </a:defRPr>
            </a:lvl7pPr>
            <a:lvl8pPr>
              <a:buNone/>
              <a:defRPr sz="2175" b="0">
                <a:solidFill>
                  <a:srgbClr val="172B4D"/>
                </a:solidFill>
                <a:latin typeface="Arial"/>
                <a:ea typeface="Arial"/>
                <a:cs typeface="Arial"/>
              </a:defRPr>
            </a:lvl8pPr>
            <a:lvl9pPr>
              <a:buNone/>
              <a:defRPr sz="2175" b="0">
                <a:solidFill>
                  <a:srgbClr val="172B4D"/>
                </a:solidFill>
                <a:latin typeface="Arial"/>
                <a:ea typeface="Arial"/>
                <a:cs typeface="Arial"/>
              </a:defRPr>
            </a:lvl9pPr>
          </a:lstStyle>
          <a:p xmlns:a="http://schemas.openxmlformats.org/drawingml/2006/main">
            <a:pPr>
              <a:buNone/>
              <a:defRPr sz="2175" b="0">
                <a:solidFill>
                  <a:srgbClr val="172B4D"/>
                </a:solidFill>
                <a:latin typeface="Arial"/>
                <a:ea typeface="Arial"/>
                <a:cs typeface="Arial"/>
              </a:defRPr>
            </a:pPr>
            <a:r>
              <a:rPr sz="2175" b="0">
                <a:solidFill>
                  <a:srgbClr val="172B4D"/>
                </a:solidFill>
                <a:latin typeface="Arial"/>
                <a:ea typeface="Arial"/>
                <a:cs typeface="Arial"/>
              </a:rPr>
              <a:t>Síncrona: menor CPU/memória e confirmação de gravação no sucesso.</a:t>
            </a:r>
          </a:p>
        </p:txBody>
      </p:sp>
      <p:sp>
        <p:nvSpPr>
          <p:cNvPr id="9" name="">
            <a:extLst xmlns:a="http://schemas.openxmlformats.org/drawingml/2006/main">
              <a:ext uri="{FF2B5EF4-FFF2-40B4-BE49-F238E27FC236}">
                <a16:creationId xmlns:a16="http://schemas.microsoft.com/office/drawing/2014/main" id="{F62A545F-C7BD-419A-9A22-05488A0345F4}"/>
              </a:ext>
            </a:extLst>
          </p:cNvPr>
          <p:cNvSpPr>
            <a:spLocks xmlns:a="http://schemas.openxmlformats.org/drawingml/2006/main" noGrp="1"/>
          </p:cNvSpPr>
          <p:nvPr/>
        </p:nvSpPr>
        <p:spPr>
          <a:xfrm xmlns:a="http://schemas.openxmlformats.org/drawingml/2006/main">
            <a:off x="685800" y="28384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2B4D"/>
                </a:solidFill>
                <a:latin typeface="Arial"/>
                <a:ea typeface="Arial"/>
                <a:cs typeface="Arial"/>
              </a:defRPr>
            </a:defPPr>
            <a:lvl1pPr>
              <a:buNone/>
              <a:defRPr sz="2175" b="0">
                <a:solidFill>
                  <a:srgbClr val="172B4D"/>
                </a:solidFill>
                <a:latin typeface="Arial"/>
                <a:ea typeface="Arial"/>
                <a:cs typeface="Arial"/>
              </a:defRPr>
            </a:lvl1pPr>
            <a:lvl2pPr>
              <a:buNone/>
              <a:defRPr sz="2175" b="0">
                <a:solidFill>
                  <a:srgbClr val="172B4D"/>
                </a:solidFill>
                <a:latin typeface="Arial"/>
                <a:ea typeface="Arial"/>
                <a:cs typeface="Arial"/>
              </a:defRPr>
            </a:lvl2pPr>
            <a:lvl3pPr>
              <a:buNone/>
              <a:defRPr sz="2175" b="0">
                <a:solidFill>
                  <a:srgbClr val="172B4D"/>
                </a:solidFill>
                <a:latin typeface="Arial"/>
                <a:ea typeface="Arial"/>
                <a:cs typeface="Arial"/>
              </a:defRPr>
            </a:lvl3pPr>
            <a:lvl4pPr>
              <a:buNone/>
              <a:defRPr sz="2175" b="0">
                <a:solidFill>
                  <a:srgbClr val="172B4D"/>
                </a:solidFill>
                <a:latin typeface="Arial"/>
                <a:ea typeface="Arial"/>
                <a:cs typeface="Arial"/>
              </a:defRPr>
            </a:lvl4pPr>
            <a:lvl5pPr>
              <a:buNone/>
              <a:defRPr sz="2175" b="0">
                <a:solidFill>
                  <a:srgbClr val="172B4D"/>
                </a:solidFill>
                <a:latin typeface="Arial"/>
                <a:ea typeface="Arial"/>
                <a:cs typeface="Arial"/>
              </a:defRPr>
            </a:lvl5pPr>
            <a:lvl6pPr>
              <a:buNone/>
              <a:defRPr sz="2175" b="0">
                <a:solidFill>
                  <a:srgbClr val="172B4D"/>
                </a:solidFill>
                <a:latin typeface="Arial"/>
                <a:ea typeface="Arial"/>
                <a:cs typeface="Arial"/>
              </a:defRPr>
            </a:lvl6pPr>
            <a:lvl7pPr>
              <a:buNone/>
              <a:defRPr sz="2175" b="0">
                <a:solidFill>
                  <a:srgbClr val="172B4D"/>
                </a:solidFill>
                <a:latin typeface="Arial"/>
                <a:ea typeface="Arial"/>
                <a:cs typeface="Arial"/>
              </a:defRPr>
            </a:lvl7pPr>
            <a:lvl8pPr>
              <a:buNone/>
              <a:defRPr sz="2175" b="0">
                <a:solidFill>
                  <a:srgbClr val="172B4D"/>
                </a:solidFill>
                <a:latin typeface="Arial"/>
                <a:ea typeface="Arial"/>
                <a:cs typeface="Arial"/>
              </a:defRPr>
            </a:lvl8pPr>
            <a:lvl9pPr>
              <a:buNone/>
              <a:defRPr sz="2175" b="0">
                <a:solidFill>
                  <a:srgbClr val="172B4D"/>
                </a:solidFill>
                <a:latin typeface="Arial"/>
                <a:ea typeface="Arial"/>
                <a:cs typeface="Arial"/>
              </a:defRPr>
            </a:lvl9pPr>
          </a:lstStyle>
          <a:p xmlns:a="http://schemas.openxmlformats.org/drawingml/2006/main">
            <a:pPr>
              <a:buNone/>
              <a:defRPr sz="2175" b="0">
                <a:solidFill>
                  <a:srgbClr val="172B4D"/>
                </a:solidFill>
                <a:latin typeface="Arial"/>
                <a:ea typeface="Arial"/>
                <a:cs typeface="Arial"/>
              </a:defRPr>
            </a:pPr>
            <a:r>
              <a:rPr sz="2175" b="0">
                <a:solidFill>
                  <a:srgbClr val="172B4D"/>
                </a:solidFill>
                <a:latin typeface="Arial"/>
                <a:ea typeface="Arial"/>
                <a:cs typeface="Arial"/>
              </a:rPr>
              <a:t>Assíncrona: menor latência de aceite e retenção na parada do consumidor.</a:t>
            </a:r>
          </a:p>
        </p:txBody>
      </p:sp>
      <p:sp>
        <p:nvSpPr>
          <p:cNvPr id="10" name="">
            <a:extLst xmlns:a="http://schemas.openxmlformats.org/drawingml/2006/main">
              <a:ext uri="{FF2B5EF4-FFF2-40B4-BE49-F238E27FC236}">
                <a16:creationId xmlns:a16="http://schemas.microsoft.com/office/drawing/2014/main" id="{7EE4B5E3-F6E1-46D8-B7F7-6AC3D391AC7A}"/>
              </a:ext>
            </a:extLst>
          </p:cNvPr>
          <p:cNvSpPr>
            <a:spLocks xmlns:a="http://schemas.openxmlformats.org/drawingml/2006/main" noGrp="1"/>
          </p:cNvSpPr>
          <p:nvPr/>
        </p:nvSpPr>
        <p:spPr>
          <a:xfrm xmlns:a="http://schemas.openxmlformats.org/drawingml/2006/main">
            <a:off x="685800" y="38195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2B4D"/>
                </a:solidFill>
                <a:latin typeface="Arial"/>
                <a:ea typeface="Arial"/>
                <a:cs typeface="Arial"/>
              </a:defRPr>
            </a:defPPr>
            <a:lvl1pPr>
              <a:buNone/>
              <a:defRPr sz="2175" b="0">
                <a:solidFill>
                  <a:srgbClr val="172B4D"/>
                </a:solidFill>
                <a:latin typeface="Arial"/>
                <a:ea typeface="Arial"/>
                <a:cs typeface="Arial"/>
              </a:defRPr>
            </a:lvl1pPr>
            <a:lvl2pPr>
              <a:buNone/>
              <a:defRPr sz="2175" b="0">
                <a:solidFill>
                  <a:srgbClr val="172B4D"/>
                </a:solidFill>
                <a:latin typeface="Arial"/>
                <a:ea typeface="Arial"/>
                <a:cs typeface="Arial"/>
              </a:defRPr>
            </a:lvl2pPr>
            <a:lvl3pPr>
              <a:buNone/>
              <a:defRPr sz="2175" b="0">
                <a:solidFill>
                  <a:srgbClr val="172B4D"/>
                </a:solidFill>
                <a:latin typeface="Arial"/>
                <a:ea typeface="Arial"/>
                <a:cs typeface="Arial"/>
              </a:defRPr>
            </a:lvl3pPr>
            <a:lvl4pPr>
              <a:buNone/>
              <a:defRPr sz="2175" b="0">
                <a:solidFill>
                  <a:srgbClr val="172B4D"/>
                </a:solidFill>
                <a:latin typeface="Arial"/>
                <a:ea typeface="Arial"/>
                <a:cs typeface="Arial"/>
              </a:defRPr>
            </a:lvl4pPr>
            <a:lvl5pPr>
              <a:buNone/>
              <a:defRPr sz="2175" b="0">
                <a:solidFill>
                  <a:srgbClr val="172B4D"/>
                </a:solidFill>
                <a:latin typeface="Arial"/>
                <a:ea typeface="Arial"/>
                <a:cs typeface="Arial"/>
              </a:defRPr>
            </a:lvl5pPr>
            <a:lvl6pPr>
              <a:buNone/>
              <a:defRPr sz="2175" b="0">
                <a:solidFill>
                  <a:srgbClr val="172B4D"/>
                </a:solidFill>
                <a:latin typeface="Arial"/>
                <a:ea typeface="Arial"/>
                <a:cs typeface="Arial"/>
              </a:defRPr>
            </a:lvl6pPr>
            <a:lvl7pPr>
              <a:buNone/>
              <a:defRPr sz="2175" b="0">
                <a:solidFill>
                  <a:srgbClr val="172B4D"/>
                </a:solidFill>
                <a:latin typeface="Arial"/>
                <a:ea typeface="Arial"/>
                <a:cs typeface="Arial"/>
              </a:defRPr>
            </a:lvl7pPr>
            <a:lvl8pPr>
              <a:buNone/>
              <a:defRPr sz="2175" b="0">
                <a:solidFill>
                  <a:srgbClr val="172B4D"/>
                </a:solidFill>
                <a:latin typeface="Arial"/>
                <a:ea typeface="Arial"/>
                <a:cs typeface="Arial"/>
              </a:defRPr>
            </a:lvl8pPr>
            <a:lvl9pPr>
              <a:buNone/>
              <a:defRPr sz="2175" b="0">
                <a:solidFill>
                  <a:srgbClr val="172B4D"/>
                </a:solidFill>
                <a:latin typeface="Arial"/>
                <a:ea typeface="Arial"/>
                <a:cs typeface="Arial"/>
              </a:defRPr>
            </a:lvl9pPr>
          </a:lstStyle>
          <a:p xmlns:a="http://schemas.openxmlformats.org/drawingml/2006/main">
            <a:pPr>
              <a:buNone/>
              <a:defRPr sz="2175" b="0">
                <a:solidFill>
                  <a:srgbClr val="172B4D"/>
                </a:solidFill>
                <a:latin typeface="Arial"/>
                <a:ea typeface="Arial"/>
                <a:cs typeface="Arial"/>
              </a:defRPr>
            </a:pPr>
            <a:r>
              <a:rPr sz="2175" b="0">
                <a:solidFill>
                  <a:srgbClr val="172B4D"/>
                </a:solidFill>
                <a:latin typeface="Arial"/>
                <a:ea typeface="Arial"/>
                <a:cs typeface="Arial"/>
              </a:rPr>
              <a:t>Contrapartida: mais recursos e maior intervalo até a persistência.</a:t>
            </a:r>
          </a:p>
        </p:txBody>
      </p:sp>
      <p:sp>
        <p:nvSpPr>
          <p:cNvPr id="11" name="">
            <a:extLst xmlns:a="http://schemas.openxmlformats.org/drawingml/2006/main">
              <a:ext uri="{FF2B5EF4-FFF2-40B4-BE49-F238E27FC236}">
                <a16:creationId xmlns:a16="http://schemas.microsoft.com/office/drawing/2014/main" id="{D53E3CC9-D122-4D44-A397-73FDE7C16EB4}"/>
              </a:ext>
            </a:extLst>
          </p:cNvPr>
          <p:cNvSpPr>
            <a:spLocks xmlns:a="http://schemas.openxmlformats.org/drawingml/2006/main" noGrp="1"/>
          </p:cNvSpPr>
          <p:nvPr/>
        </p:nvSpPr>
        <p:spPr>
          <a:xfrm xmlns:a="http://schemas.openxmlformats.org/drawingml/2006/main">
            <a:off x="685800" y="48006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2B4D"/>
                </a:solidFill>
                <a:latin typeface="Arial"/>
                <a:ea typeface="Arial"/>
                <a:cs typeface="Arial"/>
              </a:defRPr>
            </a:defPPr>
            <a:lvl1pPr>
              <a:buNone/>
              <a:defRPr sz="2175" b="0">
                <a:solidFill>
                  <a:srgbClr val="172B4D"/>
                </a:solidFill>
                <a:latin typeface="Arial"/>
                <a:ea typeface="Arial"/>
                <a:cs typeface="Arial"/>
              </a:defRPr>
            </a:lvl1pPr>
            <a:lvl2pPr>
              <a:buNone/>
              <a:defRPr sz="2175" b="0">
                <a:solidFill>
                  <a:srgbClr val="172B4D"/>
                </a:solidFill>
                <a:latin typeface="Arial"/>
                <a:ea typeface="Arial"/>
                <a:cs typeface="Arial"/>
              </a:defRPr>
            </a:lvl2pPr>
            <a:lvl3pPr>
              <a:buNone/>
              <a:defRPr sz="2175" b="0">
                <a:solidFill>
                  <a:srgbClr val="172B4D"/>
                </a:solidFill>
                <a:latin typeface="Arial"/>
                <a:ea typeface="Arial"/>
                <a:cs typeface="Arial"/>
              </a:defRPr>
            </a:lvl3pPr>
            <a:lvl4pPr>
              <a:buNone/>
              <a:defRPr sz="2175" b="0">
                <a:solidFill>
                  <a:srgbClr val="172B4D"/>
                </a:solidFill>
                <a:latin typeface="Arial"/>
                <a:ea typeface="Arial"/>
                <a:cs typeface="Arial"/>
              </a:defRPr>
            </a:lvl4pPr>
            <a:lvl5pPr>
              <a:buNone/>
              <a:defRPr sz="2175" b="0">
                <a:solidFill>
                  <a:srgbClr val="172B4D"/>
                </a:solidFill>
                <a:latin typeface="Arial"/>
                <a:ea typeface="Arial"/>
                <a:cs typeface="Arial"/>
              </a:defRPr>
            </a:lvl5pPr>
            <a:lvl6pPr>
              <a:buNone/>
              <a:defRPr sz="2175" b="0">
                <a:solidFill>
                  <a:srgbClr val="172B4D"/>
                </a:solidFill>
                <a:latin typeface="Arial"/>
                <a:ea typeface="Arial"/>
                <a:cs typeface="Arial"/>
              </a:defRPr>
            </a:lvl6pPr>
            <a:lvl7pPr>
              <a:buNone/>
              <a:defRPr sz="2175" b="0">
                <a:solidFill>
                  <a:srgbClr val="172B4D"/>
                </a:solidFill>
                <a:latin typeface="Arial"/>
                <a:ea typeface="Arial"/>
                <a:cs typeface="Arial"/>
              </a:defRPr>
            </a:lvl7pPr>
            <a:lvl8pPr>
              <a:buNone/>
              <a:defRPr sz="2175" b="0">
                <a:solidFill>
                  <a:srgbClr val="172B4D"/>
                </a:solidFill>
                <a:latin typeface="Arial"/>
                <a:ea typeface="Arial"/>
                <a:cs typeface="Arial"/>
              </a:defRPr>
            </a:lvl8pPr>
            <a:lvl9pPr>
              <a:buNone/>
              <a:defRPr sz="2175" b="0">
                <a:solidFill>
                  <a:srgbClr val="172B4D"/>
                </a:solidFill>
                <a:latin typeface="Arial"/>
                <a:ea typeface="Arial"/>
                <a:cs typeface="Arial"/>
              </a:defRPr>
            </a:lvl9pPr>
          </a:lstStyle>
          <a:p xmlns:a="http://schemas.openxmlformats.org/drawingml/2006/main">
            <a:pPr>
              <a:buNone/>
              <a:defRPr sz="2175" b="0">
                <a:solidFill>
                  <a:srgbClr val="172B4D"/>
                </a:solidFill>
                <a:latin typeface="Arial"/>
                <a:ea typeface="Arial"/>
                <a:cs typeface="Arial"/>
              </a:defRPr>
            </a:pPr>
            <a:r>
              <a:rPr sz="2175" b="0">
                <a:solidFill>
                  <a:srgbClr val="172B4D"/>
                </a:solidFill>
                <a:latin typeface="Arial"/>
                <a:ea typeface="Arial"/>
                <a:cs typeface="Arial"/>
              </a:rPr>
              <a:t>Custo financeiro e manutenção permanecem inconclusivos.</a:t>
            </a:r>
          </a:p>
        </p:txBody>
      </p:sp>
      <p:sp>
        <p:nvSpPr>
          <p:cNvPr id="12" name="">
            <a:extLst xmlns:a="http://schemas.openxmlformats.org/drawingml/2006/main">
              <a:ext uri="{FF2B5EF4-FFF2-40B4-BE49-F238E27FC236}">
                <a16:creationId xmlns:a16="http://schemas.microsoft.com/office/drawing/2014/main" id="{4C8F87F9-3EF7-42B9-B39C-583418F4B71A}"/>
              </a:ext>
            </a:extLst>
          </p:cNvPr>
          <p:cNvSpPr>
            <a:spLocks xmlns:a="http://schemas.openxmlformats.org/drawingml/2006/main" noGrp="1"/>
          </p:cNvSpPr>
          <p:nvPr/>
        </p:nvSpPr>
        <p:spPr>
          <a:xfrm xmlns:a="http://schemas.openxmlformats.org/drawingml/2006/main">
            <a:off x="685800" y="585787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75569"/>
                </a:solidFill>
                <a:latin typeface="Arial"/>
                <a:ea typeface="Arial"/>
                <a:cs typeface="Arial"/>
              </a:defRPr>
            </a:defPPr>
            <a:lvl1pPr>
              <a:buNone/>
              <a:defRPr sz="1650" b="0">
                <a:solidFill>
                  <a:srgbClr val="475569"/>
                </a:solidFill>
                <a:latin typeface="Arial"/>
                <a:ea typeface="Arial"/>
                <a:cs typeface="Arial"/>
              </a:defRPr>
            </a:lvl1pPr>
            <a:lvl2pPr>
              <a:buNone/>
              <a:defRPr sz="1650" b="0">
                <a:solidFill>
                  <a:srgbClr val="475569"/>
                </a:solidFill>
                <a:latin typeface="Arial"/>
                <a:ea typeface="Arial"/>
                <a:cs typeface="Arial"/>
              </a:defRPr>
            </a:lvl2pPr>
            <a:lvl3pPr>
              <a:buNone/>
              <a:defRPr sz="1650" b="0">
                <a:solidFill>
                  <a:srgbClr val="475569"/>
                </a:solidFill>
                <a:latin typeface="Arial"/>
                <a:ea typeface="Arial"/>
                <a:cs typeface="Arial"/>
              </a:defRPr>
            </a:lvl3pPr>
            <a:lvl4pPr>
              <a:buNone/>
              <a:defRPr sz="1650" b="0">
                <a:solidFill>
                  <a:srgbClr val="475569"/>
                </a:solidFill>
                <a:latin typeface="Arial"/>
                <a:ea typeface="Arial"/>
                <a:cs typeface="Arial"/>
              </a:defRPr>
            </a:lvl4pPr>
            <a:lvl5pPr>
              <a:buNone/>
              <a:defRPr sz="1650" b="0">
                <a:solidFill>
                  <a:srgbClr val="475569"/>
                </a:solidFill>
                <a:latin typeface="Arial"/>
                <a:ea typeface="Arial"/>
                <a:cs typeface="Arial"/>
              </a:defRPr>
            </a:lvl5pPr>
            <a:lvl6pPr>
              <a:buNone/>
              <a:defRPr sz="1650" b="0">
                <a:solidFill>
                  <a:srgbClr val="475569"/>
                </a:solidFill>
                <a:latin typeface="Arial"/>
                <a:ea typeface="Arial"/>
                <a:cs typeface="Arial"/>
              </a:defRPr>
            </a:lvl6pPr>
            <a:lvl7pPr>
              <a:buNone/>
              <a:defRPr sz="1650" b="0">
                <a:solidFill>
                  <a:srgbClr val="475569"/>
                </a:solidFill>
                <a:latin typeface="Arial"/>
                <a:ea typeface="Arial"/>
                <a:cs typeface="Arial"/>
              </a:defRPr>
            </a:lvl7pPr>
            <a:lvl8pPr>
              <a:buNone/>
              <a:defRPr sz="1650" b="0">
                <a:solidFill>
                  <a:srgbClr val="475569"/>
                </a:solidFill>
                <a:latin typeface="Arial"/>
                <a:ea typeface="Arial"/>
                <a:cs typeface="Arial"/>
              </a:defRPr>
            </a:lvl8pPr>
            <a:lvl9pPr>
              <a:buNone/>
              <a:defRPr sz="1650" b="0">
                <a:solidFill>
                  <a:srgbClr val="475569"/>
                </a:solidFill>
                <a:latin typeface="Arial"/>
                <a:ea typeface="Arial"/>
                <a:cs typeface="Arial"/>
              </a:defRPr>
            </a:lvl9pPr>
          </a:lstStyle>
          <a:p xmlns:a="http://schemas.openxmlformats.org/drawingml/2006/main">
            <a:pPr>
              <a:buNone/>
              <a:defRPr sz="1650" b="0">
                <a:solidFill>
                  <a:srgbClr val="475569"/>
                </a:solidFill>
                <a:latin typeface="Arial"/>
                <a:ea typeface="Arial"/>
                <a:cs typeface="Arial"/>
              </a:defRPr>
            </a:pPr>
            <a:r>
              <a:rPr sz="1650" b="0">
                <a:solidFill>
                  <a:srgbClr val="475569"/>
                </a:solidFill>
                <a:latin typeface="Arial"/>
                <a:ea typeface="Arial"/>
                <a:cs typeface="Arial"/>
              </a:rPr>
              <a:t>Apoio descritivo local. Um computador, um broker e cinco repetições limitam a generalização.</a:t>
            </a:r>
          </a:p>
        </p:txBody>
      </p:sp>
    </p:spTree>
    <p:extLst>
      <p:ext uri="{BB962C8B-B14F-4D97-AF65-F5344CB8AC3E}">
        <p14:creationId xmlns:p14="http://schemas.microsoft.com/office/powerpoint/2010/main" val="167418144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50F4AB5-D0AD-4B3B-A58D-698212EC5AEB}"/>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72B4D"/>
                </a:solidFill>
                <a:latin typeface="Arial"/>
                <a:ea typeface="Arial"/>
                <a:cs typeface="Arial"/>
              </a:defRPr>
            </a:defPPr>
            <a:lvl1pPr>
              <a:defRPr sz="2850" b="1">
                <a:solidFill>
                  <a:srgbClr val="172B4D"/>
                </a:solidFill>
                <a:latin typeface="Arial"/>
                <a:ea typeface="Arial"/>
                <a:cs typeface="Arial"/>
              </a:defRPr>
            </a:lvl1pPr>
            <a:lvl2pPr>
              <a:defRPr sz="2850" b="1">
                <a:solidFill>
                  <a:srgbClr val="172B4D"/>
                </a:solidFill>
                <a:latin typeface="Arial"/>
                <a:ea typeface="Arial"/>
                <a:cs typeface="Arial"/>
              </a:defRPr>
            </a:lvl2pPr>
            <a:lvl3pPr>
              <a:defRPr sz="2850" b="1">
                <a:solidFill>
                  <a:srgbClr val="172B4D"/>
                </a:solidFill>
                <a:latin typeface="Arial"/>
                <a:ea typeface="Arial"/>
                <a:cs typeface="Arial"/>
              </a:defRPr>
            </a:lvl3pPr>
            <a:lvl4pPr>
              <a:defRPr sz="2850" b="1">
                <a:solidFill>
                  <a:srgbClr val="172B4D"/>
                </a:solidFill>
                <a:latin typeface="Arial"/>
                <a:ea typeface="Arial"/>
                <a:cs typeface="Arial"/>
              </a:defRPr>
            </a:lvl4pPr>
            <a:lvl5pPr>
              <a:defRPr sz="2850" b="1">
                <a:solidFill>
                  <a:srgbClr val="172B4D"/>
                </a:solidFill>
                <a:latin typeface="Arial"/>
                <a:ea typeface="Arial"/>
                <a:cs typeface="Arial"/>
              </a:defRPr>
            </a:lvl5pPr>
            <a:lvl6pPr>
              <a:defRPr sz="2850" b="1">
                <a:solidFill>
                  <a:srgbClr val="172B4D"/>
                </a:solidFill>
                <a:latin typeface="Arial"/>
                <a:ea typeface="Arial"/>
                <a:cs typeface="Arial"/>
              </a:defRPr>
            </a:lvl6pPr>
            <a:lvl7pPr>
              <a:defRPr sz="2850" b="1">
                <a:solidFill>
                  <a:srgbClr val="172B4D"/>
                </a:solidFill>
                <a:latin typeface="Arial"/>
                <a:ea typeface="Arial"/>
                <a:cs typeface="Arial"/>
              </a:defRPr>
            </a:lvl7pPr>
            <a:lvl8pPr>
              <a:defRPr sz="2850" b="1">
                <a:solidFill>
                  <a:srgbClr val="172B4D"/>
                </a:solidFill>
                <a:latin typeface="Arial"/>
                <a:ea typeface="Arial"/>
                <a:cs typeface="Arial"/>
              </a:defRPr>
            </a:lvl8pPr>
            <a:lvl9pPr>
              <a:defRPr sz="2850" b="1">
                <a:solidFill>
                  <a:srgbClr val="172B4D"/>
                </a:solidFill>
                <a:latin typeface="Arial"/>
                <a:ea typeface="Arial"/>
                <a:cs typeface="Arial"/>
              </a:defRPr>
            </a:lvl9pPr>
          </a:lstStyle>
          <a:p xmlns:a="http://schemas.openxmlformats.org/drawingml/2006/main">
            <a:pPr>
              <a:defRPr sz="2850" b="1">
                <a:solidFill>
                  <a:srgbClr val="172B4D"/>
                </a:solidFill>
                <a:latin typeface="Arial"/>
                <a:ea typeface="Arial"/>
                <a:cs typeface="Arial"/>
              </a:defRPr>
            </a:pPr>
            <a:r>
              <a:rPr sz="2850" b="1">
                <a:solidFill>
                  <a:srgbClr val="172B4D"/>
                </a:solidFill>
                <a:latin typeface="Arial"/>
                <a:ea typeface="Arial"/>
                <a:cs typeface="Arial"/>
              </a:rPr>
              <a:t>Requisitos esperados e resultados obtidos</a:t>
            </a:r>
          </a:p>
        </p:txBody>
      </p:sp>
      <p:sp>
        <p:nvSpPr>
          <p:cNvPr id="2" name="">
            <a:extLst xmlns:a="http://schemas.openxmlformats.org/drawingml/2006/main">
              <a:ext uri="{FF2B5EF4-FFF2-40B4-BE49-F238E27FC236}">
                <a16:creationId xmlns:a16="http://schemas.microsoft.com/office/drawing/2014/main" id="{F733CDA7-1534-4A8F-B073-1BDC2D9DBFAB}"/>
              </a:ext>
            </a:extLst>
          </p:cNvPr>
          <p:cNvSpPr>
            <a:spLocks xmlns:a="http://schemas.openxmlformats.org/drawingml/2006/main" noGrp="1"/>
          </p:cNvSpPr>
          <p:nvPr/>
        </p:nvSpPr>
        <p:spPr>
          <a:xfrm xmlns:a="http://schemas.openxmlformats.org/drawingml/2006/main">
            <a:off x="10382250" y="62388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4748B"/>
                </a:solidFill>
                <a:latin typeface="Arial"/>
                <a:ea typeface="Arial"/>
                <a:cs typeface="Arial"/>
              </a:defRPr>
            </a:defPPr>
            <a:lvl1pPr>
              <a:defRPr sz="1350" b="0">
                <a:solidFill>
                  <a:srgbClr val="64748B"/>
                </a:solidFill>
                <a:latin typeface="Arial"/>
                <a:ea typeface="Arial"/>
                <a:cs typeface="Arial"/>
              </a:defRPr>
            </a:lvl1pPr>
            <a:lvl2pPr>
              <a:defRPr sz="1350" b="0">
                <a:solidFill>
                  <a:srgbClr val="64748B"/>
                </a:solidFill>
                <a:latin typeface="Arial"/>
                <a:ea typeface="Arial"/>
                <a:cs typeface="Arial"/>
              </a:defRPr>
            </a:lvl2pPr>
            <a:lvl3pPr>
              <a:defRPr sz="1350" b="0">
                <a:solidFill>
                  <a:srgbClr val="64748B"/>
                </a:solidFill>
                <a:latin typeface="Arial"/>
                <a:ea typeface="Arial"/>
                <a:cs typeface="Arial"/>
              </a:defRPr>
            </a:lvl3pPr>
            <a:lvl4pPr>
              <a:defRPr sz="1350" b="0">
                <a:solidFill>
                  <a:srgbClr val="64748B"/>
                </a:solidFill>
                <a:latin typeface="Arial"/>
                <a:ea typeface="Arial"/>
                <a:cs typeface="Arial"/>
              </a:defRPr>
            </a:lvl4pPr>
            <a:lvl5pPr>
              <a:defRPr sz="1350" b="0">
                <a:solidFill>
                  <a:srgbClr val="64748B"/>
                </a:solidFill>
                <a:latin typeface="Arial"/>
                <a:ea typeface="Arial"/>
                <a:cs typeface="Arial"/>
              </a:defRPr>
            </a:lvl5pPr>
            <a:lvl6pPr>
              <a:defRPr sz="1350" b="0">
                <a:solidFill>
                  <a:srgbClr val="64748B"/>
                </a:solidFill>
                <a:latin typeface="Arial"/>
                <a:ea typeface="Arial"/>
                <a:cs typeface="Arial"/>
              </a:defRPr>
            </a:lvl6pPr>
            <a:lvl7pPr>
              <a:defRPr sz="1350" b="0">
                <a:solidFill>
                  <a:srgbClr val="64748B"/>
                </a:solidFill>
                <a:latin typeface="Arial"/>
                <a:ea typeface="Arial"/>
                <a:cs typeface="Arial"/>
              </a:defRPr>
            </a:lvl7pPr>
            <a:lvl8pPr>
              <a:defRPr sz="1350" b="0">
                <a:solidFill>
                  <a:srgbClr val="64748B"/>
                </a:solidFill>
                <a:latin typeface="Arial"/>
                <a:ea typeface="Arial"/>
                <a:cs typeface="Arial"/>
              </a:defRPr>
            </a:lvl8pPr>
            <a:lvl9pPr>
              <a:defRPr sz="1350" b="0">
                <a:solidFill>
                  <a:srgbClr val="64748B"/>
                </a:solidFill>
                <a:latin typeface="Arial"/>
                <a:ea typeface="Arial"/>
                <a:cs typeface="Arial"/>
              </a:defRPr>
            </a:lvl9pPr>
          </a:lstStyle>
          <a:p xmlns:a="http://schemas.openxmlformats.org/drawingml/2006/main">
            <a:pPr>
              <a:defRPr sz="1350" b="0">
                <a:solidFill>
                  <a:srgbClr val="64748B"/>
                </a:solidFill>
                <a:latin typeface="Arial"/>
                <a:ea typeface="Arial"/>
                <a:cs typeface="Arial"/>
              </a:defRPr>
            </a:pPr>
            <a:r>
              <a:rPr sz="1350" b="0">
                <a:solidFill>
                  <a:srgbClr val="64748B"/>
                </a:solidFill>
                <a:latin typeface="Arial"/>
                <a:ea typeface="Arial"/>
                <a:cs typeface="Arial"/>
              </a:rPr>
              <a:t>Apoio 1</a:t>
            </a:r>
          </a:p>
        </p:txBody>
      </p:sp>
      <p:graphicFrame>
        <p:nvGraphicFramePr>
          <p:cNvPr id="3" name="">
            <a:extLst xmlns:a="http://schemas.openxmlformats.org/drawingml/2006/main">
              <a:ext uri="{FF2B5EF4-FFF2-40B4-BE49-F238E27FC236}">
                <a16:creationId xmlns:a16="http://schemas.microsoft.com/office/drawing/2014/main" id="{CC8CE11F-1B8D-45C9-AFB7-72D31227AC25}"/>
              </a:ext>
            </a:extLst>
          </p:cNvPr>
          <p:cNvGraphicFramePr/>
          <p:nvPr/>
        </p:nvGraphicFramePr>
        <p:xfrm>
          <a:off xmlns:a="http://schemas.openxmlformats.org/drawingml/2006/main" x="685800" y="1666875"/>
          <a:ext xmlns:a="http://schemas.openxmlformats.org/drawingml/2006/main" cx="10820400" cy="3857625"/>
        </p:xfrm>
        <a:graphic xmlns:a="http://schemas.openxmlformats.org/drawingml/2006/main">
          <a:graphicData uri="http://schemas.openxmlformats.org/drawingml/2006/table">
            <a:tbl>
              <a:tblPr/>
              <a:tblGrid>
                <a:gridCol w="2019300"/>
                <a:gridCol w="2667000"/>
                <a:gridCol w="3943350"/>
                <a:gridCol w="2190750"/>
              </a:tblGrid>
              <a:tr h="642938">
                <a:tc>
                  <a:txBody>
                    <a:bodyPr>
                      <a:noAutofit/>
                    </a:bodyPr>
                    <a:lstStyle/>
                    <a:p>
                      <a:r>
                        <a:rPr sz="1575" b="1">
                          <a:solidFill>
                            <a:srgbClr val="FFFFFF"/>
                          </a:solidFill>
                          <a:latin typeface="Arial"/>
                          <a:ea typeface="Arial"/>
                          <a:cs typeface="Arial"/>
                        </a:rPr>
                        <a:t>Requisitos</a:t>
                      </a:r>
                    </a:p>
                  </a:txBody>
                  <a:tcPr marL="91440" marR="91440" marT="45720" marB="45720">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575" b="1">
                          <a:solidFill>
                            <a:srgbClr val="FFFFFF"/>
                          </a:solidFill>
                          <a:latin typeface="Arial"/>
                          <a:ea typeface="Arial"/>
                          <a:cs typeface="Arial"/>
                        </a:rPr>
                        <a:t>Esperado</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575" b="1">
                          <a:solidFill>
                            <a:srgbClr val="FFFFFF"/>
                          </a:solidFill>
                          <a:latin typeface="Arial"/>
                          <a:ea typeface="Arial"/>
                          <a:cs typeface="Arial"/>
                        </a:rPr>
                        <a:t>Obtido</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575" b="1">
                          <a:solidFill>
                            <a:srgbClr val="FFFFFF"/>
                          </a:solidFill>
                          <a:latin typeface="Arial"/>
                          <a:ea typeface="Arial"/>
                          <a:cs typeface="Arial"/>
                        </a:rPr>
                        <a:t>Situação</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r>
              <a:tr h="642938">
                <a:tc>
                  <a:txBody>
                    <a:bodyPr>
                      <a:noAutofit/>
                    </a:bodyPr>
                    <a:lstStyle/>
                    <a:p>
                      <a:r>
                        <a:rPr sz="1575" b="0">
                          <a:solidFill>
                            <a:srgbClr val="172B4D"/>
                          </a:solidFill>
                          <a:latin typeface="Arial"/>
                          <a:ea typeface="Arial"/>
                          <a:cs typeface="Arial"/>
                        </a:rPr>
                        <a:t>RF01 a RF10, RF16 e RF17</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575" b="0">
                          <a:solidFill>
                            <a:srgbClr val="172B4D"/>
                          </a:solidFill>
                          <a:latin typeface="Arial"/>
                          <a:ea typeface="Arial"/>
                          <a:cs typeface="Arial"/>
                        </a:rPr>
                        <a:t>Registrar e tratar confirmações e falhas</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575" b="0">
                          <a:solidFill>
                            <a:srgbClr val="172B4D"/>
                          </a:solidFill>
                          <a:latin typeface="Arial"/>
                          <a:ea typeface="Arial"/>
                          <a:cs typeface="Arial"/>
                        </a:rPr>
                        <a:t>Núcleo executado. Testes têm limites</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575" b="0">
                          <a:solidFill>
                            <a:srgbClr val="172B4D"/>
                          </a:solidFill>
                          <a:latin typeface="Arial"/>
                          <a:ea typeface="Arial"/>
                          <a:cs typeface="Arial"/>
                        </a:rPr>
                        <a:t>Atendidos no escopo</a:t>
                      </a:r>
                    </a:p>
                  </a:txBody>
                  <a:tcPr marL="91440" marR="91440" marT="45720" marB="45720">
                    <a:lnR w="9525">
                      <a:solidFill>
                        <a:srgbClr val="CBD5E1"/>
                      </a:solidFill>
                      <a:prstDash val="solid"/>
                    </a:lnR>
                    <a:lnB w="9525">
                      <a:solidFill>
                        <a:srgbClr val="CBD5E1"/>
                      </a:solidFill>
                      <a:prstDash val="solid"/>
                    </a:lnB>
                    <a:solidFill>
                      <a:srgbClr val="FFFFFF"/>
                    </a:solidFill>
                  </a:tcPr>
                </a:tc>
              </a:tr>
              <a:tr h="642938">
                <a:tc>
                  <a:txBody>
                    <a:bodyPr>
                      <a:noAutofit/>
                    </a:bodyPr>
                    <a:lstStyle/>
                    <a:p>
                      <a:r>
                        <a:rPr sz="1575" b="0">
                          <a:solidFill>
                            <a:srgbClr val="172B4D"/>
                          </a:solidFill>
                          <a:latin typeface="Arial"/>
                          <a:ea typeface="Arial"/>
                          <a:cs typeface="Arial"/>
                        </a:rPr>
                        <a:t>RF11 e RNF08</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575" b="0">
                          <a:solidFill>
                            <a:srgbClr val="172B4D"/>
                          </a:solidFill>
                          <a:latin typeface="Arial"/>
                          <a:ea typeface="Arial"/>
                          <a:cs typeface="Arial"/>
                        </a:rPr>
                        <a:t>Evidência temporal completa</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575" b="0">
                          <a:solidFill>
                            <a:srgbClr val="172B4D"/>
                          </a:solidFill>
                          <a:latin typeface="Arial"/>
                          <a:ea typeface="Arial"/>
                          <a:cs typeface="Arial"/>
                        </a:rPr>
                        <a:t>64 completas e uma parcial. Quatro pares na conclusão afetada</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575" b="0">
                          <a:solidFill>
                            <a:srgbClr val="172B4D"/>
                          </a:solidFill>
                          <a:latin typeface="Arial"/>
                          <a:ea typeface="Arial"/>
                          <a:cs typeface="Arial"/>
                        </a:rPr>
                        <a:t>Cobertura parcial</a:t>
                      </a:r>
                    </a:p>
                  </a:txBody>
                  <a:tcPr marL="91440" marR="91440" marT="45720" marB="45720">
                    <a:lnR w="9525">
                      <a:solidFill>
                        <a:srgbClr val="CBD5E1"/>
                      </a:solidFill>
                      <a:prstDash val="solid"/>
                    </a:lnR>
                    <a:lnB w="9525">
                      <a:solidFill>
                        <a:srgbClr val="CBD5E1"/>
                      </a:solidFill>
                      <a:prstDash val="solid"/>
                    </a:lnB>
                    <a:solidFill>
                      <a:srgbClr val="FFFFFF"/>
                    </a:solidFill>
                  </a:tcPr>
                </a:tc>
              </a:tr>
              <a:tr h="642938">
                <a:tc>
                  <a:txBody>
                    <a:bodyPr>
                      <a:noAutofit/>
                    </a:bodyPr>
                    <a:lstStyle/>
                    <a:p>
                      <a:r>
                        <a:rPr sz="1575" b="0">
                          <a:solidFill>
                            <a:srgbClr val="172B4D"/>
                          </a:solidFill>
                          <a:latin typeface="Arial"/>
                          <a:ea typeface="Arial"/>
                          <a:cs typeface="Arial"/>
                        </a:rPr>
                        <a:t>RF12 a RF14</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575" b="0">
                          <a:solidFill>
                            <a:srgbClr val="172B4D"/>
                          </a:solidFill>
                          <a:latin typeface="Arial"/>
                          <a:ea typeface="Arial"/>
                          <a:cs typeface="Arial"/>
                        </a:rPr>
                        <a:t>Executar carga, medir e comparar</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575" b="0">
                          <a:solidFill>
                            <a:srgbClr val="172B4D"/>
                          </a:solidFill>
                          <a:latin typeface="Arial"/>
                          <a:ea typeface="Arial"/>
                          <a:cs typeface="Arial"/>
                        </a:rPr>
                        <a:t>Executor e relatórios implementados</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575" b="0">
                          <a:solidFill>
                            <a:srgbClr val="172B4D"/>
                          </a:solidFill>
                          <a:latin typeface="Arial"/>
                          <a:ea typeface="Arial"/>
                          <a:cs typeface="Arial"/>
                        </a:rPr>
                        <a:t>Atendidos</a:t>
                      </a:r>
                    </a:p>
                  </a:txBody>
                  <a:tcPr marL="91440" marR="91440" marT="45720" marB="45720">
                    <a:lnR w="9525">
                      <a:solidFill>
                        <a:srgbClr val="CBD5E1"/>
                      </a:solidFill>
                      <a:prstDash val="solid"/>
                    </a:lnR>
                    <a:lnB w="9525">
                      <a:solidFill>
                        <a:srgbClr val="CBD5E1"/>
                      </a:solidFill>
                      <a:prstDash val="solid"/>
                    </a:lnB>
                    <a:solidFill>
                      <a:srgbClr val="FFFFFF"/>
                    </a:solidFill>
                  </a:tcPr>
                </a:tc>
              </a:tr>
              <a:tr h="642938">
                <a:tc>
                  <a:txBody>
                    <a:bodyPr>
                      <a:noAutofit/>
                    </a:bodyPr>
                    <a:lstStyle/>
                    <a:p>
                      <a:r>
                        <a:rPr sz="1575" b="0">
                          <a:solidFill>
                            <a:srgbClr val="172B4D"/>
                          </a:solidFill>
                          <a:latin typeface="Arial"/>
                          <a:ea typeface="Arial"/>
                          <a:cs typeface="Arial"/>
                        </a:rPr>
                        <a:t>RF15</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575" b="0">
                          <a:solidFill>
                            <a:srgbClr val="172B4D"/>
                          </a:solidFill>
                          <a:latin typeface="Arial"/>
                          <a:ea typeface="Arial"/>
                          <a:cs typeface="Arial"/>
                        </a:rPr>
                        <a:t>Envio interativo e formulário próprio</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575" b="0">
                          <a:solidFill>
                            <a:srgbClr val="172B4D"/>
                          </a:solidFill>
                          <a:latin typeface="Arial"/>
                          <a:ea typeface="Arial"/>
                          <a:cs typeface="Arial"/>
                        </a:rPr>
                        <a:t>Swagger entregue. Formulário próprio não construído</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575" b="0">
                          <a:solidFill>
                            <a:srgbClr val="172B4D"/>
                          </a:solidFill>
                          <a:latin typeface="Arial"/>
                          <a:ea typeface="Arial"/>
                          <a:cs typeface="Arial"/>
                        </a:rPr>
                        <a:t>Parcial</a:t>
                      </a:r>
                    </a:p>
                  </a:txBody>
                  <a:tcPr marL="91440" marR="91440" marT="45720" marB="45720">
                    <a:lnR w="9525">
                      <a:solidFill>
                        <a:srgbClr val="CBD5E1"/>
                      </a:solidFill>
                      <a:prstDash val="solid"/>
                    </a:lnR>
                    <a:lnB w="9525">
                      <a:solidFill>
                        <a:srgbClr val="CBD5E1"/>
                      </a:solidFill>
                      <a:prstDash val="solid"/>
                    </a:lnB>
                    <a:solidFill>
                      <a:srgbClr val="FFFFFF"/>
                    </a:solidFill>
                  </a:tcPr>
                </a:tc>
              </a:tr>
              <a:tr h="642938">
                <a:tc>
                  <a:txBody>
                    <a:bodyPr>
                      <a:noAutofit/>
                    </a:bodyPr>
                    <a:lstStyle/>
                    <a:p>
                      <a:r>
                        <a:rPr sz="1575" b="0">
                          <a:solidFill>
                            <a:srgbClr val="172B4D"/>
                          </a:solidFill>
                          <a:latin typeface="Arial"/>
                          <a:ea typeface="Arial"/>
                          <a:cs typeface="Arial"/>
                        </a:rPr>
                        <a:t>RNF03, RNF04 e RNF09</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575" b="0">
                          <a:solidFill>
                            <a:srgbClr val="172B4D"/>
                          </a:solidFill>
                          <a:latin typeface="Arial"/>
                          <a:ea typeface="Arial"/>
                          <a:cs typeface="Arial"/>
                        </a:rPr>
                        <a:t>Segurança, portabilidade e escala</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575" b="0">
                          <a:solidFill>
                            <a:srgbClr val="172B4D"/>
                          </a:solidFill>
                          <a:latin typeface="Arial"/>
                          <a:ea typeface="Arial"/>
                          <a:cs typeface="Arial"/>
                        </a:rPr>
                        <a:t>Ambiente local. Sem ensaio externo ou horizontal</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575" b="0">
                          <a:solidFill>
                            <a:srgbClr val="172B4D"/>
                          </a:solidFill>
                          <a:latin typeface="Arial"/>
                          <a:ea typeface="Arial"/>
                          <a:cs typeface="Arial"/>
                        </a:rPr>
                        <a:t>Limites de demonstração</a:t>
                      </a:r>
                    </a:p>
                  </a:txBody>
                  <a:tcPr marL="91440" marR="91440" marT="45720" marB="45720">
                    <a:lnR w="9525">
                      <a:solidFill>
                        <a:srgbClr val="CBD5E1"/>
                      </a:solidFill>
                      <a:prstDash val="solid"/>
                    </a:lnR>
                    <a:lnB w="9525">
                      <a:solidFill>
                        <a:srgbClr val="CBD5E1"/>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2F563E9-1CB1-4AB3-BFBE-CA0F279D78BA}"/>
              </a:ext>
            </a:extLst>
          </p:cNvPr>
          <p:cNvSpPr>
            <a:spLocks xmlns:a="http://schemas.openxmlformats.org/drawingml/2006/main" noGrp="1"/>
          </p:cNvSpPr>
          <p:nvPr/>
        </p:nvSpPr>
        <p:spPr>
          <a:xfrm xmlns:a="http://schemas.openxmlformats.org/drawingml/2006/main">
            <a:off x="685800" y="56673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75569"/>
                </a:solidFill>
                <a:latin typeface="Arial"/>
                <a:ea typeface="Arial"/>
                <a:cs typeface="Arial"/>
              </a:defRPr>
            </a:defPPr>
            <a:lvl1pPr>
              <a:defRPr sz="1650" b="0">
                <a:solidFill>
                  <a:srgbClr val="475569"/>
                </a:solidFill>
                <a:latin typeface="Arial"/>
                <a:ea typeface="Arial"/>
                <a:cs typeface="Arial"/>
              </a:defRPr>
            </a:lvl1pPr>
            <a:lvl2pPr>
              <a:defRPr sz="1650" b="0">
                <a:solidFill>
                  <a:srgbClr val="475569"/>
                </a:solidFill>
                <a:latin typeface="Arial"/>
                <a:ea typeface="Arial"/>
                <a:cs typeface="Arial"/>
              </a:defRPr>
            </a:lvl2pPr>
            <a:lvl3pPr>
              <a:defRPr sz="1650" b="0">
                <a:solidFill>
                  <a:srgbClr val="475569"/>
                </a:solidFill>
                <a:latin typeface="Arial"/>
                <a:ea typeface="Arial"/>
                <a:cs typeface="Arial"/>
              </a:defRPr>
            </a:lvl3pPr>
            <a:lvl4pPr>
              <a:defRPr sz="1650" b="0">
                <a:solidFill>
                  <a:srgbClr val="475569"/>
                </a:solidFill>
                <a:latin typeface="Arial"/>
                <a:ea typeface="Arial"/>
                <a:cs typeface="Arial"/>
              </a:defRPr>
            </a:lvl4pPr>
            <a:lvl5pPr>
              <a:defRPr sz="1650" b="0">
                <a:solidFill>
                  <a:srgbClr val="475569"/>
                </a:solidFill>
                <a:latin typeface="Arial"/>
                <a:ea typeface="Arial"/>
                <a:cs typeface="Arial"/>
              </a:defRPr>
            </a:lvl5pPr>
            <a:lvl6pPr>
              <a:defRPr sz="1650" b="0">
                <a:solidFill>
                  <a:srgbClr val="475569"/>
                </a:solidFill>
                <a:latin typeface="Arial"/>
                <a:ea typeface="Arial"/>
                <a:cs typeface="Arial"/>
              </a:defRPr>
            </a:lvl6pPr>
            <a:lvl7pPr>
              <a:defRPr sz="1650" b="0">
                <a:solidFill>
                  <a:srgbClr val="475569"/>
                </a:solidFill>
                <a:latin typeface="Arial"/>
                <a:ea typeface="Arial"/>
                <a:cs typeface="Arial"/>
              </a:defRPr>
            </a:lvl7pPr>
            <a:lvl8pPr>
              <a:defRPr sz="1650" b="0">
                <a:solidFill>
                  <a:srgbClr val="475569"/>
                </a:solidFill>
                <a:latin typeface="Arial"/>
                <a:ea typeface="Arial"/>
                <a:cs typeface="Arial"/>
              </a:defRPr>
            </a:lvl8pPr>
            <a:lvl9pPr>
              <a:defRPr sz="1650" b="0">
                <a:solidFill>
                  <a:srgbClr val="475569"/>
                </a:solidFill>
                <a:latin typeface="Arial"/>
                <a:ea typeface="Arial"/>
                <a:cs typeface="Arial"/>
              </a:defRPr>
            </a:lvl9pPr>
          </a:lstStyle>
          <a:p xmlns:a="http://schemas.openxmlformats.org/drawingml/2006/main">
            <a:pPr>
              <a:defRPr sz="1650" b="0">
                <a:solidFill>
                  <a:srgbClr val="475569"/>
                </a:solidFill>
                <a:latin typeface="Arial"/>
                <a:ea typeface="Arial"/>
                <a:cs typeface="Arial"/>
              </a:defRPr>
            </a:pPr>
            <a:r>
              <a:rPr sz="1650" b="0">
                <a:solidFill>
                  <a:srgbClr val="475569"/>
                </a:solidFill>
                <a:latin typeface="Arial"/>
                <a:ea typeface="Arial"/>
                <a:cs typeface="Arial"/>
              </a:rPr>
              <a:t>Síntese da matriz de 17 requisitos funcionais e 10 não funcionais do TCC.</a:t>
            </a:r>
          </a:p>
          <a:p xmlns:a="http://schemas.openxmlformats.org/drawingml/2006/main">
            <a:pPr>
              <a:defRPr sz="1650" b="0">
                <a:solidFill>
                  <a:srgbClr val="475569"/>
                </a:solidFill>
                <a:latin typeface="Arial"/>
                <a:ea typeface="Arial"/>
                <a:cs typeface="Arial"/>
              </a:defRPr>
            </a:pPr>
            <a:r>
              <a:rPr sz="1650" b="0">
                <a:solidFill>
                  <a:srgbClr val="475569"/>
                </a:solidFill>
                <a:latin typeface="Arial"/>
                <a:ea typeface="Arial"/>
                <a:cs typeface="Arial"/>
              </a:rPr>
              <a:t>Implementação não significa prova exaustiva de todos os modos de falha.</a:t>
            </a:r>
          </a:p>
        </p:txBody>
      </p:sp>
    </p:spTree>
    <p:extLst>
      <p:ext uri="{BB962C8B-B14F-4D97-AF65-F5344CB8AC3E}">
        <p14:creationId xmlns:p14="http://schemas.microsoft.com/office/powerpoint/2010/main" val="156769582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A1AE501-903A-4DE6-B4C3-0EAE37909A94}"/>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72B4D"/>
                </a:solidFill>
                <a:latin typeface="Arial"/>
                <a:ea typeface="Arial"/>
                <a:cs typeface="Arial"/>
              </a:defRPr>
            </a:defPPr>
            <a:lvl1pPr>
              <a:defRPr sz="2850" b="1">
                <a:solidFill>
                  <a:srgbClr val="172B4D"/>
                </a:solidFill>
                <a:latin typeface="Arial"/>
                <a:ea typeface="Arial"/>
                <a:cs typeface="Arial"/>
              </a:defRPr>
            </a:lvl1pPr>
            <a:lvl2pPr>
              <a:defRPr sz="2850" b="1">
                <a:solidFill>
                  <a:srgbClr val="172B4D"/>
                </a:solidFill>
                <a:latin typeface="Arial"/>
                <a:ea typeface="Arial"/>
                <a:cs typeface="Arial"/>
              </a:defRPr>
            </a:lvl2pPr>
            <a:lvl3pPr>
              <a:defRPr sz="2850" b="1">
                <a:solidFill>
                  <a:srgbClr val="172B4D"/>
                </a:solidFill>
                <a:latin typeface="Arial"/>
                <a:ea typeface="Arial"/>
                <a:cs typeface="Arial"/>
              </a:defRPr>
            </a:lvl3pPr>
            <a:lvl4pPr>
              <a:defRPr sz="2850" b="1">
                <a:solidFill>
                  <a:srgbClr val="172B4D"/>
                </a:solidFill>
                <a:latin typeface="Arial"/>
                <a:ea typeface="Arial"/>
                <a:cs typeface="Arial"/>
              </a:defRPr>
            </a:lvl4pPr>
            <a:lvl5pPr>
              <a:defRPr sz="2850" b="1">
                <a:solidFill>
                  <a:srgbClr val="172B4D"/>
                </a:solidFill>
                <a:latin typeface="Arial"/>
                <a:ea typeface="Arial"/>
                <a:cs typeface="Arial"/>
              </a:defRPr>
            </a:lvl5pPr>
            <a:lvl6pPr>
              <a:defRPr sz="2850" b="1">
                <a:solidFill>
                  <a:srgbClr val="172B4D"/>
                </a:solidFill>
                <a:latin typeface="Arial"/>
                <a:ea typeface="Arial"/>
                <a:cs typeface="Arial"/>
              </a:defRPr>
            </a:lvl6pPr>
            <a:lvl7pPr>
              <a:defRPr sz="2850" b="1">
                <a:solidFill>
                  <a:srgbClr val="172B4D"/>
                </a:solidFill>
                <a:latin typeface="Arial"/>
                <a:ea typeface="Arial"/>
                <a:cs typeface="Arial"/>
              </a:defRPr>
            </a:lvl7pPr>
            <a:lvl8pPr>
              <a:defRPr sz="2850" b="1">
                <a:solidFill>
                  <a:srgbClr val="172B4D"/>
                </a:solidFill>
                <a:latin typeface="Arial"/>
                <a:ea typeface="Arial"/>
                <a:cs typeface="Arial"/>
              </a:defRPr>
            </a:lvl8pPr>
            <a:lvl9pPr>
              <a:defRPr sz="2850" b="1">
                <a:solidFill>
                  <a:srgbClr val="172B4D"/>
                </a:solidFill>
                <a:latin typeface="Arial"/>
                <a:ea typeface="Arial"/>
                <a:cs typeface="Arial"/>
              </a:defRPr>
            </a:lvl9pPr>
          </a:lstStyle>
          <a:p xmlns:a="http://schemas.openxmlformats.org/drawingml/2006/main">
            <a:pPr>
              <a:defRPr sz="2850" b="1">
                <a:solidFill>
                  <a:srgbClr val="172B4D"/>
                </a:solidFill>
                <a:latin typeface="Arial"/>
                <a:ea typeface="Arial"/>
                <a:cs typeface="Arial"/>
              </a:defRPr>
            </a:pPr>
            <a:r>
              <a:rPr sz="2850" b="1">
                <a:solidFill>
                  <a:srgbClr val="172B4D"/>
                </a:solidFill>
                <a:latin typeface="Arial"/>
                <a:ea typeface="Arial"/>
                <a:cs typeface="Arial"/>
              </a:rPr>
              <a:t>Recuperação operacional após separar a fila de falhas</a:t>
            </a:r>
          </a:p>
        </p:txBody>
      </p:sp>
      <p:sp>
        <p:nvSpPr>
          <p:cNvPr id="2" name="">
            <a:extLst xmlns:a="http://schemas.openxmlformats.org/drawingml/2006/main">
              <a:ext uri="{FF2B5EF4-FFF2-40B4-BE49-F238E27FC236}">
                <a16:creationId xmlns:a16="http://schemas.microsoft.com/office/drawing/2014/main" id="{FD2F186E-9D52-4337-8EE0-E29E8D4B5257}"/>
              </a:ext>
            </a:extLst>
          </p:cNvPr>
          <p:cNvSpPr>
            <a:spLocks xmlns:a="http://schemas.openxmlformats.org/drawingml/2006/main" noGrp="1"/>
          </p:cNvSpPr>
          <p:nvPr/>
        </p:nvSpPr>
        <p:spPr>
          <a:xfrm xmlns:a="http://schemas.openxmlformats.org/drawingml/2006/main">
            <a:off x="10382250" y="62388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4748B"/>
                </a:solidFill>
                <a:latin typeface="Arial"/>
                <a:ea typeface="Arial"/>
                <a:cs typeface="Arial"/>
              </a:defRPr>
            </a:defPPr>
            <a:lvl1pPr>
              <a:defRPr sz="1350" b="0">
                <a:solidFill>
                  <a:srgbClr val="64748B"/>
                </a:solidFill>
                <a:latin typeface="Arial"/>
                <a:ea typeface="Arial"/>
                <a:cs typeface="Arial"/>
              </a:defRPr>
            </a:lvl1pPr>
            <a:lvl2pPr>
              <a:defRPr sz="1350" b="0">
                <a:solidFill>
                  <a:srgbClr val="64748B"/>
                </a:solidFill>
                <a:latin typeface="Arial"/>
                <a:ea typeface="Arial"/>
                <a:cs typeface="Arial"/>
              </a:defRPr>
            </a:lvl2pPr>
            <a:lvl3pPr>
              <a:defRPr sz="1350" b="0">
                <a:solidFill>
                  <a:srgbClr val="64748B"/>
                </a:solidFill>
                <a:latin typeface="Arial"/>
                <a:ea typeface="Arial"/>
                <a:cs typeface="Arial"/>
              </a:defRPr>
            </a:lvl3pPr>
            <a:lvl4pPr>
              <a:defRPr sz="1350" b="0">
                <a:solidFill>
                  <a:srgbClr val="64748B"/>
                </a:solidFill>
                <a:latin typeface="Arial"/>
                <a:ea typeface="Arial"/>
                <a:cs typeface="Arial"/>
              </a:defRPr>
            </a:lvl4pPr>
            <a:lvl5pPr>
              <a:defRPr sz="1350" b="0">
                <a:solidFill>
                  <a:srgbClr val="64748B"/>
                </a:solidFill>
                <a:latin typeface="Arial"/>
                <a:ea typeface="Arial"/>
                <a:cs typeface="Arial"/>
              </a:defRPr>
            </a:lvl5pPr>
            <a:lvl6pPr>
              <a:defRPr sz="1350" b="0">
                <a:solidFill>
                  <a:srgbClr val="64748B"/>
                </a:solidFill>
                <a:latin typeface="Arial"/>
                <a:ea typeface="Arial"/>
                <a:cs typeface="Arial"/>
              </a:defRPr>
            </a:lvl6pPr>
            <a:lvl7pPr>
              <a:defRPr sz="1350" b="0">
                <a:solidFill>
                  <a:srgbClr val="64748B"/>
                </a:solidFill>
                <a:latin typeface="Arial"/>
                <a:ea typeface="Arial"/>
                <a:cs typeface="Arial"/>
              </a:defRPr>
            </a:lvl7pPr>
            <a:lvl8pPr>
              <a:defRPr sz="1350" b="0">
                <a:solidFill>
                  <a:srgbClr val="64748B"/>
                </a:solidFill>
                <a:latin typeface="Arial"/>
                <a:ea typeface="Arial"/>
                <a:cs typeface="Arial"/>
              </a:defRPr>
            </a:lvl8pPr>
            <a:lvl9pPr>
              <a:defRPr sz="1350" b="0">
                <a:solidFill>
                  <a:srgbClr val="64748B"/>
                </a:solidFill>
                <a:latin typeface="Arial"/>
                <a:ea typeface="Arial"/>
                <a:cs typeface="Arial"/>
              </a:defRPr>
            </a:lvl9pPr>
          </a:lstStyle>
          <a:p xmlns:a="http://schemas.openxmlformats.org/drawingml/2006/main">
            <a:pPr>
              <a:defRPr sz="1350" b="0">
                <a:solidFill>
                  <a:srgbClr val="64748B"/>
                </a:solidFill>
                <a:latin typeface="Arial"/>
                <a:ea typeface="Arial"/>
                <a:cs typeface="Arial"/>
              </a:defRPr>
            </a:pPr>
            <a:r>
              <a:rPr sz="1350" b="0">
                <a:solidFill>
                  <a:srgbClr val="64748B"/>
                </a:solidFill>
                <a:latin typeface="Arial"/>
                <a:ea typeface="Arial"/>
                <a:cs typeface="Arial"/>
              </a:rPr>
              <a:t>Apoio 2</a:t>
            </a:r>
          </a:p>
        </p:txBody>
      </p:sp>
      <p:graphicFrame>
        <p:nvGraphicFramePr>
          <p:cNvPr id="3" name="">
            <a:extLst xmlns:a="http://schemas.openxmlformats.org/drawingml/2006/main">
              <a:ext uri="{FF2B5EF4-FFF2-40B4-BE49-F238E27FC236}">
                <a16:creationId xmlns:a16="http://schemas.microsoft.com/office/drawing/2014/main" id="{9E5DA405-3220-42B1-9620-91EA508204E2}"/>
              </a:ext>
            </a:extLst>
          </p:cNvPr>
          <p:cNvGraphicFramePr/>
          <p:nvPr/>
        </p:nvGraphicFramePr>
        <p:xfrm>
          <a:off xmlns:a="http://schemas.openxmlformats.org/drawingml/2006/main" x="685800" y="1666875"/>
          <a:ext xmlns:a="http://schemas.openxmlformats.org/drawingml/2006/main" cx="10820400" cy="3286125"/>
        </p:xfrm>
        <a:graphic xmlns:a="http://schemas.openxmlformats.org/drawingml/2006/main">
          <a:graphicData uri="http://schemas.openxmlformats.org/drawingml/2006/table">
            <a:tbl>
              <a:tblPr/>
              <a:tblGrid>
                <a:gridCol w="4152900"/>
                <a:gridCol w="1333500"/>
                <a:gridCol w="1333500"/>
                <a:gridCol w="1333500"/>
                <a:gridCol w="1333500"/>
                <a:gridCol w="1333500"/>
              </a:tblGrid>
              <a:tr h="657225">
                <a:tc>
                  <a:txBody>
                    <a:bodyPr>
                      <a:noAutofit/>
                    </a:bodyPr>
                    <a:lstStyle/>
                    <a:p>
                      <a:r>
                        <a:rPr sz="1800" b="1">
                          <a:solidFill>
                            <a:srgbClr val="FFFFFF"/>
                          </a:solidFill>
                          <a:latin typeface="Arial"/>
                          <a:ea typeface="Arial"/>
                          <a:cs typeface="Arial"/>
                        </a:rPr>
                        <a:t>Indicador</a:t>
                      </a:r>
                    </a:p>
                  </a:txBody>
                  <a:tcPr marL="91440" marR="91440" marT="45720" marB="45720">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800" b="1">
                          <a:solidFill>
                            <a:srgbClr val="FFFFFF"/>
                          </a:solidFill>
                          <a:latin typeface="Arial"/>
                          <a:ea typeface="Arial"/>
                          <a:cs typeface="Arial"/>
                        </a:rPr>
                        <a:t>1</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800" b="1">
                          <a:solidFill>
                            <a:srgbClr val="FFFFFF"/>
                          </a:solidFill>
                          <a:latin typeface="Arial"/>
                          <a:ea typeface="Arial"/>
                          <a:cs typeface="Arial"/>
                        </a:rPr>
                        <a:t>2</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800" b="1">
                          <a:solidFill>
                            <a:srgbClr val="FFFFFF"/>
                          </a:solidFill>
                          <a:latin typeface="Arial"/>
                          <a:ea typeface="Arial"/>
                          <a:cs typeface="Arial"/>
                        </a:rPr>
                        <a:t>3</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800" b="1">
                          <a:solidFill>
                            <a:srgbClr val="FFFFFF"/>
                          </a:solidFill>
                          <a:latin typeface="Arial"/>
                          <a:ea typeface="Arial"/>
                          <a:cs typeface="Arial"/>
                        </a:rPr>
                        <a:t>4</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800" b="1">
                          <a:solidFill>
                            <a:srgbClr val="FFFFFF"/>
                          </a:solidFill>
                          <a:latin typeface="Arial"/>
                          <a:ea typeface="Arial"/>
                          <a:cs typeface="Arial"/>
                        </a:rPr>
                        <a:t>5</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r>
              <a:tr h="657225">
                <a:tc>
                  <a:txBody>
                    <a:bodyPr>
                      <a:noAutofit/>
                    </a:bodyPr>
                    <a:lstStyle/>
                    <a:p>
                      <a:r>
                        <a:rPr sz="1800" b="0">
                          <a:solidFill>
                            <a:srgbClr val="172B4D"/>
                          </a:solidFill>
                          <a:latin typeface="Arial"/>
                          <a:ea typeface="Arial"/>
                          <a:cs typeface="Arial"/>
                        </a:rPr>
                        <a:t>Eventos terminais na DLQ</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3</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3</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3</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3</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2</a:t>
                      </a:r>
                    </a:p>
                  </a:txBody>
                  <a:tcPr marL="91440" marR="91440" marT="45720" marB="45720">
                    <a:lnR w="9525">
                      <a:solidFill>
                        <a:srgbClr val="CBD5E1"/>
                      </a:solidFill>
                      <a:prstDash val="solid"/>
                    </a:lnR>
                    <a:lnB w="9525">
                      <a:solidFill>
                        <a:srgbClr val="CBD5E1"/>
                      </a:solidFill>
                      <a:prstDash val="solid"/>
                    </a:lnB>
                    <a:solidFill>
                      <a:srgbClr val="FFFFFF"/>
                    </a:solidFill>
                  </a:tcPr>
                </a:tc>
              </a:tr>
              <a:tr h="657225">
                <a:tc>
                  <a:txBody>
                    <a:bodyPr>
                      <a:noAutofit/>
                    </a:bodyPr>
                    <a:lstStyle/>
                    <a:p>
                      <a:r>
                        <a:rPr sz="1800" b="0">
                          <a:solidFill>
                            <a:srgbClr val="172B4D"/>
                          </a:solidFill>
                          <a:latin typeface="Arial"/>
                          <a:ea typeface="Arial"/>
                          <a:cs typeface="Arial"/>
                        </a:rPr>
                        <a:t>Critério original observado</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Não</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Não</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Não</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Não</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Sim</a:t>
                      </a:r>
                    </a:p>
                  </a:txBody>
                  <a:tcPr marL="91440" marR="91440" marT="45720" marB="45720">
                    <a:lnR w="9525">
                      <a:solidFill>
                        <a:srgbClr val="CBD5E1"/>
                      </a:solidFill>
                      <a:prstDash val="solid"/>
                    </a:lnR>
                    <a:lnB w="9525">
                      <a:solidFill>
                        <a:srgbClr val="CBD5E1"/>
                      </a:solidFill>
                      <a:prstDash val="solid"/>
                    </a:lnB>
                    <a:solidFill>
                      <a:srgbClr val="FFFFFF"/>
                    </a:solidFill>
                  </a:tcPr>
                </a:tc>
              </a:tr>
              <a:tr h="657225">
                <a:tc>
                  <a:txBody>
                    <a:bodyPr>
                      <a:noAutofit/>
                    </a:bodyPr>
                    <a:lstStyle/>
                    <a:p>
                      <a:r>
                        <a:rPr sz="1800" b="0">
                          <a:solidFill>
                            <a:srgbClr val="172B4D"/>
                          </a:solidFill>
                          <a:latin typeface="Arial"/>
                          <a:ea typeface="Arial"/>
                          <a:cs typeface="Arial"/>
                        </a:rPr>
                        <a:t>Leitura exploratória observada</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Sim</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Sim</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Sim</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Sim</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Sim</a:t>
                      </a:r>
                    </a:p>
                  </a:txBody>
                  <a:tcPr marL="91440" marR="91440" marT="45720" marB="45720">
                    <a:lnR w="9525">
                      <a:solidFill>
                        <a:srgbClr val="CBD5E1"/>
                      </a:solidFill>
                      <a:prstDash val="solid"/>
                    </a:lnR>
                    <a:lnB w="9525">
                      <a:solidFill>
                        <a:srgbClr val="CBD5E1"/>
                      </a:solidFill>
                      <a:prstDash val="solid"/>
                    </a:lnB>
                    <a:solidFill>
                      <a:srgbClr val="FFFFFF"/>
                    </a:solidFill>
                  </a:tcPr>
                </a:tc>
              </a:tr>
              <a:tr h="657225">
                <a:tc>
                  <a:txBody>
                    <a:bodyPr>
                      <a:noAutofit/>
                    </a:bodyPr>
                    <a:lstStyle/>
                    <a:p>
                      <a:r>
                        <a:rPr sz="1800" b="0">
                          <a:solidFill>
                            <a:srgbClr val="172B4D"/>
                          </a:solidFill>
                          <a:latin typeface="Arial"/>
                          <a:ea typeface="Arial"/>
                          <a:cs typeface="Arial"/>
                        </a:rPr>
                        <a:t>Confirmação exploratória (s)</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38,77</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37,78</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38,52</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38,26</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38,71</a:t>
                      </a:r>
                    </a:p>
                  </a:txBody>
                  <a:tcPr marL="91440" marR="91440" marT="45720" marB="45720">
                    <a:lnR w="9525">
                      <a:solidFill>
                        <a:srgbClr val="CBD5E1"/>
                      </a:solidFill>
                      <a:prstDash val="solid"/>
                    </a:lnR>
                    <a:lnB w="9525">
                      <a:solidFill>
                        <a:srgbClr val="CBD5E1"/>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F90BC4F-1157-4BBE-8B74-F1DAD7A56CA7}"/>
              </a:ext>
            </a:extLst>
          </p:cNvPr>
          <p:cNvSpPr>
            <a:spLocks xmlns:a="http://schemas.openxmlformats.org/drawingml/2006/main" noGrp="1"/>
          </p:cNvSpPr>
          <p:nvPr/>
        </p:nvSpPr>
        <p:spPr>
          <a:xfrm xmlns:a="http://schemas.openxmlformats.org/drawingml/2006/main">
            <a:off x="685800" y="52387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75569"/>
                </a:solidFill>
                <a:latin typeface="Arial"/>
                <a:ea typeface="Arial"/>
                <a:cs typeface="Arial"/>
              </a:defRPr>
            </a:defPPr>
            <a:lvl1pPr>
              <a:defRPr sz="1650" b="0">
                <a:solidFill>
                  <a:srgbClr val="475569"/>
                </a:solidFill>
                <a:latin typeface="Arial"/>
                <a:ea typeface="Arial"/>
                <a:cs typeface="Arial"/>
              </a:defRPr>
            </a:lvl1pPr>
            <a:lvl2pPr>
              <a:defRPr sz="1650" b="0">
                <a:solidFill>
                  <a:srgbClr val="475569"/>
                </a:solidFill>
                <a:latin typeface="Arial"/>
                <a:ea typeface="Arial"/>
                <a:cs typeface="Arial"/>
              </a:defRPr>
            </a:lvl2pPr>
            <a:lvl3pPr>
              <a:defRPr sz="1650" b="0">
                <a:solidFill>
                  <a:srgbClr val="475569"/>
                </a:solidFill>
                <a:latin typeface="Arial"/>
                <a:ea typeface="Arial"/>
                <a:cs typeface="Arial"/>
              </a:defRPr>
            </a:lvl3pPr>
            <a:lvl4pPr>
              <a:defRPr sz="1650" b="0">
                <a:solidFill>
                  <a:srgbClr val="475569"/>
                </a:solidFill>
                <a:latin typeface="Arial"/>
                <a:ea typeface="Arial"/>
                <a:cs typeface="Arial"/>
              </a:defRPr>
            </a:lvl4pPr>
            <a:lvl5pPr>
              <a:defRPr sz="1650" b="0">
                <a:solidFill>
                  <a:srgbClr val="475569"/>
                </a:solidFill>
                <a:latin typeface="Arial"/>
                <a:ea typeface="Arial"/>
                <a:cs typeface="Arial"/>
              </a:defRPr>
            </a:lvl5pPr>
            <a:lvl6pPr>
              <a:defRPr sz="1650" b="0">
                <a:solidFill>
                  <a:srgbClr val="475569"/>
                </a:solidFill>
                <a:latin typeface="Arial"/>
                <a:ea typeface="Arial"/>
                <a:cs typeface="Arial"/>
              </a:defRPr>
            </a:lvl6pPr>
            <a:lvl7pPr>
              <a:defRPr sz="1650" b="0">
                <a:solidFill>
                  <a:srgbClr val="475569"/>
                </a:solidFill>
                <a:latin typeface="Arial"/>
                <a:ea typeface="Arial"/>
                <a:cs typeface="Arial"/>
              </a:defRPr>
            </a:lvl7pPr>
            <a:lvl8pPr>
              <a:defRPr sz="1650" b="0">
                <a:solidFill>
                  <a:srgbClr val="475569"/>
                </a:solidFill>
                <a:latin typeface="Arial"/>
                <a:ea typeface="Arial"/>
                <a:cs typeface="Arial"/>
              </a:defRPr>
            </a:lvl8pPr>
            <a:lvl9pPr>
              <a:defRPr sz="1650" b="0">
                <a:solidFill>
                  <a:srgbClr val="475569"/>
                </a:solidFill>
                <a:latin typeface="Arial"/>
                <a:ea typeface="Arial"/>
                <a:cs typeface="Arial"/>
              </a:defRPr>
            </a:lvl9pPr>
          </a:lstStyle>
          <a:p xmlns:a="http://schemas.openxmlformats.org/drawingml/2006/main">
            <a:pPr>
              <a:defRPr sz="1650" b="0">
                <a:solidFill>
                  <a:srgbClr val="475569"/>
                </a:solidFill>
                <a:latin typeface="Arial"/>
                <a:ea typeface="Arial"/>
                <a:cs typeface="Arial"/>
              </a:defRPr>
            </a:pPr>
            <a:r>
              <a:rPr sz="1650" b="0">
                <a:solidFill>
                  <a:srgbClr val="475569"/>
                </a:solidFill>
                <a:latin typeface="Arial"/>
                <a:ea typeface="Arial"/>
                <a:cs typeface="Arial"/>
              </a:rPr>
              <a:t>Análise exploratória pós-hoc, sem nova carga. Só a pendência muda.</a:t>
            </a:r>
          </a:p>
          <a:p xmlns:a="http://schemas.openxmlformats.org/drawingml/2006/main">
            <a:pPr>
              <a:defRPr sz="1650" b="0">
                <a:solidFill>
                  <a:srgbClr val="475569"/>
                </a:solidFill>
                <a:latin typeface="Arial"/>
                <a:ea typeface="Arial"/>
                <a:cs typeface="Arial"/>
              </a:defRPr>
            </a:pPr>
            <a:r>
              <a:rPr sz="1650" b="0">
                <a:solidFill>
                  <a:srgbClr val="475569"/>
                </a:solidFill>
                <a:latin typeface="Arial"/>
                <a:ea typeface="Arial"/>
                <a:cs typeface="Arial"/>
              </a:rPr>
              <a:t>As três janelas, vazão, erros, saúde, lag e entrada ativa permanecem exigidos.</a:t>
            </a:r>
          </a:p>
          <a:p xmlns:a="http://schemas.openxmlformats.org/drawingml/2006/main">
            <a:pPr>
              <a:defRPr sz="1650" b="0">
                <a:solidFill>
                  <a:srgbClr val="475569"/>
                </a:solidFill>
                <a:latin typeface="Arial"/>
                <a:ea typeface="Arial"/>
                <a:cs typeface="Arial"/>
              </a:defRPr>
            </a:pPr>
            <a:r>
              <a:rPr sz="1650" b="0">
                <a:solidFill>
                  <a:srgbClr val="475569"/>
                </a:solidFill>
                <a:latin typeface="Arial"/>
                <a:ea typeface="Arial"/>
                <a:cs typeface="Arial"/>
              </a:rPr>
              <a:t>Os 14 eventos na DLQ continuam sem persistência.</a:t>
            </a:r>
          </a:p>
        </p:txBody>
      </p:sp>
    </p:spTree>
    <p:extLst>
      <p:ext uri="{BB962C8B-B14F-4D97-AF65-F5344CB8AC3E}">
        <p14:creationId xmlns:p14="http://schemas.microsoft.com/office/powerpoint/2010/main" val="133459005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B1365A6-5EFC-44AD-BDBE-7FD65E8E2C00}"/>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72B4D"/>
                </a:solidFill>
                <a:latin typeface="Arial"/>
                <a:ea typeface="Arial"/>
                <a:cs typeface="Arial"/>
              </a:defRPr>
            </a:defPPr>
            <a:lvl1pPr>
              <a:defRPr sz="2850" b="1">
                <a:solidFill>
                  <a:srgbClr val="172B4D"/>
                </a:solidFill>
                <a:latin typeface="Arial"/>
                <a:ea typeface="Arial"/>
                <a:cs typeface="Arial"/>
              </a:defRPr>
            </a:lvl1pPr>
            <a:lvl2pPr>
              <a:defRPr sz="2850" b="1">
                <a:solidFill>
                  <a:srgbClr val="172B4D"/>
                </a:solidFill>
                <a:latin typeface="Arial"/>
                <a:ea typeface="Arial"/>
                <a:cs typeface="Arial"/>
              </a:defRPr>
            </a:lvl2pPr>
            <a:lvl3pPr>
              <a:defRPr sz="2850" b="1">
                <a:solidFill>
                  <a:srgbClr val="172B4D"/>
                </a:solidFill>
                <a:latin typeface="Arial"/>
                <a:ea typeface="Arial"/>
                <a:cs typeface="Arial"/>
              </a:defRPr>
            </a:lvl3pPr>
            <a:lvl4pPr>
              <a:defRPr sz="2850" b="1">
                <a:solidFill>
                  <a:srgbClr val="172B4D"/>
                </a:solidFill>
                <a:latin typeface="Arial"/>
                <a:ea typeface="Arial"/>
                <a:cs typeface="Arial"/>
              </a:defRPr>
            </a:lvl4pPr>
            <a:lvl5pPr>
              <a:defRPr sz="2850" b="1">
                <a:solidFill>
                  <a:srgbClr val="172B4D"/>
                </a:solidFill>
                <a:latin typeface="Arial"/>
                <a:ea typeface="Arial"/>
                <a:cs typeface="Arial"/>
              </a:defRPr>
            </a:lvl5pPr>
            <a:lvl6pPr>
              <a:defRPr sz="2850" b="1">
                <a:solidFill>
                  <a:srgbClr val="172B4D"/>
                </a:solidFill>
                <a:latin typeface="Arial"/>
                <a:ea typeface="Arial"/>
                <a:cs typeface="Arial"/>
              </a:defRPr>
            </a:lvl6pPr>
            <a:lvl7pPr>
              <a:defRPr sz="2850" b="1">
                <a:solidFill>
                  <a:srgbClr val="172B4D"/>
                </a:solidFill>
                <a:latin typeface="Arial"/>
                <a:ea typeface="Arial"/>
                <a:cs typeface="Arial"/>
              </a:defRPr>
            </a:lvl7pPr>
            <a:lvl8pPr>
              <a:defRPr sz="2850" b="1">
                <a:solidFill>
                  <a:srgbClr val="172B4D"/>
                </a:solidFill>
                <a:latin typeface="Arial"/>
                <a:ea typeface="Arial"/>
                <a:cs typeface="Arial"/>
              </a:defRPr>
            </a:lvl8pPr>
            <a:lvl9pPr>
              <a:defRPr sz="2850" b="1">
                <a:solidFill>
                  <a:srgbClr val="172B4D"/>
                </a:solidFill>
                <a:latin typeface="Arial"/>
                <a:ea typeface="Arial"/>
                <a:cs typeface="Arial"/>
              </a:defRPr>
            </a:lvl9pPr>
          </a:lstStyle>
          <a:p xmlns:a="http://schemas.openxmlformats.org/drawingml/2006/main">
            <a:pPr>
              <a:defRPr sz="2850" b="1">
                <a:solidFill>
                  <a:srgbClr val="172B4D"/>
                </a:solidFill>
                <a:latin typeface="Arial"/>
                <a:ea typeface="Arial"/>
                <a:cs typeface="Arial"/>
              </a:defRPr>
            </a:pPr>
            <a:r>
              <a:rPr sz="2850" b="1">
                <a:solidFill>
                  <a:srgbClr val="172B4D"/>
                </a:solidFill>
                <a:latin typeface="Arial"/>
                <a:ea typeface="Arial"/>
                <a:cs typeface="Arial"/>
              </a:rPr>
              <a:t>Contribuições e pontos fortes</a:t>
            </a:r>
          </a:p>
        </p:txBody>
      </p:sp>
      <p:sp>
        <p:nvSpPr>
          <p:cNvPr id="2" name="">
            <a:extLst xmlns:a="http://schemas.openxmlformats.org/drawingml/2006/main">
              <a:ext uri="{FF2B5EF4-FFF2-40B4-BE49-F238E27FC236}">
                <a16:creationId xmlns:a16="http://schemas.microsoft.com/office/drawing/2014/main" id="{55B56CD6-E04A-4496-8FAD-4A350E6E4DB2}"/>
              </a:ext>
            </a:extLst>
          </p:cNvPr>
          <p:cNvSpPr>
            <a:spLocks xmlns:a="http://schemas.openxmlformats.org/drawingml/2006/main" noGrp="1"/>
          </p:cNvSpPr>
          <p:nvPr/>
        </p:nvSpPr>
        <p:spPr>
          <a:xfrm xmlns:a="http://schemas.openxmlformats.org/drawingml/2006/main">
            <a:off x="10382250" y="62388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4748B"/>
                </a:solidFill>
                <a:latin typeface="Arial"/>
                <a:ea typeface="Arial"/>
                <a:cs typeface="Arial"/>
              </a:defRPr>
            </a:defPPr>
            <a:lvl1pPr>
              <a:defRPr sz="1350" b="0">
                <a:solidFill>
                  <a:srgbClr val="64748B"/>
                </a:solidFill>
                <a:latin typeface="Arial"/>
                <a:ea typeface="Arial"/>
                <a:cs typeface="Arial"/>
              </a:defRPr>
            </a:lvl1pPr>
            <a:lvl2pPr>
              <a:defRPr sz="1350" b="0">
                <a:solidFill>
                  <a:srgbClr val="64748B"/>
                </a:solidFill>
                <a:latin typeface="Arial"/>
                <a:ea typeface="Arial"/>
                <a:cs typeface="Arial"/>
              </a:defRPr>
            </a:lvl2pPr>
            <a:lvl3pPr>
              <a:defRPr sz="1350" b="0">
                <a:solidFill>
                  <a:srgbClr val="64748B"/>
                </a:solidFill>
                <a:latin typeface="Arial"/>
                <a:ea typeface="Arial"/>
                <a:cs typeface="Arial"/>
              </a:defRPr>
            </a:lvl3pPr>
            <a:lvl4pPr>
              <a:defRPr sz="1350" b="0">
                <a:solidFill>
                  <a:srgbClr val="64748B"/>
                </a:solidFill>
                <a:latin typeface="Arial"/>
                <a:ea typeface="Arial"/>
                <a:cs typeface="Arial"/>
              </a:defRPr>
            </a:lvl4pPr>
            <a:lvl5pPr>
              <a:defRPr sz="1350" b="0">
                <a:solidFill>
                  <a:srgbClr val="64748B"/>
                </a:solidFill>
                <a:latin typeface="Arial"/>
                <a:ea typeface="Arial"/>
                <a:cs typeface="Arial"/>
              </a:defRPr>
            </a:lvl5pPr>
            <a:lvl6pPr>
              <a:defRPr sz="1350" b="0">
                <a:solidFill>
                  <a:srgbClr val="64748B"/>
                </a:solidFill>
                <a:latin typeface="Arial"/>
                <a:ea typeface="Arial"/>
                <a:cs typeface="Arial"/>
              </a:defRPr>
            </a:lvl6pPr>
            <a:lvl7pPr>
              <a:defRPr sz="1350" b="0">
                <a:solidFill>
                  <a:srgbClr val="64748B"/>
                </a:solidFill>
                <a:latin typeface="Arial"/>
                <a:ea typeface="Arial"/>
                <a:cs typeface="Arial"/>
              </a:defRPr>
            </a:lvl7pPr>
            <a:lvl8pPr>
              <a:defRPr sz="1350" b="0">
                <a:solidFill>
                  <a:srgbClr val="64748B"/>
                </a:solidFill>
                <a:latin typeface="Arial"/>
                <a:ea typeface="Arial"/>
                <a:cs typeface="Arial"/>
              </a:defRPr>
            </a:lvl8pPr>
            <a:lvl9pPr>
              <a:defRPr sz="1350" b="0">
                <a:solidFill>
                  <a:srgbClr val="64748B"/>
                </a:solidFill>
                <a:latin typeface="Arial"/>
                <a:ea typeface="Arial"/>
                <a:cs typeface="Arial"/>
              </a:defRPr>
            </a:lvl9pPr>
          </a:lstStyle>
          <a:p xmlns:a="http://schemas.openxmlformats.org/drawingml/2006/main">
            <a:pPr>
              <a:defRPr sz="1350" b="0">
                <a:solidFill>
                  <a:srgbClr val="64748B"/>
                </a:solidFill>
                <a:latin typeface="Arial"/>
                <a:ea typeface="Arial"/>
                <a:cs typeface="Arial"/>
              </a:defRPr>
            </a:pPr>
            <a:r>
              <a:rPr sz="1350" b="0">
                <a:solidFill>
                  <a:srgbClr val="64748B"/>
                </a:solidFill>
                <a:latin typeface="Arial"/>
                <a:ea typeface="Arial"/>
                <a:cs typeface="Arial"/>
              </a:rPr>
              <a:t>Apoio 3</a:t>
            </a:r>
          </a:p>
        </p:txBody>
      </p:sp>
      <p:sp>
        <p:nvSpPr>
          <p:cNvPr id="3" name="">
            <a:extLst xmlns:a="http://schemas.openxmlformats.org/drawingml/2006/main">
              <a:ext uri="{FF2B5EF4-FFF2-40B4-BE49-F238E27FC236}">
                <a16:creationId xmlns:a16="http://schemas.microsoft.com/office/drawing/2014/main" id="{3E23DCB5-8BCA-40C2-864E-0819DAA1000D}"/>
              </a:ext>
            </a:extLst>
          </p:cNvPr>
          <p:cNvSpPr>
            <a:spLocks xmlns:a="http://schemas.openxmlformats.org/drawingml/2006/main" noGrp="1"/>
          </p:cNvSpPr>
          <p:nvPr/>
        </p:nvSpPr>
        <p:spPr>
          <a:xfrm xmlns:a="http://schemas.openxmlformats.org/drawingml/2006/main">
            <a:off x="685800" y="1762125"/>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2B4D"/>
                </a:solidFill>
                <a:latin typeface="Arial"/>
                <a:ea typeface="Arial"/>
                <a:cs typeface="Arial"/>
              </a:defRPr>
            </a:defPPr>
            <a:lvl1pPr>
              <a:defRPr sz="2100" b="0">
                <a:solidFill>
                  <a:srgbClr val="172B4D"/>
                </a:solidFill>
                <a:latin typeface="Arial"/>
                <a:ea typeface="Arial"/>
                <a:cs typeface="Arial"/>
              </a:defRPr>
            </a:lvl1pPr>
            <a:lvl2pPr>
              <a:defRPr sz="2100" b="0">
                <a:solidFill>
                  <a:srgbClr val="172B4D"/>
                </a:solidFill>
                <a:latin typeface="Arial"/>
                <a:ea typeface="Arial"/>
                <a:cs typeface="Arial"/>
              </a:defRPr>
            </a:lvl2pPr>
            <a:lvl3pPr>
              <a:defRPr sz="2100" b="0">
                <a:solidFill>
                  <a:srgbClr val="172B4D"/>
                </a:solidFill>
                <a:latin typeface="Arial"/>
                <a:ea typeface="Arial"/>
                <a:cs typeface="Arial"/>
              </a:defRPr>
            </a:lvl3pPr>
            <a:lvl4pPr>
              <a:defRPr sz="2100" b="0">
                <a:solidFill>
                  <a:srgbClr val="172B4D"/>
                </a:solidFill>
                <a:latin typeface="Arial"/>
                <a:ea typeface="Arial"/>
                <a:cs typeface="Arial"/>
              </a:defRPr>
            </a:lvl4pPr>
            <a:lvl5pPr>
              <a:defRPr sz="2100" b="0">
                <a:solidFill>
                  <a:srgbClr val="172B4D"/>
                </a:solidFill>
                <a:latin typeface="Arial"/>
                <a:ea typeface="Arial"/>
                <a:cs typeface="Arial"/>
              </a:defRPr>
            </a:lvl5pPr>
            <a:lvl6pPr>
              <a:defRPr sz="2100" b="0">
                <a:solidFill>
                  <a:srgbClr val="172B4D"/>
                </a:solidFill>
                <a:latin typeface="Arial"/>
                <a:ea typeface="Arial"/>
                <a:cs typeface="Arial"/>
              </a:defRPr>
            </a:lvl6pPr>
            <a:lvl7pPr>
              <a:defRPr sz="2100" b="0">
                <a:solidFill>
                  <a:srgbClr val="172B4D"/>
                </a:solidFill>
                <a:latin typeface="Arial"/>
                <a:ea typeface="Arial"/>
                <a:cs typeface="Arial"/>
              </a:defRPr>
            </a:lvl7pPr>
            <a:lvl8pPr>
              <a:defRPr sz="2100" b="0">
                <a:solidFill>
                  <a:srgbClr val="172B4D"/>
                </a:solidFill>
                <a:latin typeface="Arial"/>
                <a:ea typeface="Arial"/>
                <a:cs typeface="Arial"/>
              </a:defRPr>
            </a:lvl8pPr>
            <a:lvl9pPr>
              <a:defRPr sz="2100" b="0">
                <a:solidFill>
                  <a:srgbClr val="172B4D"/>
                </a:solidFill>
                <a:latin typeface="Arial"/>
                <a:ea typeface="Arial"/>
                <a:cs typeface="Arial"/>
              </a:defRPr>
            </a:lvl9pPr>
          </a:lstStyle>
          <a:p xmlns:a="http://schemas.openxmlformats.org/drawingml/2006/main">
            <a:pPr>
              <a:defRPr sz="2100" b="0">
                <a:solidFill>
                  <a:srgbClr val="172B4D"/>
                </a:solidFill>
                <a:latin typeface="Arial"/>
                <a:ea typeface="Arial"/>
                <a:cs typeface="Arial"/>
              </a:defRPr>
            </a:pPr>
            <a:r>
              <a:rPr sz="2100" b="0">
                <a:solidFill>
                  <a:srgbClr val="172B4D"/>
                </a:solidFill>
                <a:latin typeface="Arial"/>
                <a:ea typeface="Arial"/>
                <a:cs typeface="Arial"/>
              </a:rPr>
              <a:t>Técnica: protótipo Java e instrumentos reutilizáveis de carga e conciliação.</a:t>
            </a:r>
          </a:p>
        </p:txBody>
      </p:sp>
      <p:sp>
        <p:nvSpPr>
          <p:cNvPr id="4" name="">
            <a:extLst xmlns:a="http://schemas.openxmlformats.org/drawingml/2006/main">
              <a:ext uri="{FF2B5EF4-FFF2-40B4-BE49-F238E27FC236}">
                <a16:creationId xmlns:a16="http://schemas.microsoft.com/office/drawing/2014/main" id="{DCDD3001-AB16-4153-AB31-2E9A0CBD152D}"/>
              </a:ext>
            </a:extLst>
          </p:cNvPr>
          <p:cNvSpPr>
            <a:spLocks xmlns:a="http://schemas.openxmlformats.org/drawingml/2006/main" noGrp="1"/>
          </p:cNvSpPr>
          <p:nvPr/>
        </p:nvSpPr>
        <p:spPr>
          <a:xfrm xmlns:a="http://schemas.openxmlformats.org/drawingml/2006/main">
            <a:off x="685800" y="266700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2B4D"/>
                </a:solidFill>
                <a:latin typeface="Arial"/>
                <a:ea typeface="Arial"/>
                <a:cs typeface="Arial"/>
              </a:defRPr>
            </a:defPPr>
            <a:lvl1pPr>
              <a:defRPr sz="2100" b="0">
                <a:solidFill>
                  <a:srgbClr val="172B4D"/>
                </a:solidFill>
                <a:latin typeface="Arial"/>
                <a:ea typeface="Arial"/>
                <a:cs typeface="Arial"/>
              </a:defRPr>
            </a:lvl1pPr>
            <a:lvl2pPr>
              <a:defRPr sz="2100" b="0">
                <a:solidFill>
                  <a:srgbClr val="172B4D"/>
                </a:solidFill>
                <a:latin typeface="Arial"/>
                <a:ea typeface="Arial"/>
                <a:cs typeface="Arial"/>
              </a:defRPr>
            </a:lvl2pPr>
            <a:lvl3pPr>
              <a:defRPr sz="2100" b="0">
                <a:solidFill>
                  <a:srgbClr val="172B4D"/>
                </a:solidFill>
                <a:latin typeface="Arial"/>
                <a:ea typeface="Arial"/>
                <a:cs typeface="Arial"/>
              </a:defRPr>
            </a:lvl3pPr>
            <a:lvl4pPr>
              <a:defRPr sz="2100" b="0">
                <a:solidFill>
                  <a:srgbClr val="172B4D"/>
                </a:solidFill>
                <a:latin typeface="Arial"/>
                <a:ea typeface="Arial"/>
                <a:cs typeface="Arial"/>
              </a:defRPr>
            </a:lvl4pPr>
            <a:lvl5pPr>
              <a:defRPr sz="2100" b="0">
                <a:solidFill>
                  <a:srgbClr val="172B4D"/>
                </a:solidFill>
                <a:latin typeface="Arial"/>
                <a:ea typeface="Arial"/>
                <a:cs typeface="Arial"/>
              </a:defRPr>
            </a:lvl5pPr>
            <a:lvl6pPr>
              <a:defRPr sz="2100" b="0">
                <a:solidFill>
                  <a:srgbClr val="172B4D"/>
                </a:solidFill>
                <a:latin typeface="Arial"/>
                <a:ea typeface="Arial"/>
                <a:cs typeface="Arial"/>
              </a:defRPr>
            </a:lvl6pPr>
            <a:lvl7pPr>
              <a:defRPr sz="2100" b="0">
                <a:solidFill>
                  <a:srgbClr val="172B4D"/>
                </a:solidFill>
                <a:latin typeface="Arial"/>
                <a:ea typeface="Arial"/>
                <a:cs typeface="Arial"/>
              </a:defRPr>
            </a:lvl7pPr>
            <a:lvl8pPr>
              <a:defRPr sz="2100" b="0">
                <a:solidFill>
                  <a:srgbClr val="172B4D"/>
                </a:solidFill>
                <a:latin typeface="Arial"/>
                <a:ea typeface="Arial"/>
                <a:cs typeface="Arial"/>
              </a:defRPr>
            </a:lvl8pPr>
            <a:lvl9pPr>
              <a:defRPr sz="2100" b="0">
                <a:solidFill>
                  <a:srgbClr val="172B4D"/>
                </a:solidFill>
                <a:latin typeface="Arial"/>
                <a:ea typeface="Arial"/>
                <a:cs typeface="Arial"/>
              </a:defRPr>
            </a:lvl9pPr>
          </a:lstStyle>
          <a:p xmlns:a="http://schemas.openxmlformats.org/drawingml/2006/main">
            <a:pPr>
              <a:defRPr sz="2100" b="0">
                <a:solidFill>
                  <a:srgbClr val="172B4D"/>
                </a:solidFill>
                <a:latin typeface="Arial"/>
                <a:ea typeface="Arial"/>
                <a:cs typeface="Arial"/>
              </a:defRPr>
            </a:pPr>
            <a:r>
              <a:rPr sz="2100" b="0">
                <a:solidFill>
                  <a:srgbClr val="172B4D"/>
                </a:solidFill>
                <a:latin typeface="Arial"/>
                <a:ea typeface="Arial"/>
                <a:cs typeface="Arial"/>
              </a:rPr>
              <a:t>Metodológica: medidas separadas de aceite, conclusão e destino terminal.</a:t>
            </a:r>
          </a:p>
        </p:txBody>
      </p:sp>
      <p:sp>
        <p:nvSpPr>
          <p:cNvPr id="5" name="">
            <a:extLst xmlns:a="http://schemas.openxmlformats.org/drawingml/2006/main">
              <a:ext uri="{FF2B5EF4-FFF2-40B4-BE49-F238E27FC236}">
                <a16:creationId xmlns:a16="http://schemas.microsoft.com/office/drawing/2014/main" id="{D8F99B53-E76E-4ACC-A02B-76A9167E26BC}"/>
              </a:ext>
            </a:extLst>
          </p:cNvPr>
          <p:cNvSpPr>
            <a:spLocks xmlns:a="http://schemas.openxmlformats.org/drawingml/2006/main" noGrp="1"/>
          </p:cNvSpPr>
          <p:nvPr/>
        </p:nvSpPr>
        <p:spPr>
          <a:xfrm xmlns:a="http://schemas.openxmlformats.org/drawingml/2006/main">
            <a:off x="685800" y="3571875"/>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2B4D"/>
                </a:solidFill>
                <a:latin typeface="Arial"/>
                <a:ea typeface="Arial"/>
                <a:cs typeface="Arial"/>
              </a:defRPr>
            </a:defPPr>
            <a:lvl1pPr>
              <a:defRPr sz="2100" b="0">
                <a:solidFill>
                  <a:srgbClr val="172B4D"/>
                </a:solidFill>
                <a:latin typeface="Arial"/>
                <a:ea typeface="Arial"/>
                <a:cs typeface="Arial"/>
              </a:defRPr>
            </a:lvl1pPr>
            <a:lvl2pPr>
              <a:defRPr sz="2100" b="0">
                <a:solidFill>
                  <a:srgbClr val="172B4D"/>
                </a:solidFill>
                <a:latin typeface="Arial"/>
                <a:ea typeface="Arial"/>
                <a:cs typeface="Arial"/>
              </a:defRPr>
            </a:lvl2pPr>
            <a:lvl3pPr>
              <a:defRPr sz="2100" b="0">
                <a:solidFill>
                  <a:srgbClr val="172B4D"/>
                </a:solidFill>
                <a:latin typeface="Arial"/>
                <a:ea typeface="Arial"/>
                <a:cs typeface="Arial"/>
              </a:defRPr>
            </a:lvl3pPr>
            <a:lvl4pPr>
              <a:defRPr sz="2100" b="0">
                <a:solidFill>
                  <a:srgbClr val="172B4D"/>
                </a:solidFill>
                <a:latin typeface="Arial"/>
                <a:ea typeface="Arial"/>
                <a:cs typeface="Arial"/>
              </a:defRPr>
            </a:lvl4pPr>
            <a:lvl5pPr>
              <a:defRPr sz="2100" b="0">
                <a:solidFill>
                  <a:srgbClr val="172B4D"/>
                </a:solidFill>
                <a:latin typeface="Arial"/>
                <a:ea typeface="Arial"/>
                <a:cs typeface="Arial"/>
              </a:defRPr>
            </a:lvl5pPr>
            <a:lvl6pPr>
              <a:defRPr sz="2100" b="0">
                <a:solidFill>
                  <a:srgbClr val="172B4D"/>
                </a:solidFill>
                <a:latin typeface="Arial"/>
                <a:ea typeface="Arial"/>
                <a:cs typeface="Arial"/>
              </a:defRPr>
            </a:lvl6pPr>
            <a:lvl7pPr>
              <a:defRPr sz="2100" b="0">
                <a:solidFill>
                  <a:srgbClr val="172B4D"/>
                </a:solidFill>
                <a:latin typeface="Arial"/>
                <a:ea typeface="Arial"/>
                <a:cs typeface="Arial"/>
              </a:defRPr>
            </a:lvl7pPr>
            <a:lvl8pPr>
              <a:defRPr sz="2100" b="0">
                <a:solidFill>
                  <a:srgbClr val="172B4D"/>
                </a:solidFill>
                <a:latin typeface="Arial"/>
                <a:ea typeface="Arial"/>
                <a:cs typeface="Arial"/>
              </a:defRPr>
            </a:lvl8pPr>
            <a:lvl9pPr>
              <a:defRPr sz="2100" b="0">
                <a:solidFill>
                  <a:srgbClr val="172B4D"/>
                </a:solidFill>
                <a:latin typeface="Arial"/>
                <a:ea typeface="Arial"/>
                <a:cs typeface="Arial"/>
              </a:defRPr>
            </a:lvl9pPr>
          </a:lstStyle>
          <a:p xmlns:a="http://schemas.openxmlformats.org/drawingml/2006/main">
            <a:pPr>
              <a:defRPr sz="2100" b="0">
                <a:solidFill>
                  <a:srgbClr val="172B4D"/>
                </a:solidFill>
                <a:latin typeface="Arial"/>
                <a:ea typeface="Arial"/>
                <a:cs typeface="Arial"/>
              </a:defRPr>
            </a:pPr>
            <a:r>
              <a:rPr sz="2100" b="0">
                <a:solidFill>
                  <a:srgbClr val="172B4D"/>
                </a:solidFill>
                <a:latin typeface="Arial"/>
                <a:ea typeface="Arial"/>
                <a:cs typeface="Arial"/>
              </a:rPr>
              <a:t>Prática: critérios de escolha ligados à confirmação, ao atraso e às falhas.</a:t>
            </a:r>
          </a:p>
        </p:txBody>
      </p:sp>
      <p:sp>
        <p:nvSpPr>
          <p:cNvPr id="6" name="">
            <a:extLst xmlns:a="http://schemas.openxmlformats.org/drawingml/2006/main">
              <a:ext uri="{FF2B5EF4-FFF2-40B4-BE49-F238E27FC236}">
                <a16:creationId xmlns:a16="http://schemas.microsoft.com/office/drawing/2014/main" id="{71185768-2341-4DC1-992B-2643F183928D}"/>
              </a:ext>
            </a:extLst>
          </p:cNvPr>
          <p:cNvSpPr>
            <a:spLocks xmlns:a="http://schemas.openxmlformats.org/drawingml/2006/main" noGrp="1"/>
          </p:cNvSpPr>
          <p:nvPr/>
        </p:nvSpPr>
        <p:spPr>
          <a:xfrm xmlns:a="http://schemas.openxmlformats.org/drawingml/2006/main">
            <a:off x="685800" y="44767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2B4D"/>
                </a:solidFill>
                <a:latin typeface="Arial"/>
                <a:ea typeface="Arial"/>
                <a:cs typeface="Arial"/>
              </a:defRPr>
            </a:defPPr>
            <a:lvl1pPr>
              <a:defRPr sz="2100" b="0">
                <a:solidFill>
                  <a:srgbClr val="172B4D"/>
                </a:solidFill>
                <a:latin typeface="Arial"/>
                <a:ea typeface="Arial"/>
                <a:cs typeface="Arial"/>
              </a:defRPr>
            </a:lvl1pPr>
            <a:lvl2pPr>
              <a:defRPr sz="2100" b="0">
                <a:solidFill>
                  <a:srgbClr val="172B4D"/>
                </a:solidFill>
                <a:latin typeface="Arial"/>
                <a:ea typeface="Arial"/>
                <a:cs typeface="Arial"/>
              </a:defRPr>
            </a:lvl2pPr>
            <a:lvl3pPr>
              <a:defRPr sz="2100" b="0">
                <a:solidFill>
                  <a:srgbClr val="172B4D"/>
                </a:solidFill>
                <a:latin typeface="Arial"/>
                <a:ea typeface="Arial"/>
                <a:cs typeface="Arial"/>
              </a:defRPr>
            </a:lvl3pPr>
            <a:lvl4pPr>
              <a:defRPr sz="2100" b="0">
                <a:solidFill>
                  <a:srgbClr val="172B4D"/>
                </a:solidFill>
                <a:latin typeface="Arial"/>
                <a:ea typeface="Arial"/>
                <a:cs typeface="Arial"/>
              </a:defRPr>
            </a:lvl4pPr>
            <a:lvl5pPr>
              <a:defRPr sz="2100" b="0">
                <a:solidFill>
                  <a:srgbClr val="172B4D"/>
                </a:solidFill>
                <a:latin typeface="Arial"/>
                <a:ea typeface="Arial"/>
                <a:cs typeface="Arial"/>
              </a:defRPr>
            </a:lvl5pPr>
            <a:lvl6pPr>
              <a:defRPr sz="2100" b="0">
                <a:solidFill>
                  <a:srgbClr val="172B4D"/>
                </a:solidFill>
                <a:latin typeface="Arial"/>
                <a:ea typeface="Arial"/>
                <a:cs typeface="Arial"/>
              </a:defRPr>
            </a:lvl6pPr>
            <a:lvl7pPr>
              <a:defRPr sz="2100" b="0">
                <a:solidFill>
                  <a:srgbClr val="172B4D"/>
                </a:solidFill>
                <a:latin typeface="Arial"/>
                <a:ea typeface="Arial"/>
                <a:cs typeface="Arial"/>
              </a:defRPr>
            </a:lvl7pPr>
            <a:lvl8pPr>
              <a:defRPr sz="2100" b="0">
                <a:solidFill>
                  <a:srgbClr val="172B4D"/>
                </a:solidFill>
                <a:latin typeface="Arial"/>
                <a:ea typeface="Arial"/>
                <a:cs typeface="Arial"/>
              </a:defRPr>
            </a:lvl8pPr>
            <a:lvl9pPr>
              <a:defRPr sz="2100" b="0">
                <a:solidFill>
                  <a:srgbClr val="172B4D"/>
                </a:solidFill>
                <a:latin typeface="Arial"/>
                <a:ea typeface="Arial"/>
                <a:cs typeface="Arial"/>
              </a:defRPr>
            </a:lvl9pPr>
          </a:lstStyle>
          <a:p xmlns:a="http://schemas.openxmlformats.org/drawingml/2006/main">
            <a:pPr>
              <a:defRPr sz="2100" b="0">
                <a:solidFill>
                  <a:srgbClr val="172B4D"/>
                </a:solidFill>
                <a:latin typeface="Arial"/>
                <a:ea typeface="Arial"/>
                <a:cs typeface="Arial"/>
              </a:defRPr>
            </a:pPr>
            <a:r>
              <a:rPr sz="2100" b="0">
                <a:solidFill>
                  <a:srgbClr val="172B4D"/>
                </a:solidFill>
                <a:latin typeface="Arial"/>
                <a:ea typeface="Arial"/>
                <a:cs typeface="Arial"/>
              </a:rPr>
              <a:t>Controles: protocolo prévio, conteúdo pareado e resultados desfavoráveis preservados.</a:t>
            </a:r>
          </a:p>
        </p:txBody>
      </p:sp>
      <p:sp>
        <p:nvSpPr>
          <p:cNvPr id="7" name="">
            <a:extLst xmlns:a="http://schemas.openxmlformats.org/drawingml/2006/main">
              <a:ext uri="{FF2B5EF4-FFF2-40B4-BE49-F238E27FC236}">
                <a16:creationId xmlns:a16="http://schemas.microsoft.com/office/drawing/2014/main" id="{387E95D4-1D77-44BA-A92E-32DB88692132}"/>
              </a:ext>
            </a:extLst>
          </p:cNvPr>
          <p:cNvSpPr>
            <a:spLocks xmlns:a="http://schemas.openxmlformats.org/drawingml/2006/main" noGrp="1"/>
          </p:cNvSpPr>
          <p:nvPr/>
        </p:nvSpPr>
        <p:spPr>
          <a:xfrm xmlns:a="http://schemas.openxmlformats.org/drawingml/2006/main">
            <a:off x="685800" y="55721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75569"/>
                </a:solidFill>
                <a:latin typeface="Arial"/>
                <a:ea typeface="Arial"/>
                <a:cs typeface="Arial"/>
              </a:defRPr>
            </a:defPPr>
            <a:lvl1pPr>
              <a:defRPr sz="1725" b="0">
                <a:solidFill>
                  <a:srgbClr val="475569"/>
                </a:solidFill>
                <a:latin typeface="Arial"/>
                <a:ea typeface="Arial"/>
                <a:cs typeface="Arial"/>
              </a:defRPr>
            </a:lvl1pPr>
            <a:lvl2pPr>
              <a:defRPr sz="1725" b="0">
                <a:solidFill>
                  <a:srgbClr val="475569"/>
                </a:solidFill>
                <a:latin typeface="Arial"/>
                <a:ea typeface="Arial"/>
                <a:cs typeface="Arial"/>
              </a:defRPr>
            </a:lvl2pPr>
            <a:lvl3pPr>
              <a:defRPr sz="1725" b="0">
                <a:solidFill>
                  <a:srgbClr val="475569"/>
                </a:solidFill>
                <a:latin typeface="Arial"/>
                <a:ea typeface="Arial"/>
                <a:cs typeface="Arial"/>
              </a:defRPr>
            </a:lvl3pPr>
            <a:lvl4pPr>
              <a:defRPr sz="1725" b="0">
                <a:solidFill>
                  <a:srgbClr val="475569"/>
                </a:solidFill>
                <a:latin typeface="Arial"/>
                <a:ea typeface="Arial"/>
                <a:cs typeface="Arial"/>
              </a:defRPr>
            </a:lvl4pPr>
            <a:lvl5pPr>
              <a:defRPr sz="1725" b="0">
                <a:solidFill>
                  <a:srgbClr val="475569"/>
                </a:solidFill>
                <a:latin typeface="Arial"/>
                <a:ea typeface="Arial"/>
                <a:cs typeface="Arial"/>
              </a:defRPr>
            </a:lvl5pPr>
            <a:lvl6pPr>
              <a:defRPr sz="1725" b="0">
                <a:solidFill>
                  <a:srgbClr val="475569"/>
                </a:solidFill>
                <a:latin typeface="Arial"/>
                <a:ea typeface="Arial"/>
                <a:cs typeface="Arial"/>
              </a:defRPr>
            </a:lvl6pPr>
            <a:lvl7pPr>
              <a:defRPr sz="1725" b="0">
                <a:solidFill>
                  <a:srgbClr val="475569"/>
                </a:solidFill>
                <a:latin typeface="Arial"/>
                <a:ea typeface="Arial"/>
                <a:cs typeface="Arial"/>
              </a:defRPr>
            </a:lvl7pPr>
            <a:lvl8pPr>
              <a:defRPr sz="1725" b="0">
                <a:solidFill>
                  <a:srgbClr val="475569"/>
                </a:solidFill>
                <a:latin typeface="Arial"/>
                <a:ea typeface="Arial"/>
                <a:cs typeface="Arial"/>
              </a:defRPr>
            </a:lvl8pPr>
            <a:lvl9pPr>
              <a:defRPr sz="1725" b="0">
                <a:solidFill>
                  <a:srgbClr val="475569"/>
                </a:solidFill>
                <a:latin typeface="Arial"/>
                <a:ea typeface="Arial"/>
                <a:cs typeface="Arial"/>
              </a:defRPr>
            </a:lvl9pPr>
          </a:lstStyle>
          <a:p xmlns:a="http://schemas.openxmlformats.org/drawingml/2006/main">
            <a:pPr>
              <a:defRPr sz="1725" b="0">
                <a:solidFill>
                  <a:srgbClr val="475569"/>
                </a:solidFill>
                <a:latin typeface="Arial"/>
                <a:ea typeface="Arial"/>
                <a:cs typeface="Arial"/>
              </a:defRPr>
            </a:pPr>
            <a:r>
              <a:rPr sz="1725" b="0">
                <a:solidFill>
                  <a:srgbClr val="475569"/>
                </a:solidFill>
                <a:latin typeface="Arial"/>
                <a:ea typeface="Arial"/>
                <a:cs typeface="Arial"/>
              </a:rPr>
              <a:t>A revisão analítica e a leitura exploratória estão identificadas como posteriores aos dados.</a:t>
            </a:r>
          </a:p>
        </p:txBody>
      </p:sp>
    </p:spTree>
    <p:extLst>
      <p:ext uri="{BB962C8B-B14F-4D97-AF65-F5344CB8AC3E}">
        <p14:creationId xmlns:p14="http://schemas.microsoft.com/office/powerpoint/2010/main" val="183163263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1433635-6D69-43EC-BFDD-7302E694AD00}"/>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72B4D"/>
                </a:solidFill>
                <a:latin typeface="Arial"/>
                <a:ea typeface="Arial"/>
                <a:cs typeface="Arial"/>
              </a:defRPr>
            </a:defPPr>
            <a:lvl1pPr>
              <a:defRPr sz="2850" b="1">
                <a:solidFill>
                  <a:srgbClr val="172B4D"/>
                </a:solidFill>
                <a:latin typeface="Arial"/>
                <a:ea typeface="Arial"/>
                <a:cs typeface="Arial"/>
              </a:defRPr>
            </a:lvl1pPr>
            <a:lvl2pPr>
              <a:defRPr sz="2850" b="1">
                <a:solidFill>
                  <a:srgbClr val="172B4D"/>
                </a:solidFill>
                <a:latin typeface="Arial"/>
                <a:ea typeface="Arial"/>
                <a:cs typeface="Arial"/>
              </a:defRPr>
            </a:lvl2pPr>
            <a:lvl3pPr>
              <a:defRPr sz="2850" b="1">
                <a:solidFill>
                  <a:srgbClr val="172B4D"/>
                </a:solidFill>
                <a:latin typeface="Arial"/>
                <a:ea typeface="Arial"/>
                <a:cs typeface="Arial"/>
              </a:defRPr>
            </a:lvl3pPr>
            <a:lvl4pPr>
              <a:defRPr sz="2850" b="1">
                <a:solidFill>
                  <a:srgbClr val="172B4D"/>
                </a:solidFill>
                <a:latin typeface="Arial"/>
                <a:ea typeface="Arial"/>
                <a:cs typeface="Arial"/>
              </a:defRPr>
            </a:lvl4pPr>
            <a:lvl5pPr>
              <a:defRPr sz="2850" b="1">
                <a:solidFill>
                  <a:srgbClr val="172B4D"/>
                </a:solidFill>
                <a:latin typeface="Arial"/>
                <a:ea typeface="Arial"/>
                <a:cs typeface="Arial"/>
              </a:defRPr>
            </a:lvl5pPr>
            <a:lvl6pPr>
              <a:defRPr sz="2850" b="1">
                <a:solidFill>
                  <a:srgbClr val="172B4D"/>
                </a:solidFill>
                <a:latin typeface="Arial"/>
                <a:ea typeface="Arial"/>
                <a:cs typeface="Arial"/>
              </a:defRPr>
            </a:lvl6pPr>
            <a:lvl7pPr>
              <a:defRPr sz="2850" b="1">
                <a:solidFill>
                  <a:srgbClr val="172B4D"/>
                </a:solidFill>
                <a:latin typeface="Arial"/>
                <a:ea typeface="Arial"/>
                <a:cs typeface="Arial"/>
              </a:defRPr>
            </a:lvl7pPr>
            <a:lvl8pPr>
              <a:defRPr sz="2850" b="1">
                <a:solidFill>
                  <a:srgbClr val="172B4D"/>
                </a:solidFill>
                <a:latin typeface="Arial"/>
                <a:ea typeface="Arial"/>
                <a:cs typeface="Arial"/>
              </a:defRPr>
            </a:lvl8pPr>
            <a:lvl9pPr>
              <a:defRPr sz="2850" b="1">
                <a:solidFill>
                  <a:srgbClr val="172B4D"/>
                </a:solidFill>
                <a:latin typeface="Arial"/>
                <a:ea typeface="Arial"/>
                <a:cs typeface="Arial"/>
              </a:defRPr>
            </a:lvl9pPr>
          </a:lstStyle>
          <a:p xmlns:a="http://schemas.openxmlformats.org/drawingml/2006/main">
            <a:pPr>
              <a:defRPr sz="2850" b="1">
                <a:solidFill>
                  <a:srgbClr val="172B4D"/>
                </a:solidFill>
                <a:latin typeface="Arial"/>
                <a:ea typeface="Arial"/>
                <a:cs typeface="Arial"/>
              </a:defRPr>
            </a:pPr>
            <a:r>
              <a:rPr sz="2850" b="1">
                <a:solidFill>
                  <a:srgbClr val="172B4D"/>
                </a:solidFill>
                <a:latin typeface="Arial"/>
                <a:ea typeface="Arial"/>
                <a:cs typeface="Arial"/>
              </a:rPr>
              <a:t>Discussão com a literatura</a:t>
            </a:r>
          </a:p>
        </p:txBody>
      </p:sp>
      <p:sp>
        <p:nvSpPr>
          <p:cNvPr id="2" name="">
            <a:extLst xmlns:a="http://schemas.openxmlformats.org/drawingml/2006/main">
              <a:ext uri="{FF2B5EF4-FFF2-40B4-BE49-F238E27FC236}">
                <a16:creationId xmlns:a16="http://schemas.microsoft.com/office/drawing/2014/main" id="{487BAE0F-B6FC-4ECE-A4BF-0EA1DF257378}"/>
              </a:ext>
            </a:extLst>
          </p:cNvPr>
          <p:cNvSpPr>
            <a:spLocks xmlns:a="http://schemas.openxmlformats.org/drawingml/2006/main" noGrp="1"/>
          </p:cNvSpPr>
          <p:nvPr/>
        </p:nvSpPr>
        <p:spPr>
          <a:xfrm xmlns:a="http://schemas.openxmlformats.org/drawingml/2006/main">
            <a:off x="10382250" y="62388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4748B"/>
                </a:solidFill>
                <a:latin typeface="Arial"/>
                <a:ea typeface="Arial"/>
                <a:cs typeface="Arial"/>
              </a:defRPr>
            </a:defPPr>
            <a:lvl1pPr>
              <a:defRPr sz="1350" b="0">
                <a:solidFill>
                  <a:srgbClr val="64748B"/>
                </a:solidFill>
                <a:latin typeface="Arial"/>
                <a:ea typeface="Arial"/>
                <a:cs typeface="Arial"/>
              </a:defRPr>
            </a:lvl1pPr>
            <a:lvl2pPr>
              <a:defRPr sz="1350" b="0">
                <a:solidFill>
                  <a:srgbClr val="64748B"/>
                </a:solidFill>
                <a:latin typeface="Arial"/>
                <a:ea typeface="Arial"/>
                <a:cs typeface="Arial"/>
              </a:defRPr>
            </a:lvl2pPr>
            <a:lvl3pPr>
              <a:defRPr sz="1350" b="0">
                <a:solidFill>
                  <a:srgbClr val="64748B"/>
                </a:solidFill>
                <a:latin typeface="Arial"/>
                <a:ea typeface="Arial"/>
                <a:cs typeface="Arial"/>
              </a:defRPr>
            </a:lvl3pPr>
            <a:lvl4pPr>
              <a:defRPr sz="1350" b="0">
                <a:solidFill>
                  <a:srgbClr val="64748B"/>
                </a:solidFill>
                <a:latin typeface="Arial"/>
                <a:ea typeface="Arial"/>
                <a:cs typeface="Arial"/>
              </a:defRPr>
            </a:lvl4pPr>
            <a:lvl5pPr>
              <a:defRPr sz="1350" b="0">
                <a:solidFill>
                  <a:srgbClr val="64748B"/>
                </a:solidFill>
                <a:latin typeface="Arial"/>
                <a:ea typeface="Arial"/>
                <a:cs typeface="Arial"/>
              </a:defRPr>
            </a:lvl5pPr>
            <a:lvl6pPr>
              <a:defRPr sz="1350" b="0">
                <a:solidFill>
                  <a:srgbClr val="64748B"/>
                </a:solidFill>
                <a:latin typeface="Arial"/>
                <a:ea typeface="Arial"/>
                <a:cs typeface="Arial"/>
              </a:defRPr>
            </a:lvl6pPr>
            <a:lvl7pPr>
              <a:defRPr sz="1350" b="0">
                <a:solidFill>
                  <a:srgbClr val="64748B"/>
                </a:solidFill>
                <a:latin typeface="Arial"/>
                <a:ea typeface="Arial"/>
                <a:cs typeface="Arial"/>
              </a:defRPr>
            </a:lvl7pPr>
            <a:lvl8pPr>
              <a:defRPr sz="1350" b="0">
                <a:solidFill>
                  <a:srgbClr val="64748B"/>
                </a:solidFill>
                <a:latin typeface="Arial"/>
                <a:ea typeface="Arial"/>
                <a:cs typeface="Arial"/>
              </a:defRPr>
            </a:lvl8pPr>
            <a:lvl9pPr>
              <a:defRPr sz="1350" b="0">
                <a:solidFill>
                  <a:srgbClr val="64748B"/>
                </a:solidFill>
                <a:latin typeface="Arial"/>
                <a:ea typeface="Arial"/>
                <a:cs typeface="Arial"/>
              </a:defRPr>
            </a:lvl9pPr>
          </a:lstStyle>
          <a:p xmlns:a="http://schemas.openxmlformats.org/drawingml/2006/main">
            <a:pPr>
              <a:defRPr sz="1350" b="0">
                <a:solidFill>
                  <a:srgbClr val="64748B"/>
                </a:solidFill>
                <a:latin typeface="Arial"/>
                <a:ea typeface="Arial"/>
                <a:cs typeface="Arial"/>
              </a:defRPr>
            </a:pPr>
            <a:r>
              <a:rPr sz="1350" b="0">
                <a:solidFill>
                  <a:srgbClr val="64748B"/>
                </a:solidFill>
                <a:latin typeface="Arial"/>
                <a:ea typeface="Arial"/>
                <a:cs typeface="Arial"/>
              </a:rPr>
              <a:t>Apoio 4</a:t>
            </a:r>
          </a:p>
        </p:txBody>
      </p:sp>
      <p:graphicFrame>
        <p:nvGraphicFramePr>
          <p:cNvPr id="3" name="">
            <a:extLst xmlns:a="http://schemas.openxmlformats.org/drawingml/2006/main">
              <a:ext uri="{FF2B5EF4-FFF2-40B4-BE49-F238E27FC236}">
                <a16:creationId xmlns:a16="http://schemas.microsoft.com/office/drawing/2014/main" id="{527C30AF-380E-48F5-B537-FAC0027F7064}"/>
              </a:ext>
            </a:extLst>
          </p:cNvPr>
          <p:cNvGraphicFramePr/>
          <p:nvPr/>
        </p:nvGraphicFramePr>
        <p:xfrm>
          <a:off xmlns:a="http://schemas.openxmlformats.org/drawingml/2006/main" x="685800" y="1666875"/>
          <a:ext xmlns:a="http://schemas.openxmlformats.org/drawingml/2006/main" cx="10820400" cy="3857625"/>
        </p:xfrm>
        <a:graphic xmlns:a="http://schemas.openxmlformats.org/drawingml/2006/main">
          <a:graphicData uri="http://schemas.openxmlformats.org/drawingml/2006/table">
            <a:tbl>
              <a:tblPr/>
              <a:tblGrid>
                <a:gridCol w="3219450"/>
                <a:gridCol w="3257550"/>
                <a:gridCol w="4343400"/>
              </a:tblGrid>
              <a:tr h="642938">
                <a:tc>
                  <a:txBody>
                    <a:bodyPr>
                      <a:noAutofit/>
                    </a:bodyPr>
                    <a:lstStyle/>
                    <a:p>
                      <a:r>
                        <a:rPr sz="1575" b="1">
                          <a:solidFill>
                            <a:srgbClr val="FFFFFF"/>
                          </a:solidFill>
                          <a:latin typeface="Arial"/>
                          <a:ea typeface="Arial"/>
                          <a:cs typeface="Arial"/>
                        </a:rPr>
                        <a:t>Estudo</a:t>
                      </a:r>
                    </a:p>
                  </a:txBody>
                  <a:tcPr marL="91440" marR="91440" marT="45720" marB="45720">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575" b="1">
                          <a:solidFill>
                            <a:srgbClr val="FFFFFF"/>
                          </a:solidFill>
                          <a:latin typeface="Arial"/>
                          <a:ea typeface="Arial"/>
                          <a:cs typeface="Arial"/>
                        </a:rPr>
                        <a:t>Questão relacionada</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575" b="1">
                          <a:solidFill>
                            <a:srgbClr val="FFFFFF"/>
                          </a:solidFill>
                          <a:latin typeface="Arial"/>
                          <a:ea typeface="Arial"/>
                          <a:cs typeface="Arial"/>
                        </a:rPr>
                        <a:t>Relação com este TCC</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r>
              <a:tr h="642938">
                <a:tc>
                  <a:txBody>
                    <a:bodyPr>
                      <a:noAutofit/>
                    </a:bodyPr>
                    <a:lstStyle/>
                    <a:p>
                      <a:r>
                        <a:rPr sz="1575" b="0">
                          <a:solidFill>
                            <a:srgbClr val="172B4D"/>
                          </a:solidFill>
                          <a:latin typeface="Arial"/>
                          <a:ea typeface="Arial"/>
                          <a:cs typeface="Arial"/>
                        </a:rPr>
                        <a:t>Cabane e Farias (2024)</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575" b="0">
                          <a:solidFill>
                            <a:srgbClr val="172B4D"/>
                          </a:solidFill>
                          <a:latin typeface="Arial"/>
                          <a:ea typeface="Arial"/>
                          <a:cs typeface="Arial"/>
                        </a:rPr>
                        <a:t>Recursos de topologias distintas</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575" b="0">
                          <a:solidFill>
                            <a:srgbClr val="172B4D"/>
                          </a:solidFill>
                          <a:latin typeface="Arial"/>
                          <a:ea typeface="Arial"/>
                          <a:cs typeface="Arial"/>
                        </a:rPr>
                        <a:t>Memória adicional e definição do trabalho contado</a:t>
                      </a:r>
                    </a:p>
                  </a:txBody>
                  <a:tcPr marL="91440" marR="91440" marT="45720" marB="45720">
                    <a:lnR w="9525">
                      <a:solidFill>
                        <a:srgbClr val="CBD5E1"/>
                      </a:solidFill>
                      <a:prstDash val="solid"/>
                    </a:lnR>
                    <a:lnB w="9525">
                      <a:solidFill>
                        <a:srgbClr val="CBD5E1"/>
                      </a:solidFill>
                      <a:prstDash val="solid"/>
                    </a:lnB>
                    <a:solidFill>
                      <a:srgbClr val="FFFFFF"/>
                    </a:solidFill>
                  </a:tcPr>
                </a:tc>
              </a:tr>
              <a:tr h="642938">
                <a:tc>
                  <a:txBody>
                    <a:bodyPr>
                      <a:noAutofit/>
                    </a:bodyPr>
                    <a:lstStyle/>
                    <a:p>
                      <a:r>
                        <a:rPr sz="1575" b="0">
                          <a:solidFill>
                            <a:srgbClr val="172B4D"/>
                          </a:solidFill>
                          <a:latin typeface="Arial"/>
                          <a:ea typeface="Arial"/>
                          <a:cs typeface="Arial"/>
                        </a:rPr>
                        <a:t>Kazanavičius e Mažeika (2023)</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575" b="0">
                          <a:solidFill>
                            <a:srgbClr val="172B4D"/>
                          </a:solidFill>
                          <a:latin typeface="Arial"/>
                          <a:ea typeface="Arial"/>
                          <a:cs typeface="Arial"/>
                        </a:rPr>
                        <a:t>Escolha da comunicação</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575" b="0">
                          <a:solidFill>
                            <a:srgbClr val="172B4D"/>
                          </a:solidFill>
                          <a:latin typeface="Arial"/>
                          <a:ea typeface="Arial"/>
                          <a:cs typeface="Arial"/>
                        </a:rPr>
                        <a:t>Requisitos e significado da confirmação</a:t>
                      </a:r>
                    </a:p>
                  </a:txBody>
                  <a:tcPr marL="91440" marR="91440" marT="45720" marB="45720">
                    <a:lnR w="9525">
                      <a:solidFill>
                        <a:srgbClr val="CBD5E1"/>
                      </a:solidFill>
                      <a:prstDash val="solid"/>
                    </a:lnR>
                    <a:lnB w="9525">
                      <a:solidFill>
                        <a:srgbClr val="CBD5E1"/>
                      </a:solidFill>
                      <a:prstDash val="solid"/>
                    </a:lnB>
                    <a:solidFill>
                      <a:srgbClr val="FFFFFF"/>
                    </a:solidFill>
                  </a:tcPr>
                </a:tc>
              </a:tr>
              <a:tr h="642938">
                <a:tc>
                  <a:txBody>
                    <a:bodyPr>
                      <a:noAutofit/>
                    </a:bodyPr>
                    <a:lstStyle/>
                    <a:p>
                      <a:r>
                        <a:rPr sz="1575" b="0">
                          <a:solidFill>
                            <a:srgbClr val="172B4D"/>
                          </a:solidFill>
                          <a:latin typeface="Arial"/>
                          <a:ea typeface="Arial"/>
                          <a:cs typeface="Arial"/>
                        </a:rPr>
                        <a:t>Blinowski e colaboradores (2022)</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575" b="0">
                          <a:solidFill>
                            <a:srgbClr val="172B4D"/>
                          </a:solidFill>
                          <a:latin typeface="Arial"/>
                          <a:ea typeface="Arial"/>
                          <a:cs typeface="Arial"/>
                        </a:rPr>
                        <a:t>Ambiente e dimensionamento</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575" b="0">
                          <a:solidFill>
                            <a:srgbClr val="172B4D"/>
                          </a:solidFill>
                          <a:latin typeface="Arial"/>
                          <a:ea typeface="Arial"/>
                          <a:cs typeface="Arial"/>
                        </a:rPr>
                        <a:t>Distribuição não assegura ganho proporcional</a:t>
                      </a:r>
                    </a:p>
                  </a:txBody>
                  <a:tcPr marL="91440" marR="91440" marT="45720" marB="45720">
                    <a:lnR w="9525">
                      <a:solidFill>
                        <a:srgbClr val="CBD5E1"/>
                      </a:solidFill>
                      <a:prstDash val="solid"/>
                    </a:lnR>
                    <a:lnB w="9525">
                      <a:solidFill>
                        <a:srgbClr val="CBD5E1"/>
                      </a:solidFill>
                      <a:prstDash val="solid"/>
                    </a:lnB>
                    <a:solidFill>
                      <a:srgbClr val="FFFFFF"/>
                    </a:solidFill>
                  </a:tcPr>
                </a:tc>
              </a:tr>
              <a:tr h="642938">
                <a:tc>
                  <a:txBody>
                    <a:bodyPr>
                      <a:noAutofit/>
                    </a:bodyPr>
                    <a:lstStyle/>
                    <a:p>
                      <a:r>
                        <a:rPr sz="1575" b="0">
                          <a:solidFill>
                            <a:srgbClr val="172B4D"/>
                          </a:solidFill>
                          <a:latin typeface="Arial"/>
                          <a:ea typeface="Arial"/>
                          <a:cs typeface="Arial"/>
                        </a:rPr>
                        <a:t>Helland (2007) e Laigner e colaboradores (2021)</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575" b="0">
                          <a:solidFill>
                            <a:srgbClr val="172B4D"/>
                          </a:solidFill>
                          <a:latin typeface="Arial"/>
                          <a:ea typeface="Arial"/>
                          <a:cs typeface="Arial"/>
                        </a:rPr>
                        <a:t>Coordenação sem transação global</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575" b="0">
                          <a:solidFill>
                            <a:srgbClr val="172B4D"/>
                          </a:solidFill>
                          <a:latin typeface="Arial"/>
                          <a:ea typeface="Arial"/>
                          <a:cs typeface="Arial"/>
                        </a:rPr>
                        <a:t>Idempotência e DLQ não garantem gravação</a:t>
                      </a:r>
                    </a:p>
                  </a:txBody>
                  <a:tcPr marL="91440" marR="91440" marT="45720" marB="45720">
                    <a:lnR w="9525">
                      <a:solidFill>
                        <a:srgbClr val="CBD5E1"/>
                      </a:solidFill>
                      <a:prstDash val="solid"/>
                    </a:lnR>
                    <a:lnB w="9525">
                      <a:solidFill>
                        <a:srgbClr val="CBD5E1"/>
                      </a:solidFill>
                      <a:prstDash val="solid"/>
                    </a:lnB>
                    <a:solidFill>
                      <a:srgbClr val="FFFFFF"/>
                    </a:solidFill>
                  </a:tcPr>
                </a:tc>
              </a:tr>
              <a:tr h="642938">
                <a:tc>
                  <a:txBody>
                    <a:bodyPr>
                      <a:noAutofit/>
                    </a:bodyPr>
                    <a:lstStyle/>
                    <a:p>
                      <a:r>
                        <a:rPr sz="1575" b="0">
                          <a:solidFill>
                            <a:srgbClr val="172B4D"/>
                          </a:solidFill>
                          <a:latin typeface="Arial"/>
                          <a:ea typeface="Arial"/>
                          <a:cs typeface="Arial"/>
                        </a:rPr>
                        <a:t>Niedermaier e colaboradores (2019)</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575" b="0">
                          <a:solidFill>
                            <a:srgbClr val="172B4D"/>
                          </a:solidFill>
                          <a:latin typeface="Arial"/>
                          <a:ea typeface="Arial"/>
                          <a:cs typeface="Arial"/>
                        </a:rPr>
                        <a:t>Observabilidade distribuída</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575" b="0">
                          <a:solidFill>
                            <a:srgbClr val="172B4D"/>
                          </a:solidFill>
                          <a:latin typeface="Arial"/>
                          <a:ea typeface="Arial"/>
                          <a:cs typeface="Arial"/>
                        </a:rPr>
                        <a:t>Correlação detecta limites, mas não recupera tempo ausente</a:t>
                      </a:r>
                    </a:p>
                  </a:txBody>
                  <a:tcPr marL="91440" marR="91440" marT="45720" marB="45720">
                    <a:lnR w="9525">
                      <a:solidFill>
                        <a:srgbClr val="CBD5E1"/>
                      </a:solidFill>
                      <a:prstDash val="solid"/>
                    </a:lnR>
                    <a:lnB w="9525">
                      <a:solidFill>
                        <a:srgbClr val="CBD5E1"/>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6F02482-3672-4E16-906C-E2FDDFEB3CFF}"/>
              </a:ext>
            </a:extLst>
          </p:cNvPr>
          <p:cNvSpPr>
            <a:spLocks xmlns:a="http://schemas.openxmlformats.org/drawingml/2006/main" noGrp="1"/>
          </p:cNvSpPr>
          <p:nvPr/>
        </p:nvSpPr>
        <p:spPr>
          <a:xfrm xmlns:a="http://schemas.openxmlformats.org/drawingml/2006/main">
            <a:off x="685800" y="56673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75569"/>
                </a:solidFill>
                <a:latin typeface="Arial"/>
                <a:ea typeface="Arial"/>
                <a:cs typeface="Arial"/>
              </a:defRPr>
            </a:defPPr>
            <a:lvl1pPr>
              <a:defRPr sz="1650" b="0">
                <a:solidFill>
                  <a:srgbClr val="475569"/>
                </a:solidFill>
                <a:latin typeface="Arial"/>
                <a:ea typeface="Arial"/>
                <a:cs typeface="Arial"/>
              </a:defRPr>
            </a:lvl1pPr>
            <a:lvl2pPr>
              <a:defRPr sz="1650" b="0">
                <a:solidFill>
                  <a:srgbClr val="475569"/>
                </a:solidFill>
                <a:latin typeface="Arial"/>
                <a:ea typeface="Arial"/>
                <a:cs typeface="Arial"/>
              </a:defRPr>
            </a:lvl2pPr>
            <a:lvl3pPr>
              <a:defRPr sz="1650" b="0">
                <a:solidFill>
                  <a:srgbClr val="475569"/>
                </a:solidFill>
                <a:latin typeface="Arial"/>
                <a:ea typeface="Arial"/>
                <a:cs typeface="Arial"/>
              </a:defRPr>
            </a:lvl3pPr>
            <a:lvl4pPr>
              <a:defRPr sz="1650" b="0">
                <a:solidFill>
                  <a:srgbClr val="475569"/>
                </a:solidFill>
                <a:latin typeface="Arial"/>
                <a:ea typeface="Arial"/>
                <a:cs typeface="Arial"/>
              </a:defRPr>
            </a:lvl4pPr>
            <a:lvl5pPr>
              <a:defRPr sz="1650" b="0">
                <a:solidFill>
                  <a:srgbClr val="475569"/>
                </a:solidFill>
                <a:latin typeface="Arial"/>
                <a:ea typeface="Arial"/>
                <a:cs typeface="Arial"/>
              </a:defRPr>
            </a:lvl5pPr>
            <a:lvl6pPr>
              <a:defRPr sz="1650" b="0">
                <a:solidFill>
                  <a:srgbClr val="475569"/>
                </a:solidFill>
                <a:latin typeface="Arial"/>
                <a:ea typeface="Arial"/>
                <a:cs typeface="Arial"/>
              </a:defRPr>
            </a:lvl6pPr>
            <a:lvl7pPr>
              <a:defRPr sz="1650" b="0">
                <a:solidFill>
                  <a:srgbClr val="475569"/>
                </a:solidFill>
                <a:latin typeface="Arial"/>
                <a:ea typeface="Arial"/>
                <a:cs typeface="Arial"/>
              </a:defRPr>
            </a:lvl7pPr>
            <a:lvl8pPr>
              <a:defRPr sz="1650" b="0">
                <a:solidFill>
                  <a:srgbClr val="475569"/>
                </a:solidFill>
                <a:latin typeface="Arial"/>
                <a:ea typeface="Arial"/>
                <a:cs typeface="Arial"/>
              </a:defRPr>
            </a:lvl8pPr>
            <a:lvl9pPr>
              <a:defRPr sz="1650" b="0">
                <a:solidFill>
                  <a:srgbClr val="475569"/>
                </a:solidFill>
                <a:latin typeface="Arial"/>
                <a:ea typeface="Arial"/>
                <a:cs typeface="Arial"/>
              </a:defRPr>
            </a:lvl9pPr>
          </a:lstStyle>
          <a:p xmlns:a="http://schemas.openxmlformats.org/drawingml/2006/main">
            <a:pPr>
              <a:defRPr sz="1650" b="0">
                <a:solidFill>
                  <a:srgbClr val="475569"/>
                </a:solidFill>
                <a:latin typeface="Arial"/>
                <a:ea typeface="Arial"/>
                <a:cs typeface="Arial"/>
              </a:defRPr>
            </a:pPr>
            <a:r>
              <a:rPr sz="1650" b="0">
                <a:solidFill>
                  <a:srgbClr val="475569"/>
                </a:solidFill>
                <a:latin typeface="Arial"/>
                <a:ea typeface="Arial"/>
                <a:cs typeface="Arial"/>
              </a:rPr>
              <a:t>Comparação de direções, mecanismos e limites. Valores absolutos de estudos distintos</a:t>
            </a:r>
          </a:p>
          <a:p xmlns:a="http://schemas.openxmlformats.org/drawingml/2006/main">
            <a:pPr>
              <a:defRPr sz="1650" b="0">
                <a:solidFill>
                  <a:srgbClr val="475569"/>
                </a:solidFill>
                <a:latin typeface="Arial"/>
                <a:ea typeface="Arial"/>
                <a:cs typeface="Arial"/>
              </a:defRPr>
            </a:pPr>
            <a:r>
              <a:rPr sz="1650" b="0">
                <a:solidFill>
                  <a:srgbClr val="475569"/>
                </a:solidFill>
                <a:latin typeface="Arial"/>
                <a:ea typeface="Arial"/>
                <a:cs typeface="Arial"/>
              </a:rPr>
              <a:t>não formam uma mesma amostra e não são comparados diretamente.</a:t>
            </a:r>
          </a:p>
        </p:txBody>
      </p:sp>
    </p:spTree>
    <p:extLst>
      <p:ext uri="{BB962C8B-B14F-4D97-AF65-F5344CB8AC3E}">
        <p14:creationId xmlns:p14="http://schemas.microsoft.com/office/powerpoint/2010/main" val="115686625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7794B6E-5AB8-4D03-81BA-23D8A9F0FD3C}"/>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72B4D"/>
                </a:solidFill>
                <a:latin typeface="Arial"/>
                <a:ea typeface="Arial"/>
                <a:cs typeface="Arial"/>
              </a:defRPr>
            </a:defPPr>
            <a:lvl1pPr>
              <a:defRPr sz="2850" b="1">
                <a:solidFill>
                  <a:srgbClr val="172B4D"/>
                </a:solidFill>
                <a:latin typeface="Arial"/>
                <a:ea typeface="Arial"/>
                <a:cs typeface="Arial"/>
              </a:defRPr>
            </a:lvl1pPr>
            <a:lvl2pPr>
              <a:defRPr sz="2850" b="1">
                <a:solidFill>
                  <a:srgbClr val="172B4D"/>
                </a:solidFill>
                <a:latin typeface="Arial"/>
                <a:ea typeface="Arial"/>
                <a:cs typeface="Arial"/>
              </a:defRPr>
            </a:lvl2pPr>
            <a:lvl3pPr>
              <a:defRPr sz="2850" b="1">
                <a:solidFill>
                  <a:srgbClr val="172B4D"/>
                </a:solidFill>
                <a:latin typeface="Arial"/>
                <a:ea typeface="Arial"/>
                <a:cs typeface="Arial"/>
              </a:defRPr>
            </a:lvl3pPr>
            <a:lvl4pPr>
              <a:defRPr sz="2850" b="1">
                <a:solidFill>
                  <a:srgbClr val="172B4D"/>
                </a:solidFill>
                <a:latin typeface="Arial"/>
                <a:ea typeface="Arial"/>
                <a:cs typeface="Arial"/>
              </a:defRPr>
            </a:lvl4pPr>
            <a:lvl5pPr>
              <a:defRPr sz="2850" b="1">
                <a:solidFill>
                  <a:srgbClr val="172B4D"/>
                </a:solidFill>
                <a:latin typeface="Arial"/>
                <a:ea typeface="Arial"/>
                <a:cs typeface="Arial"/>
              </a:defRPr>
            </a:lvl5pPr>
            <a:lvl6pPr>
              <a:defRPr sz="2850" b="1">
                <a:solidFill>
                  <a:srgbClr val="172B4D"/>
                </a:solidFill>
                <a:latin typeface="Arial"/>
                <a:ea typeface="Arial"/>
                <a:cs typeface="Arial"/>
              </a:defRPr>
            </a:lvl6pPr>
            <a:lvl7pPr>
              <a:defRPr sz="2850" b="1">
                <a:solidFill>
                  <a:srgbClr val="172B4D"/>
                </a:solidFill>
                <a:latin typeface="Arial"/>
                <a:ea typeface="Arial"/>
                <a:cs typeface="Arial"/>
              </a:defRPr>
            </a:lvl7pPr>
            <a:lvl8pPr>
              <a:defRPr sz="2850" b="1">
                <a:solidFill>
                  <a:srgbClr val="172B4D"/>
                </a:solidFill>
                <a:latin typeface="Arial"/>
                <a:ea typeface="Arial"/>
                <a:cs typeface="Arial"/>
              </a:defRPr>
            </a:lvl8pPr>
            <a:lvl9pPr>
              <a:defRPr sz="2850" b="1">
                <a:solidFill>
                  <a:srgbClr val="172B4D"/>
                </a:solidFill>
                <a:latin typeface="Arial"/>
                <a:ea typeface="Arial"/>
                <a:cs typeface="Arial"/>
              </a:defRPr>
            </a:lvl9pPr>
          </a:lstStyle>
          <a:p xmlns:a="http://schemas.openxmlformats.org/drawingml/2006/main">
            <a:pPr>
              <a:defRPr sz="2850" b="1">
                <a:solidFill>
                  <a:srgbClr val="172B4D"/>
                </a:solidFill>
                <a:latin typeface="Arial"/>
                <a:ea typeface="Arial"/>
                <a:cs typeface="Arial"/>
              </a:defRPr>
            </a:pPr>
            <a:r>
              <a:rPr sz="2850" b="1">
                <a:solidFill>
                  <a:srgbClr val="172B4D"/>
                </a:solidFill>
                <a:latin typeface="Arial"/>
                <a:ea typeface="Arial"/>
                <a:cs typeface="Arial"/>
              </a:rPr>
              <a:t>Resposta HTTP e conclusão a 48 eventos por segundo</a:t>
            </a:r>
          </a:p>
        </p:txBody>
      </p:sp>
      <p:sp>
        <p:nvSpPr>
          <p:cNvPr id="2" name="">
            <a:extLst xmlns:a="http://schemas.openxmlformats.org/drawingml/2006/main">
              <a:ext uri="{FF2B5EF4-FFF2-40B4-BE49-F238E27FC236}">
                <a16:creationId xmlns:a16="http://schemas.microsoft.com/office/drawing/2014/main" id="{8273EA46-EDB0-4741-ACD0-64CC43A5F040}"/>
              </a:ext>
            </a:extLst>
          </p:cNvPr>
          <p:cNvSpPr>
            <a:spLocks xmlns:a="http://schemas.openxmlformats.org/drawingml/2006/main" noGrp="1"/>
          </p:cNvSpPr>
          <p:nvPr/>
        </p:nvSpPr>
        <p:spPr>
          <a:xfrm xmlns:a="http://schemas.openxmlformats.org/drawingml/2006/main">
            <a:off x="10382250" y="62388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4748B"/>
                </a:solidFill>
                <a:latin typeface="Arial"/>
                <a:ea typeface="Arial"/>
                <a:cs typeface="Arial"/>
              </a:defRPr>
            </a:defPPr>
            <a:lvl1pPr>
              <a:defRPr sz="1350" b="0">
                <a:solidFill>
                  <a:srgbClr val="64748B"/>
                </a:solidFill>
                <a:latin typeface="Arial"/>
                <a:ea typeface="Arial"/>
                <a:cs typeface="Arial"/>
              </a:defRPr>
            </a:lvl1pPr>
            <a:lvl2pPr>
              <a:defRPr sz="1350" b="0">
                <a:solidFill>
                  <a:srgbClr val="64748B"/>
                </a:solidFill>
                <a:latin typeface="Arial"/>
                <a:ea typeface="Arial"/>
                <a:cs typeface="Arial"/>
              </a:defRPr>
            </a:lvl2pPr>
            <a:lvl3pPr>
              <a:defRPr sz="1350" b="0">
                <a:solidFill>
                  <a:srgbClr val="64748B"/>
                </a:solidFill>
                <a:latin typeface="Arial"/>
                <a:ea typeface="Arial"/>
                <a:cs typeface="Arial"/>
              </a:defRPr>
            </a:lvl3pPr>
            <a:lvl4pPr>
              <a:defRPr sz="1350" b="0">
                <a:solidFill>
                  <a:srgbClr val="64748B"/>
                </a:solidFill>
                <a:latin typeface="Arial"/>
                <a:ea typeface="Arial"/>
                <a:cs typeface="Arial"/>
              </a:defRPr>
            </a:lvl4pPr>
            <a:lvl5pPr>
              <a:defRPr sz="1350" b="0">
                <a:solidFill>
                  <a:srgbClr val="64748B"/>
                </a:solidFill>
                <a:latin typeface="Arial"/>
                <a:ea typeface="Arial"/>
                <a:cs typeface="Arial"/>
              </a:defRPr>
            </a:lvl5pPr>
            <a:lvl6pPr>
              <a:defRPr sz="1350" b="0">
                <a:solidFill>
                  <a:srgbClr val="64748B"/>
                </a:solidFill>
                <a:latin typeface="Arial"/>
                <a:ea typeface="Arial"/>
                <a:cs typeface="Arial"/>
              </a:defRPr>
            </a:lvl6pPr>
            <a:lvl7pPr>
              <a:defRPr sz="1350" b="0">
                <a:solidFill>
                  <a:srgbClr val="64748B"/>
                </a:solidFill>
                <a:latin typeface="Arial"/>
                <a:ea typeface="Arial"/>
                <a:cs typeface="Arial"/>
              </a:defRPr>
            </a:lvl7pPr>
            <a:lvl8pPr>
              <a:defRPr sz="1350" b="0">
                <a:solidFill>
                  <a:srgbClr val="64748B"/>
                </a:solidFill>
                <a:latin typeface="Arial"/>
                <a:ea typeface="Arial"/>
                <a:cs typeface="Arial"/>
              </a:defRPr>
            </a:lvl8pPr>
            <a:lvl9pPr>
              <a:defRPr sz="1350" b="0">
                <a:solidFill>
                  <a:srgbClr val="64748B"/>
                </a:solidFill>
                <a:latin typeface="Arial"/>
                <a:ea typeface="Arial"/>
                <a:cs typeface="Arial"/>
              </a:defRPr>
            </a:lvl9pPr>
          </a:lstStyle>
          <a:p xmlns:a="http://schemas.openxmlformats.org/drawingml/2006/main">
            <a:pPr>
              <a:defRPr sz="1350" b="0">
                <a:solidFill>
                  <a:srgbClr val="64748B"/>
                </a:solidFill>
                <a:latin typeface="Arial"/>
                <a:ea typeface="Arial"/>
                <a:cs typeface="Arial"/>
              </a:defRPr>
            </a:pPr>
            <a:r>
              <a:rPr sz="1350" b="0">
                <a:solidFill>
                  <a:srgbClr val="64748B"/>
                </a:solidFill>
                <a:latin typeface="Arial"/>
                <a:ea typeface="Arial"/>
                <a:cs typeface="Arial"/>
              </a:rPr>
              <a:t>Apoio 5</a:t>
            </a:r>
          </a:p>
        </p:txBody>
      </p:sp>
      <p:graphicFrame>
        <p:nvGraphicFramePr>
          <p:cNvPr id="3" name="Chart">
            <a:extLst xmlns:a="http://schemas.openxmlformats.org/drawingml/2006/main">
              <a:ext uri="{FF2B5EF4-FFF2-40B4-BE49-F238E27FC236}">
                <a16:creationId xmlns:a16="http://schemas.microsoft.com/office/drawing/2014/main" id="{C2C7FD6C-C3DF-4AE1-B9A2-F8D64D20F259}"/>
              </a:ext>
            </a:extLst>
          </p:cNvPr>
          <p:cNvGraphicFramePr/>
          <p:nvPr/>
        </p:nvGraphicFramePr>
        <p:xfrm>
          <a:off xmlns:a="http://schemas.openxmlformats.org/drawingml/2006/main" x="762000" y="1762125"/>
          <a:ext xmlns:a="http://schemas.openxmlformats.org/drawingml/2006/main" cx="10668000" cy="3381375"/>
        </p:xfrm>
        <a:graphic xmlns:a="http://schemas.openxmlformats.org/drawingml/2006/main">
          <a:graphicData uri="http://schemas.openxmlformats.org/drawingml/2006/chart">
            <c:chart xmlns:r="http://schemas.openxmlformats.org/officeDocument/2006/relationships" xmlns:c="http://schemas.openxmlformats.org/drawingml/2006/chart" r:id="R6c3f54ada19948ff"/>
          </a:graphicData>
        </a:graphic>
      </p:graphicFrame>
      <p:sp>
        <p:nvSpPr>
          <p:cNvPr id="4" name="">
            <a:extLst xmlns:a="http://schemas.openxmlformats.org/drawingml/2006/main">
              <a:ext uri="{FF2B5EF4-FFF2-40B4-BE49-F238E27FC236}">
                <a16:creationId xmlns:a16="http://schemas.microsoft.com/office/drawing/2014/main" id="{C747381D-D8E7-416D-8EAF-225AD32CE297}"/>
              </a:ext>
            </a:extLst>
          </p:cNvPr>
          <p:cNvSpPr>
            <a:spLocks xmlns:a="http://schemas.openxmlformats.org/drawingml/2006/main" noGrp="1"/>
          </p:cNvSpPr>
          <p:nvPr/>
        </p:nvSpPr>
        <p:spPr>
          <a:xfrm xmlns:a="http://schemas.openxmlformats.org/drawingml/2006/main">
            <a:off x="685800" y="55721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75569"/>
                </a:solidFill>
                <a:latin typeface="Arial"/>
                <a:ea typeface="Arial"/>
                <a:cs typeface="Arial"/>
              </a:defRPr>
            </a:defPPr>
            <a:lvl1pPr>
              <a:defRPr sz="1725" b="0">
                <a:solidFill>
                  <a:srgbClr val="475569"/>
                </a:solidFill>
                <a:latin typeface="Arial"/>
                <a:ea typeface="Arial"/>
                <a:cs typeface="Arial"/>
              </a:defRPr>
            </a:lvl1pPr>
            <a:lvl2pPr>
              <a:defRPr sz="1725" b="0">
                <a:solidFill>
                  <a:srgbClr val="475569"/>
                </a:solidFill>
                <a:latin typeface="Arial"/>
                <a:ea typeface="Arial"/>
                <a:cs typeface="Arial"/>
              </a:defRPr>
            </a:lvl2pPr>
            <a:lvl3pPr>
              <a:defRPr sz="1725" b="0">
                <a:solidFill>
                  <a:srgbClr val="475569"/>
                </a:solidFill>
                <a:latin typeface="Arial"/>
                <a:ea typeface="Arial"/>
                <a:cs typeface="Arial"/>
              </a:defRPr>
            </a:lvl3pPr>
            <a:lvl4pPr>
              <a:defRPr sz="1725" b="0">
                <a:solidFill>
                  <a:srgbClr val="475569"/>
                </a:solidFill>
                <a:latin typeface="Arial"/>
                <a:ea typeface="Arial"/>
                <a:cs typeface="Arial"/>
              </a:defRPr>
            </a:lvl4pPr>
            <a:lvl5pPr>
              <a:defRPr sz="1725" b="0">
                <a:solidFill>
                  <a:srgbClr val="475569"/>
                </a:solidFill>
                <a:latin typeface="Arial"/>
                <a:ea typeface="Arial"/>
                <a:cs typeface="Arial"/>
              </a:defRPr>
            </a:lvl5pPr>
            <a:lvl6pPr>
              <a:defRPr sz="1725" b="0">
                <a:solidFill>
                  <a:srgbClr val="475569"/>
                </a:solidFill>
                <a:latin typeface="Arial"/>
                <a:ea typeface="Arial"/>
                <a:cs typeface="Arial"/>
              </a:defRPr>
            </a:lvl6pPr>
            <a:lvl7pPr>
              <a:defRPr sz="1725" b="0">
                <a:solidFill>
                  <a:srgbClr val="475569"/>
                </a:solidFill>
                <a:latin typeface="Arial"/>
                <a:ea typeface="Arial"/>
                <a:cs typeface="Arial"/>
              </a:defRPr>
            </a:lvl7pPr>
            <a:lvl8pPr>
              <a:defRPr sz="1725" b="0">
                <a:solidFill>
                  <a:srgbClr val="475569"/>
                </a:solidFill>
                <a:latin typeface="Arial"/>
                <a:ea typeface="Arial"/>
                <a:cs typeface="Arial"/>
              </a:defRPr>
            </a:lvl8pPr>
            <a:lvl9pPr>
              <a:defRPr sz="1725" b="0">
                <a:solidFill>
                  <a:srgbClr val="475569"/>
                </a:solidFill>
                <a:latin typeface="Arial"/>
                <a:ea typeface="Arial"/>
                <a:cs typeface="Arial"/>
              </a:defRPr>
            </a:lvl9pPr>
          </a:lstStyle>
          <a:p xmlns:a="http://schemas.openxmlformats.org/drawingml/2006/main">
            <a:pPr>
              <a:defRPr sz="1725" b="0">
                <a:solidFill>
                  <a:srgbClr val="475569"/>
                </a:solidFill>
                <a:latin typeface="Arial"/>
                <a:ea typeface="Arial"/>
                <a:cs typeface="Arial"/>
              </a:defRPr>
            </a:pPr>
            <a:r>
              <a:rPr sz="1725" b="0">
                <a:solidFill>
                  <a:srgbClr val="475569"/>
                </a:solidFill>
                <a:latin typeface="Arial"/>
                <a:ea typeface="Arial"/>
                <a:cs typeface="Arial"/>
              </a:rPr>
              <a:t>Médias de cinco p95 por variante. As barras não representam eventos agrupados.</a:t>
            </a:r>
          </a:p>
          <a:p xmlns:a="http://schemas.openxmlformats.org/drawingml/2006/main">
            <a:pPr>
              <a:defRPr sz="1725" b="0">
                <a:solidFill>
                  <a:srgbClr val="475569"/>
                </a:solidFill>
                <a:latin typeface="Arial"/>
                <a:ea typeface="Arial"/>
                <a:cs typeface="Arial"/>
              </a:defRPr>
            </a:pPr>
            <a:r>
              <a:rPr sz="1725" b="0">
                <a:solidFill>
                  <a:srgbClr val="475569"/>
                </a:solidFill>
                <a:latin typeface="Arial"/>
                <a:ea typeface="Arial"/>
                <a:cs typeface="Arial"/>
              </a:rPr>
              <a:t>A evidência descritiva não estabelece superioridade estatística ou capacidade máxima.</a:t>
            </a:r>
          </a:p>
        </p:txBody>
      </p:sp>
    </p:spTree>
    <p:extLst>
      <p:ext uri="{BB962C8B-B14F-4D97-AF65-F5344CB8AC3E}">
        <p14:creationId xmlns:p14="http://schemas.microsoft.com/office/powerpoint/2010/main" val="43522825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505FE3A-DD92-4B40-803F-FDEC9B8375A0}"/>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72B4D"/>
                </a:solidFill>
                <a:latin typeface="Arial"/>
                <a:ea typeface="Arial"/>
                <a:cs typeface="Arial"/>
              </a:defRPr>
            </a:defPPr>
            <a:lvl1pPr>
              <a:defRPr sz="2850" b="1">
                <a:solidFill>
                  <a:srgbClr val="172B4D"/>
                </a:solidFill>
                <a:latin typeface="Arial"/>
                <a:ea typeface="Arial"/>
                <a:cs typeface="Arial"/>
              </a:defRPr>
            </a:lvl1pPr>
            <a:lvl2pPr>
              <a:defRPr sz="2850" b="1">
                <a:solidFill>
                  <a:srgbClr val="172B4D"/>
                </a:solidFill>
                <a:latin typeface="Arial"/>
                <a:ea typeface="Arial"/>
                <a:cs typeface="Arial"/>
              </a:defRPr>
            </a:lvl2pPr>
            <a:lvl3pPr>
              <a:defRPr sz="2850" b="1">
                <a:solidFill>
                  <a:srgbClr val="172B4D"/>
                </a:solidFill>
                <a:latin typeface="Arial"/>
                <a:ea typeface="Arial"/>
                <a:cs typeface="Arial"/>
              </a:defRPr>
            </a:lvl3pPr>
            <a:lvl4pPr>
              <a:defRPr sz="2850" b="1">
                <a:solidFill>
                  <a:srgbClr val="172B4D"/>
                </a:solidFill>
                <a:latin typeface="Arial"/>
                <a:ea typeface="Arial"/>
                <a:cs typeface="Arial"/>
              </a:defRPr>
            </a:lvl4pPr>
            <a:lvl5pPr>
              <a:defRPr sz="2850" b="1">
                <a:solidFill>
                  <a:srgbClr val="172B4D"/>
                </a:solidFill>
                <a:latin typeface="Arial"/>
                <a:ea typeface="Arial"/>
                <a:cs typeface="Arial"/>
              </a:defRPr>
            </a:lvl5pPr>
            <a:lvl6pPr>
              <a:defRPr sz="2850" b="1">
                <a:solidFill>
                  <a:srgbClr val="172B4D"/>
                </a:solidFill>
                <a:latin typeface="Arial"/>
                <a:ea typeface="Arial"/>
                <a:cs typeface="Arial"/>
              </a:defRPr>
            </a:lvl6pPr>
            <a:lvl7pPr>
              <a:defRPr sz="2850" b="1">
                <a:solidFill>
                  <a:srgbClr val="172B4D"/>
                </a:solidFill>
                <a:latin typeface="Arial"/>
                <a:ea typeface="Arial"/>
                <a:cs typeface="Arial"/>
              </a:defRPr>
            </a:lvl7pPr>
            <a:lvl8pPr>
              <a:defRPr sz="2850" b="1">
                <a:solidFill>
                  <a:srgbClr val="172B4D"/>
                </a:solidFill>
                <a:latin typeface="Arial"/>
                <a:ea typeface="Arial"/>
                <a:cs typeface="Arial"/>
              </a:defRPr>
            </a:lvl8pPr>
            <a:lvl9pPr>
              <a:defRPr sz="2850" b="1">
                <a:solidFill>
                  <a:srgbClr val="172B4D"/>
                </a:solidFill>
                <a:latin typeface="Arial"/>
                <a:ea typeface="Arial"/>
                <a:cs typeface="Arial"/>
              </a:defRPr>
            </a:lvl9pPr>
          </a:lstStyle>
          <a:p xmlns:a="http://schemas.openxmlformats.org/drawingml/2006/main">
            <a:pPr>
              <a:defRPr sz="2850" b="1">
                <a:solidFill>
                  <a:srgbClr val="172B4D"/>
                </a:solidFill>
                <a:latin typeface="Arial"/>
                <a:ea typeface="Arial"/>
                <a:cs typeface="Arial"/>
              </a:defRPr>
            </a:pPr>
            <a:r>
              <a:rPr sz="2850" b="1">
                <a:solidFill>
                  <a:srgbClr val="172B4D"/>
                </a:solidFill>
                <a:latin typeface="Arial"/>
                <a:ea typeface="Arial"/>
                <a:cs typeface="Arial"/>
              </a:rPr>
              <a:t>CPU e memória do caminho completo a 12 eventos/s</a:t>
            </a:r>
          </a:p>
        </p:txBody>
      </p:sp>
      <p:sp>
        <p:nvSpPr>
          <p:cNvPr id="2" name="">
            <a:extLst xmlns:a="http://schemas.openxmlformats.org/drawingml/2006/main">
              <a:ext uri="{FF2B5EF4-FFF2-40B4-BE49-F238E27FC236}">
                <a16:creationId xmlns:a16="http://schemas.microsoft.com/office/drawing/2014/main" id="{513F7BD3-E331-4ACA-84D0-4172B34F98B1}"/>
              </a:ext>
            </a:extLst>
          </p:cNvPr>
          <p:cNvSpPr>
            <a:spLocks xmlns:a="http://schemas.openxmlformats.org/drawingml/2006/main" noGrp="1"/>
          </p:cNvSpPr>
          <p:nvPr/>
        </p:nvSpPr>
        <p:spPr>
          <a:xfrm xmlns:a="http://schemas.openxmlformats.org/drawingml/2006/main">
            <a:off x="10382250" y="62388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4748B"/>
                </a:solidFill>
                <a:latin typeface="Arial"/>
                <a:ea typeface="Arial"/>
                <a:cs typeface="Arial"/>
              </a:defRPr>
            </a:defPPr>
            <a:lvl1pPr>
              <a:defRPr sz="1350" b="0">
                <a:solidFill>
                  <a:srgbClr val="64748B"/>
                </a:solidFill>
                <a:latin typeface="Arial"/>
                <a:ea typeface="Arial"/>
                <a:cs typeface="Arial"/>
              </a:defRPr>
            </a:lvl1pPr>
            <a:lvl2pPr>
              <a:defRPr sz="1350" b="0">
                <a:solidFill>
                  <a:srgbClr val="64748B"/>
                </a:solidFill>
                <a:latin typeface="Arial"/>
                <a:ea typeface="Arial"/>
                <a:cs typeface="Arial"/>
              </a:defRPr>
            </a:lvl2pPr>
            <a:lvl3pPr>
              <a:defRPr sz="1350" b="0">
                <a:solidFill>
                  <a:srgbClr val="64748B"/>
                </a:solidFill>
                <a:latin typeface="Arial"/>
                <a:ea typeface="Arial"/>
                <a:cs typeface="Arial"/>
              </a:defRPr>
            </a:lvl3pPr>
            <a:lvl4pPr>
              <a:defRPr sz="1350" b="0">
                <a:solidFill>
                  <a:srgbClr val="64748B"/>
                </a:solidFill>
                <a:latin typeface="Arial"/>
                <a:ea typeface="Arial"/>
                <a:cs typeface="Arial"/>
              </a:defRPr>
            </a:lvl4pPr>
            <a:lvl5pPr>
              <a:defRPr sz="1350" b="0">
                <a:solidFill>
                  <a:srgbClr val="64748B"/>
                </a:solidFill>
                <a:latin typeface="Arial"/>
                <a:ea typeface="Arial"/>
                <a:cs typeface="Arial"/>
              </a:defRPr>
            </a:lvl5pPr>
            <a:lvl6pPr>
              <a:defRPr sz="1350" b="0">
                <a:solidFill>
                  <a:srgbClr val="64748B"/>
                </a:solidFill>
                <a:latin typeface="Arial"/>
                <a:ea typeface="Arial"/>
                <a:cs typeface="Arial"/>
              </a:defRPr>
            </a:lvl6pPr>
            <a:lvl7pPr>
              <a:defRPr sz="1350" b="0">
                <a:solidFill>
                  <a:srgbClr val="64748B"/>
                </a:solidFill>
                <a:latin typeface="Arial"/>
                <a:ea typeface="Arial"/>
                <a:cs typeface="Arial"/>
              </a:defRPr>
            </a:lvl7pPr>
            <a:lvl8pPr>
              <a:defRPr sz="1350" b="0">
                <a:solidFill>
                  <a:srgbClr val="64748B"/>
                </a:solidFill>
                <a:latin typeface="Arial"/>
                <a:ea typeface="Arial"/>
                <a:cs typeface="Arial"/>
              </a:defRPr>
            </a:lvl8pPr>
            <a:lvl9pPr>
              <a:defRPr sz="1350" b="0">
                <a:solidFill>
                  <a:srgbClr val="64748B"/>
                </a:solidFill>
                <a:latin typeface="Arial"/>
                <a:ea typeface="Arial"/>
                <a:cs typeface="Arial"/>
              </a:defRPr>
            </a:lvl9pPr>
          </a:lstStyle>
          <a:p xmlns:a="http://schemas.openxmlformats.org/drawingml/2006/main">
            <a:pPr>
              <a:defRPr sz="1350" b="0">
                <a:solidFill>
                  <a:srgbClr val="64748B"/>
                </a:solidFill>
                <a:latin typeface="Arial"/>
                <a:ea typeface="Arial"/>
                <a:cs typeface="Arial"/>
              </a:defRPr>
            </a:pPr>
            <a:r>
              <a:rPr sz="1350" b="0">
                <a:solidFill>
                  <a:srgbClr val="64748B"/>
                </a:solidFill>
                <a:latin typeface="Arial"/>
                <a:ea typeface="Arial"/>
                <a:cs typeface="Arial"/>
              </a:rPr>
              <a:t>Apoio 6</a:t>
            </a:r>
          </a:p>
        </p:txBody>
      </p:sp>
      <p:graphicFrame>
        <p:nvGraphicFramePr>
          <p:cNvPr id="3" name="Chart">
            <a:extLst xmlns:a="http://schemas.openxmlformats.org/drawingml/2006/main">
              <a:ext uri="{FF2B5EF4-FFF2-40B4-BE49-F238E27FC236}">
                <a16:creationId xmlns:a16="http://schemas.microsoft.com/office/drawing/2014/main" id="{8F89BF4F-C9E5-4FA9-BEEB-DF506BD6F3C0}"/>
              </a:ext>
            </a:extLst>
          </p:cNvPr>
          <p:cNvGraphicFramePr/>
          <p:nvPr/>
        </p:nvGraphicFramePr>
        <p:xfrm>
          <a:off xmlns:a="http://schemas.openxmlformats.org/drawingml/2006/main" x="762000" y="1762125"/>
          <a:ext xmlns:a="http://schemas.openxmlformats.org/drawingml/2006/main" cx="5048250" cy="3381375"/>
        </p:xfrm>
        <a:graphic xmlns:a="http://schemas.openxmlformats.org/drawingml/2006/main">
          <a:graphicData uri="http://schemas.openxmlformats.org/drawingml/2006/chart">
            <c:chart xmlns:r="http://schemas.openxmlformats.org/officeDocument/2006/relationships" xmlns:c="http://schemas.openxmlformats.org/drawingml/2006/chart" r:id="Rdec4e27629704330"/>
          </a:graphicData>
        </a:graphic>
      </p:graphicFrame>
      <p:graphicFrame>
        <p:nvGraphicFramePr>
          <p:cNvPr id="4" name="Chart">
            <a:extLst xmlns:a="http://schemas.openxmlformats.org/drawingml/2006/main">
              <a:ext uri="{FF2B5EF4-FFF2-40B4-BE49-F238E27FC236}">
                <a16:creationId xmlns:a16="http://schemas.microsoft.com/office/drawing/2014/main" id="{38AFAAC1-3744-45C7-A944-AA309D7C071D}"/>
              </a:ext>
            </a:extLst>
          </p:cNvPr>
          <p:cNvGraphicFramePr/>
          <p:nvPr/>
        </p:nvGraphicFramePr>
        <p:xfrm>
          <a:off xmlns:a="http://schemas.openxmlformats.org/drawingml/2006/main" x="6381750" y="1762125"/>
          <a:ext xmlns:a="http://schemas.openxmlformats.org/drawingml/2006/main" cx="5048250" cy="3381375"/>
        </p:xfrm>
        <a:graphic xmlns:a="http://schemas.openxmlformats.org/drawingml/2006/main">
          <a:graphicData uri="http://schemas.openxmlformats.org/drawingml/2006/chart">
            <c:chart xmlns:r="http://schemas.openxmlformats.org/officeDocument/2006/relationships" xmlns:c="http://schemas.openxmlformats.org/drawingml/2006/chart" r:id="Ree4033a9a4024617"/>
          </a:graphicData>
        </a:graphic>
      </p:graphicFrame>
      <p:sp>
        <p:nvSpPr>
          <p:cNvPr id="5" name="">
            <a:extLst xmlns:a="http://schemas.openxmlformats.org/drawingml/2006/main">
              <a:ext uri="{FF2B5EF4-FFF2-40B4-BE49-F238E27FC236}">
                <a16:creationId xmlns:a16="http://schemas.microsoft.com/office/drawing/2014/main" id="{124D03F2-B6AE-4E92-A475-86BB21E6240E}"/>
              </a:ext>
            </a:extLst>
          </p:cNvPr>
          <p:cNvSpPr>
            <a:spLocks xmlns:a="http://schemas.openxmlformats.org/drawingml/2006/main" noGrp="1"/>
          </p:cNvSpPr>
          <p:nvPr/>
        </p:nvSpPr>
        <p:spPr>
          <a:xfrm xmlns:a="http://schemas.openxmlformats.org/drawingml/2006/main">
            <a:off x="685800" y="55721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75569"/>
                </a:solidFill>
                <a:latin typeface="Arial"/>
                <a:ea typeface="Arial"/>
                <a:cs typeface="Arial"/>
              </a:defRPr>
            </a:defPPr>
            <a:lvl1pPr>
              <a:defRPr sz="1725" b="0">
                <a:solidFill>
                  <a:srgbClr val="475569"/>
                </a:solidFill>
                <a:latin typeface="Arial"/>
                <a:ea typeface="Arial"/>
                <a:cs typeface="Arial"/>
              </a:defRPr>
            </a:lvl1pPr>
            <a:lvl2pPr>
              <a:defRPr sz="1725" b="0">
                <a:solidFill>
                  <a:srgbClr val="475569"/>
                </a:solidFill>
                <a:latin typeface="Arial"/>
                <a:ea typeface="Arial"/>
                <a:cs typeface="Arial"/>
              </a:defRPr>
            </a:lvl2pPr>
            <a:lvl3pPr>
              <a:defRPr sz="1725" b="0">
                <a:solidFill>
                  <a:srgbClr val="475569"/>
                </a:solidFill>
                <a:latin typeface="Arial"/>
                <a:ea typeface="Arial"/>
                <a:cs typeface="Arial"/>
              </a:defRPr>
            </a:lvl3pPr>
            <a:lvl4pPr>
              <a:defRPr sz="1725" b="0">
                <a:solidFill>
                  <a:srgbClr val="475569"/>
                </a:solidFill>
                <a:latin typeface="Arial"/>
                <a:ea typeface="Arial"/>
                <a:cs typeface="Arial"/>
              </a:defRPr>
            </a:lvl4pPr>
            <a:lvl5pPr>
              <a:defRPr sz="1725" b="0">
                <a:solidFill>
                  <a:srgbClr val="475569"/>
                </a:solidFill>
                <a:latin typeface="Arial"/>
                <a:ea typeface="Arial"/>
                <a:cs typeface="Arial"/>
              </a:defRPr>
            </a:lvl5pPr>
            <a:lvl6pPr>
              <a:defRPr sz="1725" b="0">
                <a:solidFill>
                  <a:srgbClr val="475569"/>
                </a:solidFill>
                <a:latin typeface="Arial"/>
                <a:ea typeface="Arial"/>
                <a:cs typeface="Arial"/>
              </a:defRPr>
            </a:lvl6pPr>
            <a:lvl7pPr>
              <a:defRPr sz="1725" b="0">
                <a:solidFill>
                  <a:srgbClr val="475569"/>
                </a:solidFill>
                <a:latin typeface="Arial"/>
                <a:ea typeface="Arial"/>
                <a:cs typeface="Arial"/>
              </a:defRPr>
            </a:lvl7pPr>
            <a:lvl8pPr>
              <a:defRPr sz="1725" b="0">
                <a:solidFill>
                  <a:srgbClr val="475569"/>
                </a:solidFill>
                <a:latin typeface="Arial"/>
                <a:ea typeface="Arial"/>
                <a:cs typeface="Arial"/>
              </a:defRPr>
            </a:lvl8pPr>
            <a:lvl9pPr>
              <a:defRPr sz="1725" b="0">
                <a:solidFill>
                  <a:srgbClr val="475569"/>
                </a:solidFill>
                <a:latin typeface="Arial"/>
                <a:ea typeface="Arial"/>
                <a:cs typeface="Arial"/>
              </a:defRPr>
            </a:lvl9pPr>
          </a:lstStyle>
          <a:p xmlns:a="http://schemas.openxmlformats.org/drawingml/2006/main">
            <a:pPr>
              <a:defRPr sz="1725" b="0">
                <a:solidFill>
                  <a:srgbClr val="475569"/>
                </a:solidFill>
                <a:latin typeface="Arial"/>
                <a:ea typeface="Arial"/>
                <a:cs typeface="Arial"/>
              </a:defRPr>
            </a:pPr>
            <a:r>
              <a:rPr sz="1725" b="0">
                <a:solidFill>
                  <a:srgbClr val="475569"/>
                </a:solidFill>
                <a:latin typeface="Arial"/>
                <a:ea typeface="Arial"/>
                <a:cs typeface="Arial"/>
              </a:rPr>
              <a:t>Cinco médias por coleta. A soma inclui os componentes adicionais da assíncrona.</a:t>
            </a:r>
          </a:p>
          <a:p xmlns:a="http://schemas.openxmlformats.org/drawingml/2006/main">
            <a:pPr>
              <a:defRPr sz="1725" b="0">
                <a:solidFill>
                  <a:srgbClr val="475569"/>
                </a:solidFill>
                <a:latin typeface="Arial"/>
                <a:ea typeface="Arial"/>
                <a:cs typeface="Arial"/>
              </a:defRPr>
            </a:pPr>
            <a:r>
              <a:rPr sz="1725" b="0">
                <a:solidFill>
                  <a:srgbClr val="475569"/>
                </a:solidFill>
                <a:latin typeface="Arial"/>
                <a:ea typeface="Arial"/>
                <a:cs typeface="Arial"/>
              </a:rPr>
              <a:t>Gerador e observador ficam separados. CPU e memória não medem custo financeiro.</a:t>
            </a:r>
          </a:p>
        </p:txBody>
      </p:sp>
    </p:spTree>
    <p:extLst>
      <p:ext uri="{BB962C8B-B14F-4D97-AF65-F5344CB8AC3E}">
        <p14:creationId xmlns:p14="http://schemas.microsoft.com/office/powerpoint/2010/main" val="193889750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AB897B7-0467-4EE3-86B0-A14867F078D7}"/>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72B4D"/>
                </a:solidFill>
                <a:latin typeface="Arial"/>
                <a:ea typeface="Arial"/>
                <a:cs typeface="Arial"/>
              </a:defRPr>
            </a:defPPr>
            <a:lvl1pPr>
              <a:defRPr sz="2850" b="1">
                <a:solidFill>
                  <a:srgbClr val="172B4D"/>
                </a:solidFill>
                <a:latin typeface="Arial"/>
                <a:ea typeface="Arial"/>
                <a:cs typeface="Arial"/>
              </a:defRPr>
            </a:lvl1pPr>
            <a:lvl2pPr>
              <a:defRPr sz="2850" b="1">
                <a:solidFill>
                  <a:srgbClr val="172B4D"/>
                </a:solidFill>
                <a:latin typeface="Arial"/>
                <a:ea typeface="Arial"/>
                <a:cs typeface="Arial"/>
              </a:defRPr>
            </a:lvl2pPr>
            <a:lvl3pPr>
              <a:defRPr sz="2850" b="1">
                <a:solidFill>
                  <a:srgbClr val="172B4D"/>
                </a:solidFill>
                <a:latin typeface="Arial"/>
                <a:ea typeface="Arial"/>
                <a:cs typeface="Arial"/>
              </a:defRPr>
            </a:lvl3pPr>
            <a:lvl4pPr>
              <a:defRPr sz="2850" b="1">
                <a:solidFill>
                  <a:srgbClr val="172B4D"/>
                </a:solidFill>
                <a:latin typeface="Arial"/>
                <a:ea typeface="Arial"/>
                <a:cs typeface="Arial"/>
              </a:defRPr>
            </a:lvl4pPr>
            <a:lvl5pPr>
              <a:defRPr sz="2850" b="1">
                <a:solidFill>
                  <a:srgbClr val="172B4D"/>
                </a:solidFill>
                <a:latin typeface="Arial"/>
                <a:ea typeface="Arial"/>
                <a:cs typeface="Arial"/>
              </a:defRPr>
            </a:lvl5pPr>
            <a:lvl6pPr>
              <a:defRPr sz="2850" b="1">
                <a:solidFill>
                  <a:srgbClr val="172B4D"/>
                </a:solidFill>
                <a:latin typeface="Arial"/>
                <a:ea typeface="Arial"/>
                <a:cs typeface="Arial"/>
              </a:defRPr>
            </a:lvl6pPr>
            <a:lvl7pPr>
              <a:defRPr sz="2850" b="1">
                <a:solidFill>
                  <a:srgbClr val="172B4D"/>
                </a:solidFill>
                <a:latin typeface="Arial"/>
                <a:ea typeface="Arial"/>
                <a:cs typeface="Arial"/>
              </a:defRPr>
            </a:lvl7pPr>
            <a:lvl8pPr>
              <a:defRPr sz="2850" b="1">
                <a:solidFill>
                  <a:srgbClr val="172B4D"/>
                </a:solidFill>
                <a:latin typeface="Arial"/>
                <a:ea typeface="Arial"/>
                <a:cs typeface="Arial"/>
              </a:defRPr>
            </a:lvl8pPr>
            <a:lvl9pPr>
              <a:defRPr sz="2850" b="1">
                <a:solidFill>
                  <a:srgbClr val="172B4D"/>
                </a:solidFill>
                <a:latin typeface="Arial"/>
                <a:ea typeface="Arial"/>
                <a:cs typeface="Arial"/>
              </a:defRPr>
            </a:lvl9pPr>
          </a:lstStyle>
          <a:p xmlns:a="http://schemas.openxmlformats.org/drawingml/2006/main">
            <a:pPr>
              <a:defRPr sz="2850" b="1">
                <a:solidFill>
                  <a:srgbClr val="172B4D"/>
                </a:solidFill>
                <a:latin typeface="Arial"/>
                <a:ea typeface="Arial"/>
                <a:cs typeface="Arial"/>
              </a:defRPr>
            </a:pPr>
            <a:r>
              <a:rPr sz="2850" b="1">
                <a:solidFill>
                  <a:srgbClr val="172B4D"/>
                </a:solidFill>
                <a:latin typeface="Arial"/>
                <a:ea typeface="Arial"/>
                <a:cs typeface="Arial"/>
              </a:rPr>
              <a:t>Uso de IA, limites e revisão do autor</a:t>
            </a:r>
          </a:p>
        </p:txBody>
      </p:sp>
      <p:sp>
        <p:nvSpPr>
          <p:cNvPr id="2" name="">
            <a:extLst xmlns:a="http://schemas.openxmlformats.org/drawingml/2006/main">
              <a:ext uri="{FF2B5EF4-FFF2-40B4-BE49-F238E27FC236}">
                <a16:creationId xmlns:a16="http://schemas.microsoft.com/office/drawing/2014/main" id="{0AD8FFB3-3716-4AA9-8546-B9EC06C37F28}"/>
              </a:ext>
            </a:extLst>
          </p:cNvPr>
          <p:cNvSpPr>
            <a:spLocks xmlns:a="http://schemas.openxmlformats.org/drawingml/2006/main" noGrp="1"/>
          </p:cNvSpPr>
          <p:nvPr/>
        </p:nvSpPr>
        <p:spPr>
          <a:xfrm xmlns:a="http://schemas.openxmlformats.org/drawingml/2006/main">
            <a:off x="10382250" y="62388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4748B"/>
                </a:solidFill>
                <a:latin typeface="Arial"/>
                <a:ea typeface="Arial"/>
                <a:cs typeface="Arial"/>
              </a:defRPr>
            </a:defPPr>
            <a:lvl1pPr>
              <a:defRPr sz="1350" b="0">
                <a:solidFill>
                  <a:srgbClr val="64748B"/>
                </a:solidFill>
                <a:latin typeface="Arial"/>
                <a:ea typeface="Arial"/>
                <a:cs typeface="Arial"/>
              </a:defRPr>
            </a:lvl1pPr>
            <a:lvl2pPr>
              <a:defRPr sz="1350" b="0">
                <a:solidFill>
                  <a:srgbClr val="64748B"/>
                </a:solidFill>
                <a:latin typeface="Arial"/>
                <a:ea typeface="Arial"/>
                <a:cs typeface="Arial"/>
              </a:defRPr>
            </a:lvl2pPr>
            <a:lvl3pPr>
              <a:defRPr sz="1350" b="0">
                <a:solidFill>
                  <a:srgbClr val="64748B"/>
                </a:solidFill>
                <a:latin typeface="Arial"/>
                <a:ea typeface="Arial"/>
                <a:cs typeface="Arial"/>
              </a:defRPr>
            </a:lvl3pPr>
            <a:lvl4pPr>
              <a:defRPr sz="1350" b="0">
                <a:solidFill>
                  <a:srgbClr val="64748B"/>
                </a:solidFill>
                <a:latin typeface="Arial"/>
                <a:ea typeface="Arial"/>
                <a:cs typeface="Arial"/>
              </a:defRPr>
            </a:lvl4pPr>
            <a:lvl5pPr>
              <a:defRPr sz="1350" b="0">
                <a:solidFill>
                  <a:srgbClr val="64748B"/>
                </a:solidFill>
                <a:latin typeface="Arial"/>
                <a:ea typeface="Arial"/>
                <a:cs typeface="Arial"/>
              </a:defRPr>
            </a:lvl5pPr>
            <a:lvl6pPr>
              <a:defRPr sz="1350" b="0">
                <a:solidFill>
                  <a:srgbClr val="64748B"/>
                </a:solidFill>
                <a:latin typeface="Arial"/>
                <a:ea typeface="Arial"/>
                <a:cs typeface="Arial"/>
              </a:defRPr>
            </a:lvl6pPr>
            <a:lvl7pPr>
              <a:defRPr sz="1350" b="0">
                <a:solidFill>
                  <a:srgbClr val="64748B"/>
                </a:solidFill>
                <a:latin typeface="Arial"/>
                <a:ea typeface="Arial"/>
                <a:cs typeface="Arial"/>
              </a:defRPr>
            </a:lvl7pPr>
            <a:lvl8pPr>
              <a:defRPr sz="1350" b="0">
                <a:solidFill>
                  <a:srgbClr val="64748B"/>
                </a:solidFill>
                <a:latin typeface="Arial"/>
                <a:ea typeface="Arial"/>
                <a:cs typeface="Arial"/>
              </a:defRPr>
            </a:lvl8pPr>
            <a:lvl9pPr>
              <a:defRPr sz="1350" b="0">
                <a:solidFill>
                  <a:srgbClr val="64748B"/>
                </a:solidFill>
                <a:latin typeface="Arial"/>
                <a:ea typeface="Arial"/>
                <a:cs typeface="Arial"/>
              </a:defRPr>
            </a:lvl9pPr>
          </a:lstStyle>
          <a:p xmlns:a="http://schemas.openxmlformats.org/drawingml/2006/main">
            <a:pPr>
              <a:defRPr sz="1350" b="0">
                <a:solidFill>
                  <a:srgbClr val="64748B"/>
                </a:solidFill>
                <a:latin typeface="Arial"/>
                <a:ea typeface="Arial"/>
                <a:cs typeface="Arial"/>
              </a:defRPr>
            </a:pPr>
            <a:r>
              <a:rPr sz="1350" b="0">
                <a:solidFill>
                  <a:srgbClr val="64748B"/>
                </a:solidFill>
                <a:latin typeface="Arial"/>
                <a:ea typeface="Arial"/>
                <a:cs typeface="Arial"/>
              </a:rPr>
              <a:t>Apoio 7</a:t>
            </a:r>
          </a:p>
        </p:txBody>
      </p:sp>
      <p:sp>
        <p:nvSpPr>
          <p:cNvPr id="3" name="">
            <a:extLst xmlns:a="http://schemas.openxmlformats.org/drawingml/2006/main">
              <a:ext uri="{FF2B5EF4-FFF2-40B4-BE49-F238E27FC236}">
                <a16:creationId xmlns:a16="http://schemas.microsoft.com/office/drawing/2014/main" id="{FE2C049C-33C7-4E6E-A018-DE9D250D244F}"/>
              </a:ext>
            </a:extLst>
          </p:cNvPr>
          <p:cNvSpPr>
            <a:spLocks xmlns:a="http://schemas.openxmlformats.org/drawingml/2006/main" noGrp="1"/>
          </p:cNvSpPr>
          <p:nvPr/>
        </p:nvSpPr>
        <p:spPr>
          <a:xfrm xmlns:a="http://schemas.openxmlformats.org/drawingml/2006/main">
            <a:off x="685800" y="1762125"/>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2B4D"/>
                </a:solidFill>
                <a:latin typeface="Arial"/>
                <a:ea typeface="Arial"/>
                <a:cs typeface="Arial"/>
              </a:defRPr>
            </a:defPPr>
            <a:lvl1pPr>
              <a:defRPr sz="2100" b="0">
                <a:solidFill>
                  <a:srgbClr val="172B4D"/>
                </a:solidFill>
                <a:latin typeface="Arial"/>
                <a:ea typeface="Arial"/>
                <a:cs typeface="Arial"/>
              </a:defRPr>
            </a:lvl1pPr>
            <a:lvl2pPr>
              <a:defRPr sz="2100" b="0">
                <a:solidFill>
                  <a:srgbClr val="172B4D"/>
                </a:solidFill>
                <a:latin typeface="Arial"/>
                <a:ea typeface="Arial"/>
                <a:cs typeface="Arial"/>
              </a:defRPr>
            </a:lvl2pPr>
            <a:lvl3pPr>
              <a:defRPr sz="2100" b="0">
                <a:solidFill>
                  <a:srgbClr val="172B4D"/>
                </a:solidFill>
                <a:latin typeface="Arial"/>
                <a:ea typeface="Arial"/>
                <a:cs typeface="Arial"/>
              </a:defRPr>
            </a:lvl3pPr>
            <a:lvl4pPr>
              <a:defRPr sz="2100" b="0">
                <a:solidFill>
                  <a:srgbClr val="172B4D"/>
                </a:solidFill>
                <a:latin typeface="Arial"/>
                <a:ea typeface="Arial"/>
                <a:cs typeface="Arial"/>
              </a:defRPr>
            </a:lvl4pPr>
            <a:lvl5pPr>
              <a:defRPr sz="2100" b="0">
                <a:solidFill>
                  <a:srgbClr val="172B4D"/>
                </a:solidFill>
                <a:latin typeface="Arial"/>
                <a:ea typeface="Arial"/>
                <a:cs typeface="Arial"/>
              </a:defRPr>
            </a:lvl5pPr>
            <a:lvl6pPr>
              <a:defRPr sz="2100" b="0">
                <a:solidFill>
                  <a:srgbClr val="172B4D"/>
                </a:solidFill>
                <a:latin typeface="Arial"/>
                <a:ea typeface="Arial"/>
                <a:cs typeface="Arial"/>
              </a:defRPr>
            </a:lvl6pPr>
            <a:lvl7pPr>
              <a:defRPr sz="2100" b="0">
                <a:solidFill>
                  <a:srgbClr val="172B4D"/>
                </a:solidFill>
                <a:latin typeface="Arial"/>
                <a:ea typeface="Arial"/>
                <a:cs typeface="Arial"/>
              </a:defRPr>
            </a:lvl7pPr>
            <a:lvl8pPr>
              <a:defRPr sz="2100" b="0">
                <a:solidFill>
                  <a:srgbClr val="172B4D"/>
                </a:solidFill>
                <a:latin typeface="Arial"/>
                <a:ea typeface="Arial"/>
                <a:cs typeface="Arial"/>
              </a:defRPr>
            </a:lvl8pPr>
            <a:lvl9pPr>
              <a:defRPr sz="2100" b="0">
                <a:solidFill>
                  <a:srgbClr val="172B4D"/>
                </a:solidFill>
                <a:latin typeface="Arial"/>
                <a:ea typeface="Arial"/>
                <a:cs typeface="Arial"/>
              </a:defRPr>
            </a:lvl9pPr>
          </a:lstStyle>
          <a:p xmlns:a="http://schemas.openxmlformats.org/drawingml/2006/main">
            <a:pPr>
              <a:defRPr sz="2100" b="0">
                <a:solidFill>
                  <a:srgbClr val="172B4D"/>
                </a:solidFill>
                <a:latin typeface="Arial"/>
                <a:ea typeface="Arial"/>
                <a:cs typeface="Arial"/>
              </a:defRPr>
            </a:pPr>
            <a:r>
              <a:rPr sz="2100" b="0">
                <a:solidFill>
                  <a:srgbClr val="172B4D"/>
                </a:solidFill>
                <a:latin typeface="Arial"/>
                <a:ea typeface="Arial"/>
                <a:cs typeface="Arial"/>
              </a:rPr>
              <a:t>Claude e Codex apoiaram código, execução, análise e redação.</a:t>
            </a:r>
          </a:p>
        </p:txBody>
      </p:sp>
      <p:sp>
        <p:nvSpPr>
          <p:cNvPr id="4" name="">
            <a:extLst xmlns:a="http://schemas.openxmlformats.org/drawingml/2006/main">
              <a:ext uri="{FF2B5EF4-FFF2-40B4-BE49-F238E27FC236}">
                <a16:creationId xmlns:a16="http://schemas.microsoft.com/office/drawing/2014/main" id="{1D691D25-16EE-4735-BC53-3FFEDCC52384}"/>
              </a:ext>
            </a:extLst>
          </p:cNvPr>
          <p:cNvSpPr>
            <a:spLocks xmlns:a="http://schemas.openxmlformats.org/drawingml/2006/main" noGrp="1"/>
          </p:cNvSpPr>
          <p:nvPr/>
        </p:nvSpPr>
        <p:spPr>
          <a:xfrm xmlns:a="http://schemas.openxmlformats.org/drawingml/2006/main">
            <a:off x="685800" y="266700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2B4D"/>
                </a:solidFill>
                <a:latin typeface="Arial"/>
                <a:ea typeface="Arial"/>
                <a:cs typeface="Arial"/>
              </a:defRPr>
            </a:defPPr>
            <a:lvl1pPr>
              <a:defRPr sz="2100" b="0">
                <a:solidFill>
                  <a:srgbClr val="172B4D"/>
                </a:solidFill>
                <a:latin typeface="Arial"/>
                <a:ea typeface="Arial"/>
                <a:cs typeface="Arial"/>
              </a:defRPr>
            </a:lvl1pPr>
            <a:lvl2pPr>
              <a:defRPr sz="2100" b="0">
                <a:solidFill>
                  <a:srgbClr val="172B4D"/>
                </a:solidFill>
                <a:latin typeface="Arial"/>
                <a:ea typeface="Arial"/>
                <a:cs typeface="Arial"/>
              </a:defRPr>
            </a:lvl2pPr>
            <a:lvl3pPr>
              <a:defRPr sz="2100" b="0">
                <a:solidFill>
                  <a:srgbClr val="172B4D"/>
                </a:solidFill>
                <a:latin typeface="Arial"/>
                <a:ea typeface="Arial"/>
                <a:cs typeface="Arial"/>
              </a:defRPr>
            </a:lvl3pPr>
            <a:lvl4pPr>
              <a:defRPr sz="2100" b="0">
                <a:solidFill>
                  <a:srgbClr val="172B4D"/>
                </a:solidFill>
                <a:latin typeface="Arial"/>
                <a:ea typeface="Arial"/>
                <a:cs typeface="Arial"/>
              </a:defRPr>
            </a:lvl4pPr>
            <a:lvl5pPr>
              <a:defRPr sz="2100" b="0">
                <a:solidFill>
                  <a:srgbClr val="172B4D"/>
                </a:solidFill>
                <a:latin typeface="Arial"/>
                <a:ea typeface="Arial"/>
                <a:cs typeface="Arial"/>
              </a:defRPr>
            </a:lvl5pPr>
            <a:lvl6pPr>
              <a:defRPr sz="2100" b="0">
                <a:solidFill>
                  <a:srgbClr val="172B4D"/>
                </a:solidFill>
                <a:latin typeface="Arial"/>
                <a:ea typeface="Arial"/>
                <a:cs typeface="Arial"/>
              </a:defRPr>
            </a:lvl6pPr>
            <a:lvl7pPr>
              <a:defRPr sz="2100" b="0">
                <a:solidFill>
                  <a:srgbClr val="172B4D"/>
                </a:solidFill>
                <a:latin typeface="Arial"/>
                <a:ea typeface="Arial"/>
                <a:cs typeface="Arial"/>
              </a:defRPr>
            </a:lvl7pPr>
            <a:lvl8pPr>
              <a:defRPr sz="2100" b="0">
                <a:solidFill>
                  <a:srgbClr val="172B4D"/>
                </a:solidFill>
                <a:latin typeface="Arial"/>
                <a:ea typeface="Arial"/>
                <a:cs typeface="Arial"/>
              </a:defRPr>
            </a:lvl8pPr>
            <a:lvl9pPr>
              <a:defRPr sz="2100" b="0">
                <a:solidFill>
                  <a:srgbClr val="172B4D"/>
                </a:solidFill>
                <a:latin typeface="Arial"/>
                <a:ea typeface="Arial"/>
                <a:cs typeface="Arial"/>
              </a:defRPr>
            </a:lvl9pPr>
          </a:lstStyle>
          <a:p xmlns:a="http://schemas.openxmlformats.org/drawingml/2006/main">
            <a:pPr>
              <a:defRPr sz="2100" b="0">
                <a:solidFill>
                  <a:srgbClr val="172B4D"/>
                </a:solidFill>
                <a:latin typeface="Arial"/>
                <a:ea typeface="Arial"/>
                <a:cs typeface="Arial"/>
              </a:defRPr>
            </a:pPr>
            <a:r>
              <a:rPr sz="2100" b="0">
                <a:solidFill>
                  <a:srgbClr val="172B4D"/>
                </a:solidFill>
                <a:latin typeface="Arial"/>
                <a:ea typeface="Arial"/>
                <a:cs typeface="Arial"/>
              </a:rPr>
              <a:t>Os instrumentos produziram medições reais. Dados e vereditos foram preservados.</a:t>
            </a:r>
          </a:p>
        </p:txBody>
      </p:sp>
      <p:sp>
        <p:nvSpPr>
          <p:cNvPr id="5" name="">
            <a:extLst xmlns:a="http://schemas.openxmlformats.org/drawingml/2006/main">
              <a:ext uri="{FF2B5EF4-FFF2-40B4-BE49-F238E27FC236}">
                <a16:creationId xmlns:a16="http://schemas.microsoft.com/office/drawing/2014/main" id="{24839D18-C068-463F-97C1-6B9B3AEDCD5D}"/>
              </a:ext>
            </a:extLst>
          </p:cNvPr>
          <p:cNvSpPr>
            <a:spLocks xmlns:a="http://schemas.openxmlformats.org/drawingml/2006/main" noGrp="1"/>
          </p:cNvSpPr>
          <p:nvPr/>
        </p:nvSpPr>
        <p:spPr>
          <a:xfrm xmlns:a="http://schemas.openxmlformats.org/drawingml/2006/main">
            <a:off x="685800" y="3571875"/>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2B4D"/>
                </a:solidFill>
                <a:latin typeface="Arial"/>
                <a:ea typeface="Arial"/>
                <a:cs typeface="Arial"/>
              </a:defRPr>
            </a:defPPr>
            <a:lvl1pPr>
              <a:defRPr sz="2100" b="0">
                <a:solidFill>
                  <a:srgbClr val="172B4D"/>
                </a:solidFill>
                <a:latin typeface="Arial"/>
                <a:ea typeface="Arial"/>
                <a:cs typeface="Arial"/>
              </a:defRPr>
            </a:lvl1pPr>
            <a:lvl2pPr>
              <a:defRPr sz="2100" b="0">
                <a:solidFill>
                  <a:srgbClr val="172B4D"/>
                </a:solidFill>
                <a:latin typeface="Arial"/>
                <a:ea typeface="Arial"/>
                <a:cs typeface="Arial"/>
              </a:defRPr>
            </a:lvl2pPr>
            <a:lvl3pPr>
              <a:defRPr sz="2100" b="0">
                <a:solidFill>
                  <a:srgbClr val="172B4D"/>
                </a:solidFill>
                <a:latin typeface="Arial"/>
                <a:ea typeface="Arial"/>
                <a:cs typeface="Arial"/>
              </a:defRPr>
            </a:lvl3pPr>
            <a:lvl4pPr>
              <a:defRPr sz="2100" b="0">
                <a:solidFill>
                  <a:srgbClr val="172B4D"/>
                </a:solidFill>
                <a:latin typeface="Arial"/>
                <a:ea typeface="Arial"/>
                <a:cs typeface="Arial"/>
              </a:defRPr>
            </a:lvl4pPr>
            <a:lvl5pPr>
              <a:defRPr sz="2100" b="0">
                <a:solidFill>
                  <a:srgbClr val="172B4D"/>
                </a:solidFill>
                <a:latin typeface="Arial"/>
                <a:ea typeface="Arial"/>
                <a:cs typeface="Arial"/>
              </a:defRPr>
            </a:lvl5pPr>
            <a:lvl6pPr>
              <a:defRPr sz="2100" b="0">
                <a:solidFill>
                  <a:srgbClr val="172B4D"/>
                </a:solidFill>
                <a:latin typeface="Arial"/>
                <a:ea typeface="Arial"/>
                <a:cs typeface="Arial"/>
              </a:defRPr>
            </a:lvl6pPr>
            <a:lvl7pPr>
              <a:defRPr sz="2100" b="0">
                <a:solidFill>
                  <a:srgbClr val="172B4D"/>
                </a:solidFill>
                <a:latin typeface="Arial"/>
                <a:ea typeface="Arial"/>
                <a:cs typeface="Arial"/>
              </a:defRPr>
            </a:lvl7pPr>
            <a:lvl8pPr>
              <a:defRPr sz="2100" b="0">
                <a:solidFill>
                  <a:srgbClr val="172B4D"/>
                </a:solidFill>
                <a:latin typeface="Arial"/>
                <a:ea typeface="Arial"/>
                <a:cs typeface="Arial"/>
              </a:defRPr>
            </a:lvl8pPr>
            <a:lvl9pPr>
              <a:defRPr sz="2100" b="0">
                <a:solidFill>
                  <a:srgbClr val="172B4D"/>
                </a:solidFill>
                <a:latin typeface="Arial"/>
                <a:ea typeface="Arial"/>
                <a:cs typeface="Arial"/>
              </a:defRPr>
            </a:lvl9pPr>
          </a:lstStyle>
          <a:p xmlns:a="http://schemas.openxmlformats.org/drawingml/2006/main">
            <a:pPr>
              <a:defRPr sz="2100" b="0">
                <a:solidFill>
                  <a:srgbClr val="172B4D"/>
                </a:solidFill>
                <a:latin typeface="Arial"/>
                <a:ea typeface="Arial"/>
                <a:cs typeface="Arial"/>
              </a:defRPr>
            </a:pPr>
            <a:r>
              <a:rPr sz="2100" b="0">
                <a:solidFill>
                  <a:srgbClr val="172B4D"/>
                </a:solidFill>
                <a:latin typeface="Arial"/>
                <a:ea typeface="Arial"/>
                <a:cs typeface="Arial"/>
              </a:rPr>
              <a:t>A revisão pessoal integral do autor ainda está pendente antes da entrega.</a:t>
            </a:r>
          </a:p>
        </p:txBody>
      </p:sp>
      <p:sp>
        <p:nvSpPr>
          <p:cNvPr id="6" name="">
            <a:extLst xmlns:a="http://schemas.openxmlformats.org/drawingml/2006/main">
              <a:ext uri="{FF2B5EF4-FFF2-40B4-BE49-F238E27FC236}">
                <a16:creationId xmlns:a16="http://schemas.microsoft.com/office/drawing/2014/main" id="{4BFAB3B7-7214-4F6A-B0E3-83A0A4D6AF9E}"/>
              </a:ext>
            </a:extLst>
          </p:cNvPr>
          <p:cNvSpPr>
            <a:spLocks xmlns:a="http://schemas.openxmlformats.org/drawingml/2006/main" noGrp="1"/>
          </p:cNvSpPr>
          <p:nvPr/>
        </p:nvSpPr>
        <p:spPr>
          <a:xfrm xmlns:a="http://schemas.openxmlformats.org/drawingml/2006/main">
            <a:off x="685800" y="44767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2B4D"/>
                </a:solidFill>
                <a:latin typeface="Arial"/>
                <a:ea typeface="Arial"/>
                <a:cs typeface="Arial"/>
              </a:defRPr>
            </a:defPPr>
            <a:lvl1pPr>
              <a:defRPr sz="2100" b="0">
                <a:solidFill>
                  <a:srgbClr val="172B4D"/>
                </a:solidFill>
                <a:latin typeface="Arial"/>
                <a:ea typeface="Arial"/>
                <a:cs typeface="Arial"/>
              </a:defRPr>
            </a:lvl1pPr>
            <a:lvl2pPr>
              <a:defRPr sz="2100" b="0">
                <a:solidFill>
                  <a:srgbClr val="172B4D"/>
                </a:solidFill>
                <a:latin typeface="Arial"/>
                <a:ea typeface="Arial"/>
                <a:cs typeface="Arial"/>
              </a:defRPr>
            </a:lvl2pPr>
            <a:lvl3pPr>
              <a:defRPr sz="2100" b="0">
                <a:solidFill>
                  <a:srgbClr val="172B4D"/>
                </a:solidFill>
                <a:latin typeface="Arial"/>
                <a:ea typeface="Arial"/>
                <a:cs typeface="Arial"/>
              </a:defRPr>
            </a:lvl3pPr>
            <a:lvl4pPr>
              <a:defRPr sz="2100" b="0">
                <a:solidFill>
                  <a:srgbClr val="172B4D"/>
                </a:solidFill>
                <a:latin typeface="Arial"/>
                <a:ea typeface="Arial"/>
                <a:cs typeface="Arial"/>
              </a:defRPr>
            </a:lvl4pPr>
            <a:lvl5pPr>
              <a:defRPr sz="2100" b="0">
                <a:solidFill>
                  <a:srgbClr val="172B4D"/>
                </a:solidFill>
                <a:latin typeface="Arial"/>
                <a:ea typeface="Arial"/>
                <a:cs typeface="Arial"/>
              </a:defRPr>
            </a:lvl5pPr>
            <a:lvl6pPr>
              <a:defRPr sz="2100" b="0">
                <a:solidFill>
                  <a:srgbClr val="172B4D"/>
                </a:solidFill>
                <a:latin typeface="Arial"/>
                <a:ea typeface="Arial"/>
                <a:cs typeface="Arial"/>
              </a:defRPr>
            </a:lvl6pPr>
            <a:lvl7pPr>
              <a:defRPr sz="2100" b="0">
                <a:solidFill>
                  <a:srgbClr val="172B4D"/>
                </a:solidFill>
                <a:latin typeface="Arial"/>
                <a:ea typeface="Arial"/>
                <a:cs typeface="Arial"/>
              </a:defRPr>
            </a:lvl7pPr>
            <a:lvl8pPr>
              <a:defRPr sz="2100" b="0">
                <a:solidFill>
                  <a:srgbClr val="172B4D"/>
                </a:solidFill>
                <a:latin typeface="Arial"/>
                <a:ea typeface="Arial"/>
                <a:cs typeface="Arial"/>
              </a:defRPr>
            </a:lvl8pPr>
            <a:lvl9pPr>
              <a:defRPr sz="2100" b="0">
                <a:solidFill>
                  <a:srgbClr val="172B4D"/>
                </a:solidFill>
                <a:latin typeface="Arial"/>
                <a:ea typeface="Arial"/>
                <a:cs typeface="Arial"/>
              </a:defRPr>
            </a:lvl9pPr>
          </a:lstStyle>
          <a:p xmlns:a="http://schemas.openxmlformats.org/drawingml/2006/main">
            <a:pPr>
              <a:defRPr sz="2100" b="0">
                <a:solidFill>
                  <a:srgbClr val="172B4D"/>
                </a:solidFill>
                <a:latin typeface="Arial"/>
                <a:ea typeface="Arial"/>
                <a:cs typeface="Arial"/>
              </a:defRPr>
            </a:pPr>
            <a:r>
              <a:rPr sz="2100" b="0">
                <a:solidFill>
                  <a:srgbClr val="172B4D"/>
                </a:solidFill>
                <a:latin typeface="Arial"/>
                <a:ea typeface="Arial"/>
                <a:cs typeface="Arial"/>
              </a:rPr>
              <a:t>Ambiente compartilhado, cinco repetições e broker único limitam a generalização.</a:t>
            </a:r>
          </a:p>
        </p:txBody>
      </p:sp>
      <p:sp>
        <p:nvSpPr>
          <p:cNvPr id="7" name="">
            <a:extLst xmlns:a="http://schemas.openxmlformats.org/drawingml/2006/main">
              <a:ext uri="{FF2B5EF4-FFF2-40B4-BE49-F238E27FC236}">
                <a16:creationId xmlns:a16="http://schemas.microsoft.com/office/drawing/2014/main" id="{66A16B35-DD4A-47AF-A02D-B168A8BFBB64}"/>
              </a:ext>
            </a:extLst>
          </p:cNvPr>
          <p:cNvSpPr>
            <a:spLocks xmlns:a="http://schemas.openxmlformats.org/drawingml/2006/main" noGrp="1"/>
          </p:cNvSpPr>
          <p:nvPr/>
        </p:nvSpPr>
        <p:spPr>
          <a:xfrm xmlns:a="http://schemas.openxmlformats.org/drawingml/2006/main">
            <a:off x="685800" y="55721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75569"/>
                </a:solidFill>
                <a:latin typeface="Arial"/>
                <a:ea typeface="Arial"/>
                <a:cs typeface="Arial"/>
              </a:defRPr>
            </a:defPPr>
            <a:lvl1pPr>
              <a:defRPr sz="1725" b="0">
                <a:solidFill>
                  <a:srgbClr val="475569"/>
                </a:solidFill>
                <a:latin typeface="Arial"/>
                <a:ea typeface="Arial"/>
                <a:cs typeface="Arial"/>
              </a:defRPr>
            </a:lvl1pPr>
            <a:lvl2pPr>
              <a:defRPr sz="1725" b="0">
                <a:solidFill>
                  <a:srgbClr val="475569"/>
                </a:solidFill>
                <a:latin typeface="Arial"/>
                <a:ea typeface="Arial"/>
                <a:cs typeface="Arial"/>
              </a:defRPr>
            </a:lvl2pPr>
            <a:lvl3pPr>
              <a:defRPr sz="1725" b="0">
                <a:solidFill>
                  <a:srgbClr val="475569"/>
                </a:solidFill>
                <a:latin typeface="Arial"/>
                <a:ea typeface="Arial"/>
                <a:cs typeface="Arial"/>
              </a:defRPr>
            </a:lvl3pPr>
            <a:lvl4pPr>
              <a:defRPr sz="1725" b="0">
                <a:solidFill>
                  <a:srgbClr val="475569"/>
                </a:solidFill>
                <a:latin typeface="Arial"/>
                <a:ea typeface="Arial"/>
                <a:cs typeface="Arial"/>
              </a:defRPr>
            </a:lvl4pPr>
            <a:lvl5pPr>
              <a:defRPr sz="1725" b="0">
                <a:solidFill>
                  <a:srgbClr val="475569"/>
                </a:solidFill>
                <a:latin typeface="Arial"/>
                <a:ea typeface="Arial"/>
                <a:cs typeface="Arial"/>
              </a:defRPr>
            </a:lvl5pPr>
            <a:lvl6pPr>
              <a:defRPr sz="1725" b="0">
                <a:solidFill>
                  <a:srgbClr val="475569"/>
                </a:solidFill>
                <a:latin typeface="Arial"/>
                <a:ea typeface="Arial"/>
                <a:cs typeface="Arial"/>
              </a:defRPr>
            </a:lvl6pPr>
            <a:lvl7pPr>
              <a:defRPr sz="1725" b="0">
                <a:solidFill>
                  <a:srgbClr val="475569"/>
                </a:solidFill>
                <a:latin typeface="Arial"/>
                <a:ea typeface="Arial"/>
                <a:cs typeface="Arial"/>
              </a:defRPr>
            </a:lvl7pPr>
            <a:lvl8pPr>
              <a:defRPr sz="1725" b="0">
                <a:solidFill>
                  <a:srgbClr val="475569"/>
                </a:solidFill>
                <a:latin typeface="Arial"/>
                <a:ea typeface="Arial"/>
                <a:cs typeface="Arial"/>
              </a:defRPr>
            </a:lvl8pPr>
            <a:lvl9pPr>
              <a:defRPr sz="1725" b="0">
                <a:solidFill>
                  <a:srgbClr val="475569"/>
                </a:solidFill>
                <a:latin typeface="Arial"/>
                <a:ea typeface="Arial"/>
                <a:cs typeface="Arial"/>
              </a:defRPr>
            </a:lvl9pPr>
          </a:lstStyle>
          <a:p xmlns:a="http://schemas.openxmlformats.org/drawingml/2006/main">
            <a:pPr>
              <a:defRPr sz="1725" b="0">
                <a:solidFill>
                  <a:srgbClr val="475569"/>
                </a:solidFill>
                <a:latin typeface="Arial"/>
                <a:ea typeface="Arial"/>
                <a:cs typeface="Arial"/>
              </a:defRPr>
            </a:pPr>
            <a:r>
              <a:rPr sz="1725" b="0">
                <a:solidFill>
                  <a:srgbClr val="475569"/>
                </a:solidFill>
                <a:latin typeface="Arial"/>
                <a:ea typeface="Arial"/>
                <a:cs typeface="Arial"/>
              </a:rPr>
              <a:t>A declaração registra o apoio efetivo e a responsabilidade do autor.</a:t>
            </a:r>
          </a:p>
          <a:p xmlns:a="http://schemas.openxmlformats.org/drawingml/2006/main">
            <a:pPr>
              <a:defRPr sz="1725" b="0">
                <a:solidFill>
                  <a:srgbClr val="475569"/>
                </a:solidFill>
                <a:latin typeface="Arial"/>
                <a:ea typeface="Arial"/>
                <a:cs typeface="Arial"/>
              </a:defRPr>
            </a:pPr>
            <a:r>
              <a:rPr sz="1725" b="0">
                <a:solidFill>
                  <a:srgbClr val="475569"/>
                </a:solidFill>
                <a:latin typeface="Arial"/>
                <a:ea typeface="Arial"/>
                <a:cs typeface="Arial"/>
              </a:rPr>
              <a:t>Esta versão não declara aprovação institucional ou revisão pessoal já concluída.</a:t>
            </a:r>
          </a:p>
        </p:txBody>
      </p:sp>
    </p:spTree>
    <p:extLst>
      <p:ext uri="{BB962C8B-B14F-4D97-AF65-F5344CB8AC3E}">
        <p14:creationId xmlns:p14="http://schemas.microsoft.com/office/powerpoint/2010/main" val="4203471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2026-10-30T19:03:34.9430000Z</dcterms:created>
  <dcterms:modified xsi:type="dcterms:W3CDTF">2026-10-30T19:03:34.9430000Z</dcterms:modified>
</coreProperties>
</file>