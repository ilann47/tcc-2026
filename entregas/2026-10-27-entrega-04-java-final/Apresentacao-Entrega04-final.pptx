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0d24ddeb414e4f" /><Relationship Type="http://schemas.openxmlformats.org/officeDocument/2006/relationships/extended-properties" Target="/docProps/app.xml" Id="R5aad0c7ca6f34317" /><Relationship Type="http://schemas.openxmlformats.org/officeDocument/2006/relationships/officeDocument" Target="/ppt/presentation.xml" Id="R1b22100d1fd14d97" /></Relationships>
</file>

<file path=ppt/presentation.xml><?xml version="1.0" encoding="utf-8"?>
<p:presentation xmlns:p="http://schemas.openxmlformats.org/presentationml/2006/main">
  <p:sldMasterIdLst>
    <p:sldMasterId xmlns:r="http://schemas.openxmlformats.org/officeDocument/2006/relationships" id="2147483648" r:id="Ra4df260e64d543e9"/>
  </p:sldMasterIdLst>
  <p:notesMasterIdLst>
    <p:notesMasterId xmlns:r="http://schemas.openxmlformats.org/officeDocument/2006/relationships" r:id="Rcd1ed113df55467e"/>
  </p:notesMasterIdLst>
  <p:sldIdLst>
    <p:sldId xmlns:r="http://schemas.openxmlformats.org/officeDocument/2006/relationships" id="256" r:id="R24b4524f51d84f8b"/>
    <p:sldId xmlns:r="http://schemas.openxmlformats.org/officeDocument/2006/relationships" id="257" r:id="R485f6132bb7c4bf2"/>
    <p:sldId xmlns:r="http://schemas.openxmlformats.org/officeDocument/2006/relationships" id="258" r:id="Rfc45581ee49b4d2a"/>
    <p:sldId xmlns:r="http://schemas.openxmlformats.org/officeDocument/2006/relationships" id="259" r:id="R1aeee04699114386"/>
    <p:sldId xmlns:r="http://schemas.openxmlformats.org/officeDocument/2006/relationships" id="260" r:id="Ra8e16b3782494f0c"/>
    <p:sldId xmlns:r="http://schemas.openxmlformats.org/officeDocument/2006/relationships" id="261" r:id="R4db9577782064f49"/>
    <p:sldId xmlns:r="http://schemas.openxmlformats.org/officeDocument/2006/relationships" id="262" r:id="Rf5ade5382b854e50"/>
    <p:sldId xmlns:r="http://schemas.openxmlformats.org/officeDocument/2006/relationships" id="263" r:id="R79be93b558644c65"/>
    <p:sldId xmlns:r="http://schemas.openxmlformats.org/officeDocument/2006/relationships" id="264" r:id="Rc10533a357c7400e"/>
    <p:sldId xmlns:r="http://schemas.openxmlformats.org/officeDocument/2006/relationships" id="265" r:id="Rddfee70a1b3b44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253f080cd444b1" /><Relationship Type="http://schemas.openxmlformats.org/officeDocument/2006/relationships/slideMaster" Target="/ppt/slideMasters/slideMaster1.xml" Id="Ra4df260e64d543e9" /><Relationship Type="http://schemas.openxmlformats.org/officeDocument/2006/relationships/notesMaster" Target="/ppt/notesMasters/notesMaster1.xml" Id="Rcd1ed113df55467e" /><Relationship Type="http://schemas.openxmlformats.org/officeDocument/2006/relationships/presProps" Target="/ppt/presProps.xml" Id="R1b98f0af97fa426e" /><Relationship Type="http://schemas.openxmlformats.org/officeDocument/2006/relationships/tableStyles" Target="/ppt/tableStyles.xml" Id="R3d696bc07fe34971" /><Relationship Type="http://schemas.openxmlformats.org/officeDocument/2006/relationships/slide" Target="/ppt/slides/slide1.xml" Id="R24b4524f51d84f8b" /><Relationship Type="http://schemas.openxmlformats.org/officeDocument/2006/relationships/slide" Target="/ppt/slides/slide2.xml" Id="R485f6132bb7c4bf2" /><Relationship Type="http://schemas.openxmlformats.org/officeDocument/2006/relationships/slide" Target="/ppt/slides/slide3.xml" Id="Rfc45581ee49b4d2a" /><Relationship Type="http://schemas.openxmlformats.org/officeDocument/2006/relationships/slide" Target="/ppt/slides/slide4.xml" Id="R1aeee04699114386" /><Relationship Type="http://schemas.openxmlformats.org/officeDocument/2006/relationships/slide" Target="/ppt/slides/slide5.xml" Id="Ra8e16b3782494f0c" /><Relationship Type="http://schemas.openxmlformats.org/officeDocument/2006/relationships/slide" Target="/ppt/slides/slide6.xml" Id="R4db9577782064f49" /><Relationship Type="http://schemas.openxmlformats.org/officeDocument/2006/relationships/slide" Target="/ppt/slides/slide7.xml" Id="Rf5ade5382b854e50" /><Relationship Type="http://schemas.openxmlformats.org/officeDocument/2006/relationships/slide" Target="/ppt/slides/slide8.xml" Id="R79be93b558644c65" /><Relationship Type="http://schemas.openxmlformats.org/officeDocument/2006/relationships/slide" Target="/ppt/slides/slide9.xml" Id="Rc10533a357c7400e" /><Relationship Type="http://schemas.openxmlformats.org/officeDocument/2006/relationships/slide" Target="/ppt/slides/slide10.xml" Id="Rddfee70a1b3b44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fa991efe1c40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bbce450dfe491e" /><Relationship Type="http://schemas.openxmlformats.org/officeDocument/2006/relationships/notesMaster" Target="/ppt/notesMasters/notesMaster1.xml" Id="R6bc62ed123b547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97f894798844b7" /><Relationship Type="http://schemas.openxmlformats.org/officeDocument/2006/relationships/notesMaster" Target="/ppt/notesMasters/notesMaster1.xml" Id="R9d2f758f76294e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2c7b602cfc4e40" /><Relationship Type="http://schemas.openxmlformats.org/officeDocument/2006/relationships/notesMaster" Target="/ppt/notesMasters/notesMaster1.xml" Id="R69fc99cd830c49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2b4bb774eb48fb" /><Relationship Type="http://schemas.openxmlformats.org/officeDocument/2006/relationships/notesMaster" Target="/ppt/notesMasters/notesMaster1.xml" Id="R145b3418c18444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95e8cf0af44659" /><Relationship Type="http://schemas.openxmlformats.org/officeDocument/2006/relationships/notesMaster" Target="/ppt/notesMasters/notesMaster1.xml" Id="R2403f7d214ff41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8d547499fe41ac" /><Relationship Type="http://schemas.openxmlformats.org/officeDocument/2006/relationships/notesMaster" Target="/ppt/notesMasters/notesMaster1.xml" Id="Rea818504295842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e6d9ef29ed4830" /><Relationship Type="http://schemas.openxmlformats.org/officeDocument/2006/relationships/notesMaster" Target="/ppt/notesMasters/notesMaster1.xml" Id="Rba6c6f48a73a43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ee2e84821f4d3f" /><Relationship Type="http://schemas.openxmlformats.org/officeDocument/2006/relationships/notesMaster" Target="/ppt/notesMasters/notesMaster1.xml" Id="R0202c4f8f85c4f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8539d682384c03" /><Relationship Type="http://schemas.openxmlformats.org/officeDocument/2006/relationships/notesMaster" Target="/ppt/notesMasters/notesMaster1.xml" Id="Rd06adcaaaa644f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5027e4bc374405" /><Relationship Type="http://schemas.openxmlformats.org/officeDocument/2006/relationships/notesMaster" Target="/ppt/notesMasters/notesMaster1.xml" Id="R9210b5b467e643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Nesta apresentação eu mostro os resultados finais da comparação entre as duas implementações Java de registros de auditoria. A campanha terminou com as 65 tentativas planejadas. Houve 64 coletas com evidência completa e uma com evidência temporal incompleta: um evento apareceu no banco apesar de HTTP 503, mas faltou o registro do horário de conclusão de seu commit. A comparação afetada utiliza quatro pares completos. No slide oito explico essa limitação e o tratamento adotado. O objetivo é mostrar os compromissos que apareceram nas condições medidas. Fonte: campanha R2/A1 de 27/10/2026, implementacao-java/experimento/campanhas/2026-10-27-reduzida65-r2/RESULTADOS.md e resultados-a1/. Documento consolidado no commit 771d7a621c31aaccda7359b8207979c4bc84f19d.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pergunta permanece a mesma: quais trade-offs de desempenho e resiliência aparecem nas duas implementações? As variantes recebem o mesmo contrato, validam os mesmos campos, calculam o hash e usam o mesmo repositório PostgreSQL. A validação funcional comparou cinquenta registros equivalentes em cada variante, excluindo apenas o instante de inserção. Também conferiu reenvio idempotente e conflito de conteúdo. Isso verifica a função examinada, sem provar todo caso possível ou desempenho. A diferença experimental está no caminho: na síncrona, 201 vem depois da transação. Na assíncrona, 202 confirma publicação no Kafka e o consumidor grava em outra etapa. Fonte: campanha R2/A1 de 27/10/2026, implementacao-java/experimento/campanhas/2026-10-27-reduzida65-r2/RESULTADOS.md e resultados-a1/. Documento consolidado no commit 771d7a621c31aaccda7359b8207979c4bc84f19d. Piloto: pilot-catalog.json e model-comparison.json na pasta 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gerador k6 exporta as amostras por evento e o analisador Java cruza os marcos e o banco. A escolha do k6 veio da integração com o protocolo, não de um benchmark que o declarasse superior ao JMeter. Antes da campanha, calibramos 48 eventos por segundo e aprovamos nove validações R2. Preservamos a R1 rejeitada, sem baixar a taxa. A campanha usa cinco blocos, trinta pares com o mesmo dataset e cinco casos adicionais de consumidor parado. As falhas solicitaram quarenta segundos, mas os manifestos mostram os tempos efetivos. Analisamos as execuções e diferenças pareadas. Milhares de eventos dentro de uma execução não viram milhares de repetições independentes. Fonte: campanha R2/A1 de 27/10/2026, implementacao-java/experimento/campanhas/2026-10-27-reduzida65-r2/RESULTADOS.md e resultados-a1/. Documento consolidado no commit 771d7a621c31aaccda7359b8207979c4bc84f19d.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48 eventos por segundo, a assíncrona apresentou média dos p95 HTTP de 2,60 milissegundos, contra 4,34 na síncrona. Mas a conclusão da gravação teve a ordem inversa: 5,83 contra 3,92 milissegundos. O primeiro número mede o aceite ou retorno HTTP. O segundo começa no envio e termina no marco após o retorno da transação, conciliado com o banco. A diferença de significado explica por que uma resposta mais rápida não demonstra trabalho terminado antes. Os cinco pares mostraram essa direção nas condições sem falha. Ambas concluíram 48 eventos por segundo nesta carga, sem erro HTTP medido. Não estimamos capacidade máxima nem equivalência estatística. Fonte: campanha R2/A1 de 27/10/2026, implementacao-java/experimento/campanhas/2026-10-27-reduzida65-r2/RESULTADOS.md e resultados-a1/. Documento consolidado no commit 771d7a621c31aaccda7359b8207979c4bc84f19d. group-summary.json: steady, rate=48.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carga constante de 12 eventos por segundo, a síncrona apresentou menor uso de CPU e memória. As médias por execução ficaram em 6,79 por cento de uma CPU lógica e 231 MiB, contra 15,36 por cento e 1.020,5 MiB da assíncrona. Somamos API e PostgreSQL na síncrona. Na assíncrona, somamos API, consumidor, PostgreSQL e Kafka nos mesmos instantes amostrados. O custo dos componentes adicionais pertence ao objeto comparado. Gerador e observador ficam separados. A direção se repetiu nos pares comparáveis, mas não podemos transformar esses valores em custo financeiro ou esforço de manutenção, que não medimos. Tampouco um componente parado durante falha demonstra eficiência. Fonte: campanha R2/A1 de 27/10/2026, implementacao-java/experimento/campanhas/2026-10-27-reduzida65-r2/RESULTADOS.md e resultados-a1/. Documento consolidado no commit 771d7a621c31aaccda7359b8207979c4bc84f19d. group-summary.json: steady, rate=12.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Durante as interrupções do banco, a síncrona retornou 2.452 erros 503. Seus 8.351 aceites foram persistidos, mas uma requisição adicional com erro também deixou registro no banco, sem o registro de seu horário de commit. A parada do banco fazia parte do teste. A falta dessa evidência temporal limitou uma coleta, cujo tratamento explico adiante. A assíncrona aceitou os 10.804 envios com 202, porém somente 10.790 chegaram ao banco. Quatorze foram para a DLQ ao esgotar tentativas, em quantidades de três, três, três, três e dois por bloco. Elas ficaram com destino terminal conhecido, sem replay automático. DLQ significa não persistência no banco, não desaparecimento da mensagem. Não houve aceite sem destino conciliado ou UUID duplicado no banco. Fonte: campanha R2/A1 de 27/10/2026, implementacao-java/experimento/campanhas/2026-10-27-reduzida65-r2/RESULTADOS.md e resultados-a1/. Documento consolidado no commit 771d7a621c31aaccda7359b8207979c4bc84f19d. group-summary.json: postgres-stop, rate=12.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parada do consumidor foi diferente da parada do banco. Com o consumidor parado, o Kafka continuou recebendo os eventos e o banco não era a dependência indisponível. Todos os 10.801 aceites medidos acabaram persistidos e não houve DLQ. Em cada uma das cinco execuções, verificamos aceites ocorridos entre a confirmação da parada e o comando de retomada, com registros no banco e commits observados depois da retomada. O backlog anterior foi integralmente salvo entre 12,55 e 24,16 segundos após o comando. Os p95 de conclusão ficaram entre 46,95 e 57,80 segundos. Essa retenção confirma o comportamento local, mas não demonstra tolerância à perda física do broker ou da máquina. Fonte: campanha R2/A1 de 27/10/2026, implementacao-java/experimento/campanhas/2026-10-27-reduzida65-r2/RESULTADOS.md e resultados-a1/. Documento consolidado no commit 771d7a621c31aaccda7359b8207979c4bc84f19d. per-run-details.json: consumer_pause.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tentativa 37, o teste interrompeu o PostgreSQL de forma planejada. Um evento da variante síncrona retornou HTTP 503 e apareceu no banco com conteúdo e hash corretos. Porém, faltou o registro do horário de conclusão de seu commit. Entre 1.667 registros persistidos nessa coleta, há tempos observados para 1.666. A persistência é comprovada, mas os logs não permitem determinar o instante daquele commit nem a causa exata da confirmação ausente. A falta dessa evidência temporal foi uma limitação não planejada da medição. Preservamos o veredito original inválido e não repetimos nem substituímos a coleta. A revisão A1 ocorreu após as primeiras 37 tentativas, antes das 28 restantes. Mantivemos HTTP, destinos e recursos auditados. O 503 continua contado como erro HTTP. A comparação primária de latência de conclusão com banco parado exclui essa coleta e sua contraparte do bloco três, restando quatro pares completos. Não estimamos o horário ausente. Para a vazão da parcial, os limites são de 9,25556 a 9,26111 eventos por segundo, sem constituir intervalo de confiança. A análise estrita também exclui esse par dos demais indicadores como sensibilidade. A campanha terminou com 64 coletas completas e uma com evidência temporal incompleta. Fonte: campanha R2/A1 de 27/10/2026, implementacao-java/experimento/campanhas/2026-10-27-reduzida65-r2/RESULTADOS.md e resultados-a1/. Documento consolidado no commit 771d7a621c31aaccda7359b8207979c4bc84f19d. emenda-a1/README.md e strict-sensitivity.json.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critério congelado exige três janelas completas de dez segundos, ainda sob entrada ativa, com taxa concluída suficiente, sem erro HTTP e com limites de aceites sem commit e observação saudável. As cinco síncronas e os cinco casos de consumidor parado atingiram esse critério. Apenas um caso assíncrono de banco parado atingiu. Isso exige cuidado: o cálculo inclui eventos já destinados à DLQ na contagem de aceites sem commit. O limite é dois, e três mensagens em DLQ já o ultrapassam. Portanto, nos primeiros quatro blocos, o indicador composto não se recupera, mesmo com retorno dos commits. Não mudamos a regra para aprová-los. O resultado não significa indisponibilidade contínua ou falha permanente do serviço. Fonte: campanha R2/A1 de 27/10/2026, implementacao-java/experimento/campanhas/2026-10-27-reduzida65-r2/RESULTADOS.md e resultados-a1/. Documento consolidado no commit 771d7a621c31aaccda7359b8207979c4bc84f19d. Instrumentation.stableRecovery e tabela de recuperação do capítulo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principais expectativas receberam apoio descritivo no recorte. A síncrona usou menos recursos em carga reduzida. A assíncrona teve menor p95 de aceite e reteve eventos na indisponibilidade do consumidor, com mais recursos e maior intervalo até a conclusão. Complexidade operacional aparece na topologia, mas custo financeiro e esforço de manutenção continuam inconclusivos, pois não foram medidos. A escolha depende do compromisso da aplicação. Confirmação imediata de gravação e aceite para conclusão posterior atendem necessidades diferentes. Cinco tentativas, um computador compartilhado, um broker, uma partição e a emenda pós-hoc limitam a generalização. Não afirmamos significância estatística nem uma arquitetura vencedora para qualquer sistema. Fonte: campanha R2/A1 de 27/10/2026, implementacao-java/experimento/campanhas/2026-10-27-reduzida65-r2/RESULTADOS.md e resultados-a1/. Documento consolidado no commit 771d7a621c31aaccda7359b8207979c4bc84f19d. Capítulos 5 e 6 do PDF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2f2335bfc146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0a2cd544f24751" /><Relationship Type="http://schemas.openxmlformats.org/officeDocument/2006/relationships/slideLayout" Target="/ppt/slideLayouts/slideLayout1.xml" Id="R091e0e80427647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e0e80427647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33ee0aad9146c4" /><Relationship Type="http://schemas.openxmlformats.org/officeDocument/2006/relationships/notesSlide" Target="/ppt/notesSlides/notesSlide1.xml" Id="Rda7a44cf9a9549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af640e9231498e" /><Relationship Type="http://schemas.openxmlformats.org/officeDocument/2006/relationships/notesSlide" Target="/ppt/notesSlides/notesSlide2.xml" Id="Rf76ecb65df214d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82c69f91844540" /><Relationship Type="http://schemas.openxmlformats.org/officeDocument/2006/relationships/notesSlide" Target="/ppt/notesSlides/notesSlide3.xml" Id="Rb27d941a900a42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cd3bb306de4a34" /><Relationship Type="http://schemas.openxmlformats.org/officeDocument/2006/relationships/notesSlide" Target="/ppt/notesSlides/notesSlide4.xml" Id="Rb2737e7d3edc4f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0c3133af8b4798" /><Relationship Type="http://schemas.openxmlformats.org/officeDocument/2006/relationships/notesSlide" Target="/ppt/notesSlides/notesSlide5.xml" Id="Rfd1a3e39844743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d03a10bce54699" /><Relationship Type="http://schemas.openxmlformats.org/officeDocument/2006/relationships/notesSlide" Target="/ppt/notesSlides/notesSlide6.xml" Id="R602e9d74f1b544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1b3129d9284885" /><Relationship Type="http://schemas.openxmlformats.org/officeDocument/2006/relationships/notesSlide" Target="/ppt/notesSlides/notesSlide7.xml" Id="R0c5e01e2d33446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f233e3258b4d19" /><Relationship Type="http://schemas.openxmlformats.org/officeDocument/2006/relationships/notesSlide" Target="/ppt/notesSlides/notesSlide8.xml" Id="R3ca15e8e2db14a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677fd2263f4b54" /><Relationship Type="http://schemas.openxmlformats.org/officeDocument/2006/relationships/notesSlide" Target="/ppt/notesSlides/notesSlide9.xml" Id="R3c10f95c18184d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7ae6735fc645c6" /><Relationship Type="http://schemas.openxmlformats.org/officeDocument/2006/relationships/notesSlide" Target="/ppt/notesSlides/notesSlide10.xml" Id="R56dd9787d2564f0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40BB8F-77D8-4CC2-94B6-BDB02A09A1DC}"/>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Comunicação síncrona via REST e assíncrona orientada a eventos</a:t>
            </a:r>
          </a:p>
        </p:txBody>
      </p:sp>
      <p:sp>
        <p:nvSpPr>
          <p:cNvPr id="2" name="">
            <a:extLst xmlns:a="http://schemas.openxmlformats.org/drawingml/2006/main">
              <a:ext uri="{FF2B5EF4-FFF2-40B4-BE49-F238E27FC236}">
                <a16:creationId xmlns:a16="http://schemas.microsoft.com/office/drawing/2014/main" id="{1F8F37C6-145A-4AB7-8325-7C1042574E9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4E7CF6C8-43D8-4A51-A57A-F11D7D6DDE2B}"/>
              </a:ext>
            </a:extLst>
          </p:cNvPr>
          <p:cNvSpPr>
            <a:spLocks xmlns:a="http://schemas.openxmlformats.org/drawingml/2006/main" noGrp="1"/>
          </p:cNvSpPr>
          <p:nvPr/>
        </p:nvSpPr>
        <p:spPr>
          <a:xfrm xmlns:a="http://schemas.openxmlformats.org/drawingml/2006/main">
            <a:off x="685800" y="2381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B4D"/>
                </a:solidFill>
                <a:latin typeface="Arial"/>
                <a:ea typeface="Arial"/>
                <a:cs typeface="Arial"/>
              </a:defRPr>
            </a:pPr>
            <a:r>
              <a:rPr sz="2550" b="0">
                <a:solidFill>
                  <a:srgbClr val="172B4D"/>
                </a:solidFill>
                <a:latin typeface="Arial"/>
                <a:ea typeface="Arial"/>
                <a:cs typeface="Arial"/>
              </a:rPr>
              <a:t>Análise experimental no processamento de registros</a:t>
            </a:r>
          </a:p>
        </p:txBody>
      </p:sp>
      <p:sp>
        <p:nvSpPr>
          <p:cNvPr id="4" name="">
            <a:extLst xmlns:a="http://schemas.openxmlformats.org/drawingml/2006/main">
              <a:ext uri="{FF2B5EF4-FFF2-40B4-BE49-F238E27FC236}">
                <a16:creationId xmlns:a16="http://schemas.microsoft.com/office/drawing/2014/main" id="{8DE5058F-1EF4-46F9-9A2A-D7EF9080A14C}"/>
              </a:ext>
            </a:extLst>
          </p:cNvPr>
          <p:cNvSpPr>
            <a:spLocks xmlns:a="http://schemas.openxmlformats.org/drawingml/2006/main" noGrp="1"/>
          </p:cNvSpPr>
          <p:nvPr/>
        </p:nvSpPr>
        <p:spPr>
          <a:xfrm xmlns:a="http://schemas.openxmlformats.org/drawingml/2006/main">
            <a:off x="685800" y="4095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2B4D"/>
                </a:solidFill>
                <a:latin typeface="Arial"/>
                <a:ea typeface="Arial"/>
                <a:cs typeface="Arial"/>
              </a:defRPr>
            </a:pPr>
            <a:r>
              <a:rPr sz="1875" b="0">
                <a:solidFill>
                  <a:srgbClr val="172B4D"/>
                </a:solidFill>
                <a:latin typeface="Arial"/>
                <a:ea typeface="Arial"/>
                <a:cs typeface="Arial"/>
              </a:rPr>
              <a:t>Ilan Wendling Thoele</a:t>
            </a:r>
          </a:p>
          <a:p xmlns:a="http://schemas.openxmlformats.org/drawingml/2006/main">
            <a:pPr>
              <a:buNone/>
              <a:defRPr sz="1875" b="0">
                <a:solidFill>
                  <a:srgbClr val="172B4D"/>
                </a:solidFill>
                <a:latin typeface="Arial"/>
                <a:ea typeface="Arial"/>
                <a:cs typeface="Arial"/>
              </a:defRPr>
            </a:pPr>
            <a:r>
              <a:rPr sz="1875" b="0">
                <a:solidFill>
                  <a:srgbClr val="172B4D"/>
                </a:solidFill>
                <a:latin typeface="Arial"/>
                <a:ea typeface="Arial"/>
                <a:cs typeface="Arial"/>
              </a:rPr>
              <a:t>Orientadora: Professora Alessandra Bussador</a:t>
            </a:r>
          </a:p>
        </p:txBody>
      </p:sp>
      <p:sp>
        <p:nvSpPr>
          <p:cNvPr id="5" name="">
            <a:extLst xmlns:a="http://schemas.openxmlformats.org/drawingml/2006/main">
              <a:ext uri="{FF2B5EF4-FFF2-40B4-BE49-F238E27FC236}">
                <a16:creationId xmlns:a16="http://schemas.microsoft.com/office/drawing/2014/main" id="{300DED62-E354-4EA6-BBF1-1B77DA0CCAD8}"/>
              </a:ext>
            </a:extLst>
          </p:cNvPr>
          <p:cNvSpPr>
            <a:spLocks xmlns:a="http://schemas.openxmlformats.org/drawingml/2006/main" noGrp="1"/>
          </p:cNvSpPr>
          <p:nvPr/>
        </p:nvSpPr>
        <p:spPr>
          <a:xfrm xmlns:a="http://schemas.openxmlformats.org/drawingml/2006/main">
            <a:off x="6858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Arial"/>
                <a:ea typeface="Arial"/>
                <a:cs typeface="Arial"/>
              </a:defRPr>
            </a:pPr>
            <a:r>
              <a:rPr sz="1650" b="0">
                <a:solidFill>
                  <a:srgbClr val="475569"/>
                </a:solidFill>
                <a:latin typeface="Arial"/>
                <a:ea typeface="Arial"/>
                <a:cs typeface="Arial"/>
              </a:rPr>
              <a:t>Resultados da campanha R2/A1 em 27/10/2026</a:t>
            </a:r>
          </a:p>
        </p:txBody>
      </p:sp>
    </p:spTree>
    <p:extLst>
      <p:ext uri="{BB962C8B-B14F-4D97-AF65-F5344CB8AC3E}">
        <p14:creationId xmlns:p14="http://schemas.microsoft.com/office/powerpoint/2010/main" val="8944550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348A5A-B23F-4AA4-BFE7-BF5E41F9DF32}"/>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Pergunta e modelo comum de auditoria</a:t>
            </a:r>
          </a:p>
        </p:txBody>
      </p:sp>
      <p:sp>
        <p:nvSpPr>
          <p:cNvPr id="2" name="">
            <a:extLst xmlns:a="http://schemas.openxmlformats.org/drawingml/2006/main">
              <a:ext uri="{FF2B5EF4-FFF2-40B4-BE49-F238E27FC236}">
                <a16:creationId xmlns:a16="http://schemas.microsoft.com/office/drawing/2014/main" id="{1A407E45-414A-45EF-8073-64D535F7937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FBDEDCC2-47A2-4C51-B15F-A15D741A373B}"/>
              </a:ext>
            </a:extLst>
          </p:cNvPr>
          <p:cNvSpPr>
            <a:spLocks xmlns:a="http://schemas.openxmlformats.org/drawingml/2006/main" noGrp="1"/>
          </p:cNvSpPr>
          <p:nvPr/>
        </p:nvSpPr>
        <p:spPr>
          <a:xfrm xmlns:a="http://schemas.openxmlformats.org/drawingml/2006/main">
            <a:off x="685800" y="19526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2B4D"/>
                </a:solidFill>
                <a:latin typeface="Arial"/>
                <a:ea typeface="Arial"/>
                <a:cs typeface="Arial"/>
              </a:defRPr>
            </a:pPr>
            <a:r>
              <a:rPr sz="3300" b="1">
                <a:solidFill>
                  <a:srgbClr val="172B4D"/>
                </a:solidFill>
                <a:latin typeface="Arial"/>
                <a:ea typeface="Arial"/>
                <a:cs typeface="Arial"/>
              </a:rPr>
              <a:t>Quais trade-offs de desempenho e resiliência aparecem nas duas implementações?</a:t>
            </a:r>
          </a:p>
        </p:txBody>
      </p:sp>
      <p:sp>
        <p:nvSpPr>
          <p:cNvPr id="4" name="">
            <a:extLst xmlns:a="http://schemas.openxmlformats.org/drawingml/2006/main">
              <a:ext uri="{FF2B5EF4-FFF2-40B4-BE49-F238E27FC236}">
                <a16:creationId xmlns:a16="http://schemas.microsoft.com/office/drawing/2014/main" id="{41D630C5-687F-40E3-BFF8-E2FA1A694C72}"/>
              </a:ext>
            </a:extLst>
          </p:cNvPr>
          <p:cNvSpPr>
            <a:spLocks xmlns:a="http://schemas.openxmlformats.org/drawingml/2006/main" noGrp="1"/>
          </p:cNvSpPr>
          <p:nvPr/>
        </p:nvSpPr>
        <p:spPr>
          <a:xfrm xmlns:a="http://schemas.openxmlformats.org/drawingml/2006/main">
            <a:off x="685800" y="44767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B4D"/>
                </a:solidFill>
                <a:latin typeface="Arial"/>
                <a:ea typeface="Arial"/>
                <a:cs typeface="Arial"/>
              </a:defRPr>
            </a:pPr>
            <a:r>
              <a:rPr sz="2250" b="0">
                <a:solidFill>
                  <a:srgbClr val="172B4D"/>
                </a:solidFill>
                <a:latin typeface="Arial"/>
                <a:ea typeface="Arial"/>
                <a:cs typeface="Arial"/>
              </a:rPr>
              <a:t>Mesmo contrato, validação, hash e PostgreSQL.</a:t>
            </a:r>
          </a:p>
          <a:p xmlns:a="http://schemas.openxmlformats.org/drawingml/2006/main">
            <a:pPr>
              <a:buNone/>
              <a:defRPr sz="2250" b="0">
                <a:solidFill>
                  <a:srgbClr val="172B4D"/>
                </a:solidFill>
                <a:latin typeface="Arial"/>
                <a:ea typeface="Arial"/>
                <a:cs typeface="Arial"/>
              </a:defRPr>
            </a:pPr>
            <a:r>
              <a:rPr sz="2250" b="0">
                <a:solidFill>
                  <a:srgbClr val="172B4D"/>
                </a:solidFill>
                <a:latin typeface="Arial"/>
                <a:ea typeface="Arial"/>
                <a:cs typeface="Arial"/>
              </a:rPr>
              <a:t>Piloto funcional: 50 registros equivalentes por variante.</a:t>
            </a:r>
          </a:p>
        </p:txBody>
      </p:sp>
    </p:spTree>
    <p:extLst>
      <p:ext uri="{BB962C8B-B14F-4D97-AF65-F5344CB8AC3E}">
        <p14:creationId xmlns:p14="http://schemas.microsoft.com/office/powerpoint/2010/main" val="380886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772F50-A96C-4547-A865-3A9943CFC11F}"/>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Campanha executada e unidade de comparação</a:t>
            </a:r>
          </a:p>
        </p:txBody>
      </p:sp>
      <p:sp>
        <p:nvSpPr>
          <p:cNvPr id="2" name="">
            <a:extLst xmlns:a="http://schemas.openxmlformats.org/drawingml/2006/main">
              <a:ext uri="{FF2B5EF4-FFF2-40B4-BE49-F238E27FC236}">
                <a16:creationId xmlns:a16="http://schemas.microsoft.com/office/drawing/2014/main" id="{5D6828C9-C577-48E4-8F51-C02A856F01A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04FA8B88-80C2-40BA-8542-AE34D474ED80}"/>
              </a:ext>
            </a:extLst>
          </p:cNvPr>
          <p:cNvSpPr>
            <a:spLocks xmlns:a="http://schemas.openxmlformats.org/drawingml/2006/main" noGrp="1"/>
          </p:cNvSpPr>
          <p:nvPr/>
        </p:nvSpPr>
        <p:spPr>
          <a:xfrm xmlns:a="http://schemas.openxmlformats.org/drawingml/2006/main">
            <a:off x="685800" y="1857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65 UUIDs em 13 condições, com cinco tentativas cada.</a:t>
            </a:r>
          </a:p>
        </p:txBody>
      </p:sp>
      <p:sp>
        <p:nvSpPr>
          <p:cNvPr id="8" name="">
            <a:extLst xmlns:a="http://schemas.openxmlformats.org/drawingml/2006/main">
              <a:ext uri="{FF2B5EF4-FFF2-40B4-BE49-F238E27FC236}">
                <a16:creationId xmlns:a16="http://schemas.microsoft.com/office/drawing/2014/main" id="{0292F65E-4CE5-435B-A87F-1659FB993801}"/>
              </a:ext>
            </a:extLst>
          </p:cNvPr>
          <p:cNvSpPr>
            <a:spLocks xmlns:a="http://schemas.openxmlformats.org/drawingml/2006/main" noGrp="1"/>
          </p:cNvSpPr>
          <p:nvPr/>
        </p:nvSpPr>
        <p:spPr>
          <a:xfrm xmlns:a="http://schemas.openxmlformats.org/drawingml/2006/main">
            <a:off x="685800" y="2838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Constantes: 12, 24, 36 e 48/s. Rajada: 48, 96 e 48/s.</a:t>
            </a:r>
          </a:p>
        </p:txBody>
      </p:sp>
      <p:sp>
        <p:nvSpPr>
          <p:cNvPr id="9" name="">
            <a:extLst xmlns:a="http://schemas.openxmlformats.org/drawingml/2006/main">
              <a:ext uri="{FF2B5EF4-FFF2-40B4-BE49-F238E27FC236}">
                <a16:creationId xmlns:a16="http://schemas.microsoft.com/office/drawing/2014/main" id="{755BB376-7AA0-481D-9A1E-4D1DF116BB97}"/>
              </a:ext>
            </a:extLst>
          </p:cNvPr>
          <p:cNvSpPr>
            <a:spLocks xmlns:a="http://schemas.openxmlformats.org/drawingml/2006/main" noGrp="1"/>
          </p:cNvSpPr>
          <p:nvPr/>
        </p:nvSpPr>
        <p:spPr>
          <a:xfrm xmlns:a="http://schemas.openxmlformats.org/drawingml/2006/main">
            <a:off x="685800" y="3819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Falhas: PostgreSQL nas duas variantes e consumidor na assíncrona.</a:t>
            </a:r>
          </a:p>
        </p:txBody>
      </p:sp>
      <p:sp>
        <p:nvSpPr>
          <p:cNvPr id="10" name="">
            <a:extLst xmlns:a="http://schemas.openxmlformats.org/drawingml/2006/main">
              <a:ext uri="{FF2B5EF4-FFF2-40B4-BE49-F238E27FC236}">
                <a16:creationId xmlns:a16="http://schemas.microsoft.com/office/drawing/2014/main" id="{99D070DA-0A15-462C-B673-4053FE2770C1}"/>
              </a:ext>
            </a:extLst>
          </p:cNvPr>
          <p:cNvSpPr>
            <a:spLocks xmlns:a="http://schemas.openxmlformats.org/drawingml/2006/main" noGrp="1"/>
          </p:cNvSpPr>
          <p:nvPr/>
        </p:nvSpPr>
        <p:spPr>
          <a:xfrm xmlns:a="http://schemas.openxmlformats.org/drawingml/2006/main">
            <a:off x="685800" y="4800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60 s de aquecimento, 180 s medidos e 90 s de observação posterior.</a:t>
            </a:r>
          </a:p>
        </p:txBody>
      </p:sp>
    </p:spTree>
    <p:extLst>
      <p:ext uri="{BB962C8B-B14F-4D97-AF65-F5344CB8AC3E}">
        <p14:creationId xmlns:p14="http://schemas.microsoft.com/office/powerpoint/2010/main" val="19241501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8D7639-F3CE-498B-AE58-6B2572E4018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HTTP e conclusão a 48 eventos por segundo</a:t>
            </a:r>
          </a:p>
        </p:txBody>
      </p:sp>
      <p:sp>
        <p:nvSpPr>
          <p:cNvPr id="2" name="">
            <a:extLst xmlns:a="http://schemas.openxmlformats.org/drawingml/2006/main">
              <a:ext uri="{FF2B5EF4-FFF2-40B4-BE49-F238E27FC236}">
                <a16:creationId xmlns:a16="http://schemas.microsoft.com/office/drawing/2014/main" id="{3B123E97-A882-4BF7-88B4-FC470570119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4</a:t>
            </a:r>
          </a:p>
        </p:txBody>
      </p:sp>
      <p:graphicFrame>
        <p:nvGraphicFramePr>
          <p:cNvPr id="7" name="">
            <a:extLst xmlns:a="http://schemas.openxmlformats.org/drawingml/2006/main">
              <a:ext uri="{FF2B5EF4-FFF2-40B4-BE49-F238E27FC236}">
                <a16:creationId xmlns:a16="http://schemas.microsoft.com/office/drawing/2014/main" id="{09291405-1A40-4663-BEC0-D3CCF2A2EE5F}"/>
              </a:ext>
            </a:extLst>
          </p:cNvPr>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742950">
                <a:tc>
                  <a:txBody>
                    <a:bodyPr>
                      <a:noAutofit/>
                    </a:bodyPr>
                    <a:lstStyle/>
                    <a:p>
                      <a:r>
                        <a:rPr sz="1875" b="1">
                          <a:solidFill>
                            <a:srgbClr val="FFFFFF"/>
                          </a:solidFill>
                          <a:latin typeface="Arial"/>
                          <a:ea typeface="Arial"/>
                          <a:cs typeface="Arial"/>
                        </a:rPr>
                        <a:t>Indicador</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42950">
                <a:tc>
                  <a:txBody>
                    <a:bodyPr>
                      <a:noAutofit/>
                    </a:bodyPr>
                    <a:lstStyle/>
                    <a:p>
                      <a:r>
                        <a:rPr sz="1875" b="0">
                          <a:solidFill>
                            <a:srgbClr val="172B4D"/>
                          </a:solidFill>
                          <a:latin typeface="Arial"/>
                          <a:ea typeface="Arial"/>
                          <a:cs typeface="Arial"/>
                        </a:rPr>
                        <a:t>p95 HTTP válido (ms)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4,34</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2,60</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p95 envio até commit (ms)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3,92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5,83</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Vazão concluída (eventos/s)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48,00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48,00</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Erro HTTP medido (%)</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0,00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0,00</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B04DE3-CBE5-42A3-9D54-CA75EDA6A126}"/>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Médias entre cinco execuções. Latências: média dos p95 de cada execução.</a:t>
            </a:r>
          </a:p>
        </p:txBody>
      </p:sp>
    </p:spTree>
    <p:extLst>
      <p:ext uri="{BB962C8B-B14F-4D97-AF65-F5344CB8AC3E}">
        <p14:creationId xmlns:p14="http://schemas.microsoft.com/office/powerpoint/2010/main" val="14067139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A7F59F-5208-4EC4-A949-56861BB789C3}"/>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Recursos do caminho completo a 12 eventos por segundo</a:t>
            </a:r>
          </a:p>
        </p:txBody>
      </p:sp>
      <p:sp>
        <p:nvSpPr>
          <p:cNvPr id="2" name="">
            <a:extLst xmlns:a="http://schemas.openxmlformats.org/drawingml/2006/main">
              <a:ext uri="{FF2B5EF4-FFF2-40B4-BE49-F238E27FC236}">
                <a16:creationId xmlns:a16="http://schemas.microsoft.com/office/drawing/2014/main" id="{8A1579E8-E47C-4163-A2B5-E522E451902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5</a:t>
            </a:r>
          </a:p>
        </p:txBody>
      </p:sp>
      <p:graphicFrame>
        <p:nvGraphicFramePr>
          <p:cNvPr id="7" name="">
            <a:extLst xmlns:a="http://schemas.openxmlformats.org/drawingml/2006/main">
              <a:ext uri="{FF2B5EF4-FFF2-40B4-BE49-F238E27FC236}">
                <a16:creationId xmlns:a16="http://schemas.microsoft.com/office/drawing/2014/main" id="{8831B123-3897-4CE7-89E7-2B256DB23C03}"/>
              </a:ext>
            </a:extLst>
          </p:cNvPr>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742950">
                <a:tc>
                  <a:txBody>
                    <a:bodyPr>
                      <a:noAutofit/>
                    </a:bodyPr>
                    <a:lstStyle/>
                    <a:p>
                      <a:r>
                        <a:rPr sz="1875" b="1">
                          <a:solidFill>
                            <a:srgbClr val="FFFFFF"/>
                          </a:solidFill>
                          <a:latin typeface="Arial"/>
                          <a:ea typeface="Arial"/>
                          <a:cs typeface="Arial"/>
                        </a:rPr>
                        <a:t>Indicador</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42950">
                <a:tc>
                  <a:txBody>
                    <a:bodyPr>
                      <a:noAutofit/>
                    </a:bodyPr>
                    <a:lstStyle/>
                    <a:p>
                      <a:r>
                        <a:rPr sz="1875" b="0">
                          <a:solidFill>
                            <a:srgbClr val="172B4D"/>
                          </a:solidFill>
                          <a:latin typeface="Arial"/>
                          <a:ea typeface="Arial"/>
                          <a:cs typeface="Arial"/>
                        </a:rPr>
                        <a:t>CPU média (% de uma CPU lógica)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6,79</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15,36</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Memória média (MiB)</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231,0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1.020,5</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Componentes no caminho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4</a:t>
                      </a:r>
                    </a:p>
                  </a:txBody>
                  <a:tcPr marL="91440" marR="91440" marT="45720" marB="45720">
                    <a:lnR w="9525">
                      <a:solidFill>
                        <a:srgbClr val="CBD5E1"/>
                      </a:solidFill>
                      <a:prstDash val="solid"/>
                    </a:lnR>
                    <a:lnB w="9525">
                      <a:solidFill>
                        <a:srgbClr val="CBD5E1"/>
                      </a:solidFill>
                      <a:prstDash val="solid"/>
                    </a:lnB>
                    <a:solidFill>
                      <a:srgbClr val="FFFFFF"/>
                    </a:solidFill>
                  </a:tcPr>
                </a:tc>
              </a:tr>
              <a:tr h="742950">
                <a:tc>
                  <a:txBody>
                    <a:bodyPr>
                      <a:noAutofit/>
                    </a:bodyPr>
                    <a:lstStyle/>
                    <a:p>
                      <a:r>
                        <a:rPr sz="1875" b="0">
                          <a:solidFill>
                            <a:srgbClr val="172B4D"/>
                          </a:solidFill>
                          <a:latin typeface="Arial"/>
                          <a:ea typeface="Arial"/>
                          <a:cs typeface="Arial"/>
                        </a:rPr>
                        <a:t>Execuções por variante</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5</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CFF437-9325-408D-9BA5-B54A31F87DDE}"/>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4D"/>
                </a:solidFill>
                <a:latin typeface="Arial"/>
                <a:ea typeface="Arial"/>
                <a:cs typeface="Arial"/>
              </a:defRPr>
            </a:defPPr>
            <a:lvl1pPr>
              <a:buNone/>
              <a:defRPr sz="1725" b="0">
                <a:solidFill>
                  <a:srgbClr val="172B4D"/>
                </a:solidFill>
                <a:latin typeface="Arial"/>
                <a:ea typeface="Arial"/>
                <a:cs typeface="Arial"/>
              </a:defRPr>
            </a:lvl1pPr>
            <a:lvl2pPr>
              <a:buNone/>
              <a:defRPr sz="1725" b="0">
                <a:solidFill>
                  <a:srgbClr val="172B4D"/>
                </a:solidFill>
                <a:latin typeface="Arial"/>
                <a:ea typeface="Arial"/>
                <a:cs typeface="Arial"/>
              </a:defRPr>
            </a:lvl2pPr>
            <a:lvl3pPr>
              <a:buNone/>
              <a:defRPr sz="1725" b="0">
                <a:solidFill>
                  <a:srgbClr val="172B4D"/>
                </a:solidFill>
                <a:latin typeface="Arial"/>
                <a:ea typeface="Arial"/>
                <a:cs typeface="Arial"/>
              </a:defRPr>
            </a:lvl3pPr>
            <a:lvl4pPr>
              <a:buNone/>
              <a:defRPr sz="1725" b="0">
                <a:solidFill>
                  <a:srgbClr val="172B4D"/>
                </a:solidFill>
                <a:latin typeface="Arial"/>
                <a:ea typeface="Arial"/>
                <a:cs typeface="Arial"/>
              </a:defRPr>
            </a:lvl4pPr>
            <a:lvl5pPr>
              <a:buNone/>
              <a:defRPr sz="1725" b="0">
                <a:solidFill>
                  <a:srgbClr val="172B4D"/>
                </a:solidFill>
                <a:latin typeface="Arial"/>
                <a:ea typeface="Arial"/>
                <a:cs typeface="Arial"/>
              </a:defRPr>
            </a:lvl5pPr>
            <a:lvl6pPr>
              <a:buNone/>
              <a:defRPr sz="1725" b="0">
                <a:solidFill>
                  <a:srgbClr val="172B4D"/>
                </a:solidFill>
                <a:latin typeface="Arial"/>
                <a:ea typeface="Arial"/>
                <a:cs typeface="Arial"/>
              </a:defRPr>
            </a:lvl6pPr>
            <a:lvl7pPr>
              <a:buNone/>
              <a:defRPr sz="1725" b="0">
                <a:solidFill>
                  <a:srgbClr val="172B4D"/>
                </a:solidFill>
                <a:latin typeface="Arial"/>
                <a:ea typeface="Arial"/>
                <a:cs typeface="Arial"/>
              </a:defRPr>
            </a:lvl7pPr>
            <a:lvl8pPr>
              <a:buNone/>
              <a:defRPr sz="1725" b="0">
                <a:solidFill>
                  <a:srgbClr val="172B4D"/>
                </a:solidFill>
                <a:latin typeface="Arial"/>
                <a:ea typeface="Arial"/>
                <a:cs typeface="Arial"/>
              </a:defRPr>
            </a:lvl8pPr>
            <a:lvl9pPr>
              <a:buNone/>
              <a:defRPr sz="1725" b="0">
                <a:solidFill>
                  <a:srgbClr val="172B4D"/>
                </a:solidFill>
                <a:latin typeface="Arial"/>
                <a:ea typeface="Arial"/>
                <a:cs typeface="Arial"/>
              </a:defRPr>
            </a:lvl9pPr>
          </a:lstStyle>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API e banco na síncrona. API, consumidor, banco e Kafka na assíncrona.</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Gerador e observador separados. Sem medição financeira ou de manutenção.</a:t>
            </a:r>
          </a:p>
        </p:txBody>
      </p:sp>
    </p:spTree>
    <p:extLst>
      <p:ext uri="{BB962C8B-B14F-4D97-AF65-F5344CB8AC3E}">
        <p14:creationId xmlns:p14="http://schemas.microsoft.com/office/powerpoint/2010/main" val="2817759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0EF7CA-3D50-4299-8EDC-9CCFCBD87CD6}"/>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PostgreSQL parado: aceites e destinos finais</a:t>
            </a:r>
          </a:p>
        </p:txBody>
      </p:sp>
      <p:sp>
        <p:nvSpPr>
          <p:cNvPr id="2" name="">
            <a:extLst xmlns:a="http://schemas.openxmlformats.org/drawingml/2006/main">
              <a:ext uri="{FF2B5EF4-FFF2-40B4-BE49-F238E27FC236}">
                <a16:creationId xmlns:a16="http://schemas.microsoft.com/office/drawing/2014/main" id="{4A60FA36-569C-4493-8D3D-68EDC438116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6</a:t>
            </a:r>
          </a:p>
        </p:txBody>
      </p:sp>
      <p:graphicFrame>
        <p:nvGraphicFramePr>
          <p:cNvPr id="7" name="">
            <a:extLst xmlns:a="http://schemas.openxmlformats.org/drawingml/2006/main">
              <a:ext uri="{FF2B5EF4-FFF2-40B4-BE49-F238E27FC236}">
                <a16:creationId xmlns:a16="http://schemas.microsoft.com/office/drawing/2014/main" id="{4B5DDBA9-F8EF-4114-BFC2-3042574A78D1}"/>
              </a:ext>
            </a:extLst>
          </p:cNvPr>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a:tblGrid>
                <a:gridCol w="5143500"/>
                <a:gridCol w="2838450"/>
                <a:gridCol w="2838450"/>
              </a:tblGrid>
              <a:tr h="619125">
                <a:tc>
                  <a:txBody>
                    <a:bodyPr>
                      <a:noAutofit/>
                    </a:bodyPr>
                    <a:lstStyle/>
                    <a:p>
                      <a:r>
                        <a:rPr sz="1875" b="1">
                          <a:solidFill>
                            <a:srgbClr val="FFFFFF"/>
                          </a:solidFill>
                          <a:latin typeface="Arial"/>
                          <a:ea typeface="Arial"/>
                          <a:cs typeface="Arial"/>
                        </a:rPr>
                        <a:t>Totais das cinco tentativas</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75" b="1">
                          <a:solidFill>
                            <a:srgbClr val="FFFFFF"/>
                          </a:solidFill>
                          <a:latin typeface="Arial"/>
                          <a:ea typeface="Arial"/>
                          <a:cs typeface="Arial"/>
                        </a:rPr>
                        <a:t>Assíncrona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19125">
                <a:tc>
                  <a:txBody>
                    <a:bodyPr>
                      <a:noAutofit/>
                    </a:bodyPr>
                    <a:lstStyle/>
                    <a:p>
                      <a:r>
                        <a:rPr sz="1875" b="0">
                          <a:solidFill>
                            <a:srgbClr val="172B4D"/>
                          </a:solidFill>
                          <a:latin typeface="Arial"/>
                          <a:ea typeface="Arial"/>
                          <a:cs typeface="Arial"/>
                        </a:rPr>
                        <a:t>Enviados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Aceitos com 201 ou 202</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8.351</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10.804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Persistidos ao fim</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8.352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10.790</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DLQ terminal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14</a:t>
                      </a:r>
                    </a:p>
                  </a:txBody>
                  <a:tcPr marL="91440" marR="91440" marT="45720" marB="45720">
                    <a:lnR w="9525">
                      <a:solidFill>
                        <a:srgbClr val="CBD5E1"/>
                      </a:solidFill>
                      <a:prstDash val="solid"/>
                    </a:lnR>
                    <a:lnB w="9525">
                      <a:solidFill>
                        <a:srgbClr val="CBD5E1"/>
                      </a:solidFill>
                      <a:prstDash val="solid"/>
                    </a:lnB>
                    <a:solidFill>
                      <a:srgbClr val="FFFFFF"/>
                    </a:solidFill>
                  </a:tcPr>
                </a:tc>
              </a:tr>
              <a:tr h="619125">
                <a:tc>
                  <a:txBody>
                    <a:bodyPr>
                      <a:noAutofit/>
                    </a:bodyPr>
                    <a:lstStyle/>
                    <a:p>
                      <a:r>
                        <a:rPr sz="1875" b="0">
                          <a:solidFill>
                            <a:srgbClr val="172B4D"/>
                          </a:solidFill>
                          <a:latin typeface="Arial"/>
                          <a:ea typeface="Arial"/>
                          <a:cs typeface="Arial"/>
                        </a:rPr>
                        <a:t>Respostas HTTP 503</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2.452</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75"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63EFDF5-B14C-40AC-B7F6-236B5EE41A7E}"/>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Um evento síncrono apareceu no banco apesar de HTTP 503, sem horário de commit.</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Na assíncrona, 14 aceites terminaram na DLQ e não no PostgreSQL.</a:t>
            </a:r>
          </a:p>
        </p:txBody>
      </p:sp>
    </p:spTree>
    <p:extLst>
      <p:ext uri="{BB962C8B-B14F-4D97-AF65-F5344CB8AC3E}">
        <p14:creationId xmlns:p14="http://schemas.microsoft.com/office/powerpoint/2010/main" val="1671687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F375ACE-C20D-4DE0-B8A4-4AB2078B0D34}"/>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Consumidor parado: retenção e recuperação</a:t>
            </a:r>
          </a:p>
        </p:txBody>
      </p:sp>
      <p:sp>
        <p:nvSpPr>
          <p:cNvPr id="2" name="">
            <a:extLst xmlns:a="http://schemas.openxmlformats.org/drawingml/2006/main">
              <a:ext uri="{FF2B5EF4-FFF2-40B4-BE49-F238E27FC236}">
                <a16:creationId xmlns:a16="http://schemas.microsoft.com/office/drawing/2014/main" id="{93B6DCD2-0B3D-41DD-8E6E-81AEDCBC70A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7</a:t>
            </a:r>
          </a:p>
        </p:txBody>
      </p:sp>
      <p:graphicFrame>
        <p:nvGraphicFramePr>
          <p:cNvPr id="6" name="">
            <a:extLst xmlns:a="http://schemas.openxmlformats.org/drawingml/2006/main">
              <a:ext uri="{FF2B5EF4-FFF2-40B4-BE49-F238E27FC236}">
                <a16:creationId xmlns:a16="http://schemas.microsoft.com/office/drawing/2014/main" id="{545E4624-631C-40D1-96A2-8A373515B49D}"/>
              </a:ext>
            </a:extLst>
          </p:cNvPr>
          <p:cNvGraphicFramePr/>
          <p:nvPr/>
        </p:nvGraphicFramePr>
        <p:xfrm>
          <a:off xmlns:a="http://schemas.openxmlformats.org/drawingml/2006/main" x="685800" y="1714500"/>
          <a:ext xmlns:a="http://schemas.openxmlformats.org/drawingml/2006/main" cx="10820400" cy="3619500"/>
        </p:xfrm>
        <a:graphic xmlns:a="http://schemas.openxmlformats.org/drawingml/2006/main">
          <a:graphicData uri="http://schemas.openxmlformats.org/drawingml/2006/table">
            <a:tbl>
              <a:tblPr/>
              <a:tblGrid>
                <a:gridCol w="5524500"/>
                <a:gridCol w="5295900"/>
              </a:tblGrid>
              <a:tr h="723900">
                <a:tc>
                  <a:txBody>
                    <a:bodyPr>
                      <a:noAutofit/>
                    </a:bodyPr>
                    <a:lstStyle/>
                    <a:p>
                      <a:r>
                        <a:rPr sz="1950" b="1">
                          <a:solidFill>
                            <a:srgbClr val="FFFFFF"/>
                          </a:solidFill>
                          <a:latin typeface="Arial"/>
                          <a:ea typeface="Arial"/>
                          <a:cs typeface="Arial"/>
                        </a:rPr>
                        <a:t>Indicador nas cinco execuções</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950" b="1">
                          <a:solidFill>
                            <a:srgbClr val="FFFFFF"/>
                          </a:solidFill>
                          <a:latin typeface="Arial"/>
                          <a:ea typeface="Arial"/>
                          <a:cs typeface="Arial"/>
                        </a:rPr>
                        <a:t>Resultado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23900">
                <a:tc>
                  <a:txBody>
                    <a:bodyPr>
                      <a:noAutofit/>
                    </a:bodyPr>
                    <a:lstStyle/>
                    <a:p>
                      <a:r>
                        <a:rPr sz="1950" b="0">
                          <a:solidFill>
                            <a:srgbClr val="172B4D"/>
                          </a:solidFill>
                          <a:latin typeface="Arial"/>
                          <a:ea typeface="Arial"/>
                          <a:cs typeface="Arial"/>
                        </a:rPr>
                        <a:t>Aceitos durante a medição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10.801</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Persistidos ao fim</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10.801</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DLQ terminal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0</a:t>
                      </a:r>
                    </a:p>
                  </a:txBody>
                  <a:tcPr marL="91440" marR="91440" marT="45720" marB="45720">
                    <a:lnR w="9525">
                      <a:solidFill>
                        <a:srgbClr val="CBD5E1"/>
                      </a:solidFill>
                      <a:prstDash val="solid"/>
                    </a:lnR>
                    <a:lnB w="9525">
                      <a:solidFill>
                        <a:srgbClr val="CBD5E1"/>
                      </a:solidFill>
                      <a:prstDash val="solid"/>
                    </a:lnB>
                    <a:solidFill>
                      <a:srgbClr val="FFFFFF"/>
                    </a:solidFill>
                  </a:tcPr>
                </a:tc>
              </a:tr>
              <a:tr h="723900">
                <a:tc>
                  <a:txBody>
                    <a:bodyPr>
                      <a:noAutofit/>
                    </a:bodyPr>
                    <a:lstStyle/>
                    <a:p>
                      <a:r>
                        <a:rPr sz="1950" b="0">
                          <a:solidFill>
                            <a:srgbClr val="172B4D"/>
                          </a:solidFill>
                          <a:latin typeface="Arial"/>
                          <a:ea typeface="Arial"/>
                          <a:cs typeface="Arial"/>
                        </a:rPr>
                        <a:t>Recuperação sustentada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950" b="0">
                          <a:solidFill>
                            <a:srgbClr val="172B4D"/>
                          </a:solidFill>
                          <a:latin typeface="Arial"/>
                          <a:ea typeface="Arial"/>
                          <a:cs typeface="Arial"/>
                        </a:rPr>
                        <a:t>5 de 5 execuções</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872CC85-A1BC-4DCA-BDCF-BD46BC090A57}"/>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Backlog integral: 12,55 a 24,16 s após comando de retomada.</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P95 de conclusão por execução: 46,95 a 57,80 s.</a:t>
            </a:r>
          </a:p>
        </p:txBody>
      </p:sp>
    </p:spTree>
    <p:extLst>
      <p:ext uri="{BB962C8B-B14F-4D97-AF65-F5344CB8AC3E}">
        <p14:creationId xmlns:p14="http://schemas.microsoft.com/office/powerpoint/2010/main" val="15299651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B2ECAE-0DD8-4448-94F0-03DEA23131FA}"/>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Por que uma coleta ficou parcial</a:t>
            </a:r>
          </a:p>
        </p:txBody>
      </p:sp>
      <p:sp>
        <p:nvSpPr>
          <p:cNvPr id="2" name="">
            <a:extLst xmlns:a="http://schemas.openxmlformats.org/drawingml/2006/main">
              <a:ext uri="{FF2B5EF4-FFF2-40B4-BE49-F238E27FC236}">
                <a16:creationId xmlns:a16="http://schemas.microsoft.com/office/drawing/2014/main" id="{B775F8D5-235B-4BE8-82DE-A11038D2280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8</a:t>
            </a:r>
          </a:p>
        </p:txBody>
      </p:sp>
      <p:graphicFrame>
        <p:nvGraphicFramePr>
          <p:cNvPr id="7" name="">
            <a:extLst xmlns:a="http://schemas.openxmlformats.org/drawingml/2006/main">
              <a:ext uri="{FF2B5EF4-FFF2-40B4-BE49-F238E27FC236}">
                <a16:creationId xmlns:a16="http://schemas.microsoft.com/office/drawing/2014/main" id="{C769136D-92D9-495F-BA37-F4ACB32D6547}"/>
              </a:ext>
            </a:extLst>
          </p:cNvPr>
          <p:cNvGraphicFramePr/>
          <p:nvPr/>
        </p:nvGraphicFramePr>
        <p:xfrm>
          <a:off xmlns:a="http://schemas.openxmlformats.org/drawingml/2006/main" x="685800" y="1714500"/>
          <a:ext xmlns:a="http://schemas.openxmlformats.org/drawingml/2006/main" cx="10820400" cy="3476625"/>
        </p:xfrm>
        <a:graphic xmlns:a="http://schemas.openxmlformats.org/drawingml/2006/main">
          <a:graphicData uri="http://schemas.openxmlformats.org/drawingml/2006/table">
            <a:tbl>
              <a:tblPr/>
              <a:tblGrid>
                <a:gridCol w="3619500"/>
                <a:gridCol w="4476750"/>
                <a:gridCol w="2724150"/>
              </a:tblGrid>
              <a:tr h="695325">
                <a:tc>
                  <a:txBody>
                    <a:bodyPr>
                      <a:noAutofit/>
                    </a:bodyPr>
                    <a:lstStyle/>
                    <a:p>
                      <a:r>
                        <a:rPr sz="1800" b="1">
                          <a:solidFill>
                            <a:srgbClr val="FFFFFF"/>
                          </a:solidFill>
                          <a:latin typeface="Arial"/>
                          <a:ea typeface="Arial"/>
                          <a:cs typeface="Arial"/>
                        </a:rPr>
                        <a:t>O que aconteceu</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Efeito na análise</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Cobertura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695325">
                <a:tc>
                  <a:txBody>
                    <a:bodyPr>
                      <a:noAutofit/>
                    </a:bodyPr>
                    <a:lstStyle/>
                    <a:p>
                      <a:r>
                        <a:rPr sz="1800" b="0">
                          <a:solidFill>
                            <a:srgbClr val="172B4D"/>
                          </a:solidFill>
                          <a:latin typeface="Arial"/>
                          <a:ea typeface="Arial"/>
                          <a:cs typeface="Arial"/>
                        </a:rPr>
                        <a:t>Evento no banco apesar de HTTP 503</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Horário de um commit ausente</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de 1.667 registros</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Conclusão primária com banco parado</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Exclusão do par do bloco 3</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4 pares completos</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HTTP, destinos e recursos</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Observações auditadas mantidas</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por condição</a:t>
                      </a:r>
                    </a:p>
                  </a:txBody>
                  <a:tcPr marL="91440" marR="91440" marT="45720" marB="45720">
                    <a:lnR w="9525">
                      <a:solidFill>
                        <a:srgbClr val="CBD5E1"/>
                      </a:solidFill>
                      <a:prstDash val="solid"/>
                    </a:lnR>
                    <a:lnB w="9525">
                      <a:solidFill>
                        <a:srgbClr val="CBD5E1"/>
                      </a:solidFill>
                      <a:prstDash val="solid"/>
                    </a:lnB>
                    <a:solidFill>
                      <a:srgbClr val="FFFFFF"/>
                    </a:solidFill>
                  </a:tcPr>
                </a:tc>
              </a:tr>
              <a:tr h="695325">
                <a:tc>
                  <a:txBody>
                    <a:bodyPr>
                      <a:noAutofit/>
                    </a:bodyPr>
                    <a:lstStyle/>
                    <a:p>
                      <a:r>
                        <a:rPr sz="1800" b="0">
                          <a:solidFill>
                            <a:srgbClr val="172B4D"/>
                          </a:solidFill>
                          <a:latin typeface="Arial"/>
                          <a:ea typeface="Arial"/>
                          <a:cs typeface="Arial"/>
                        </a:rPr>
                        <a:t>Veredito original</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Inválido, sem alteração</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coleta</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4FFED2-3617-412E-9F52-D84E07D4D7F2}"/>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4D"/>
                </a:solidFill>
                <a:latin typeface="Arial"/>
                <a:ea typeface="Arial"/>
                <a:cs typeface="Arial"/>
              </a:defRPr>
            </a:defPPr>
            <a:lvl1pPr>
              <a:buNone/>
              <a:defRPr sz="1800" b="0">
                <a:solidFill>
                  <a:srgbClr val="172B4D"/>
                </a:solidFill>
                <a:latin typeface="Arial"/>
                <a:ea typeface="Arial"/>
                <a:cs typeface="Arial"/>
              </a:defRPr>
            </a:lvl1pPr>
            <a:lvl2pPr>
              <a:buNone/>
              <a:defRPr sz="1800" b="0">
                <a:solidFill>
                  <a:srgbClr val="172B4D"/>
                </a:solidFill>
                <a:latin typeface="Arial"/>
                <a:ea typeface="Arial"/>
                <a:cs typeface="Arial"/>
              </a:defRPr>
            </a:lvl2pPr>
            <a:lvl3pPr>
              <a:buNone/>
              <a:defRPr sz="1800" b="0">
                <a:solidFill>
                  <a:srgbClr val="172B4D"/>
                </a:solidFill>
                <a:latin typeface="Arial"/>
                <a:ea typeface="Arial"/>
                <a:cs typeface="Arial"/>
              </a:defRPr>
            </a:lvl3pPr>
            <a:lvl4pPr>
              <a:buNone/>
              <a:defRPr sz="1800" b="0">
                <a:solidFill>
                  <a:srgbClr val="172B4D"/>
                </a:solidFill>
                <a:latin typeface="Arial"/>
                <a:ea typeface="Arial"/>
                <a:cs typeface="Arial"/>
              </a:defRPr>
            </a:lvl4pPr>
            <a:lvl5pPr>
              <a:buNone/>
              <a:defRPr sz="1800" b="0">
                <a:solidFill>
                  <a:srgbClr val="172B4D"/>
                </a:solidFill>
                <a:latin typeface="Arial"/>
                <a:ea typeface="Arial"/>
                <a:cs typeface="Arial"/>
              </a:defRPr>
            </a:lvl5pPr>
            <a:lvl6pPr>
              <a:buNone/>
              <a:defRPr sz="1800" b="0">
                <a:solidFill>
                  <a:srgbClr val="172B4D"/>
                </a:solidFill>
                <a:latin typeface="Arial"/>
                <a:ea typeface="Arial"/>
                <a:cs typeface="Arial"/>
              </a:defRPr>
            </a:lvl6pPr>
            <a:lvl7pPr>
              <a:buNone/>
              <a:defRPr sz="1800" b="0">
                <a:solidFill>
                  <a:srgbClr val="172B4D"/>
                </a:solidFill>
                <a:latin typeface="Arial"/>
                <a:ea typeface="Arial"/>
                <a:cs typeface="Arial"/>
              </a:defRPr>
            </a:lvl7pPr>
            <a:lvl8pPr>
              <a:buNone/>
              <a:defRPr sz="1800" b="0">
                <a:solidFill>
                  <a:srgbClr val="172B4D"/>
                </a:solidFill>
                <a:latin typeface="Arial"/>
                <a:ea typeface="Arial"/>
                <a:cs typeface="Arial"/>
              </a:defRPr>
            </a:lvl8pPr>
            <a:lvl9pPr>
              <a:buNone/>
              <a:defRPr sz="1800" b="0">
                <a:solidFill>
                  <a:srgbClr val="172B4D"/>
                </a:solidFill>
                <a:latin typeface="Arial"/>
                <a:ea typeface="Arial"/>
                <a:cs typeface="Arial"/>
              </a:defRPr>
            </a:lvl9pPr>
          </a:lstStyle>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A parada do banco era planejada. A falta do horário de commit foi imprevista.</a:t>
            </a:r>
          </a:p>
          <a:p xmlns:a="http://schemas.openxmlformats.org/drawingml/2006/main">
            <a:pPr>
              <a:buNone/>
              <a:defRPr sz="1800" b="0">
                <a:solidFill>
                  <a:srgbClr val="172B4D"/>
                </a:solidFill>
                <a:latin typeface="Arial"/>
                <a:ea typeface="Arial"/>
                <a:cs typeface="Arial"/>
              </a:defRPr>
            </a:pPr>
            <a:r>
              <a:rPr sz="1800" b="0">
                <a:solidFill>
                  <a:srgbClr val="172B4D"/>
                </a:solidFill>
                <a:latin typeface="Arial"/>
                <a:ea typeface="Arial"/>
                <a:cs typeface="Arial"/>
              </a:rPr>
              <a:t>A1 após 37 tentativas, antes das 28 restantes. Sem estimar o horário ausente.</a:t>
            </a:r>
          </a:p>
        </p:txBody>
      </p:sp>
    </p:spTree>
    <p:extLst>
      <p:ext uri="{BB962C8B-B14F-4D97-AF65-F5344CB8AC3E}">
        <p14:creationId xmlns:p14="http://schemas.microsoft.com/office/powerpoint/2010/main" val="2143401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026E6-9592-4AF8-9AE0-4135DCE14039}"/>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Recuperação sustentada e limite do indicador</a:t>
            </a:r>
          </a:p>
        </p:txBody>
      </p:sp>
      <p:sp>
        <p:nvSpPr>
          <p:cNvPr id="2" name="">
            <a:extLst xmlns:a="http://schemas.openxmlformats.org/drawingml/2006/main">
              <a:ext uri="{FF2B5EF4-FFF2-40B4-BE49-F238E27FC236}">
                <a16:creationId xmlns:a16="http://schemas.microsoft.com/office/drawing/2014/main" id="{D5FA65EC-E740-4761-A331-C5FA96E8885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9</a:t>
            </a:r>
          </a:p>
        </p:txBody>
      </p:sp>
      <p:graphicFrame>
        <p:nvGraphicFramePr>
          <p:cNvPr id="8" name="">
            <a:extLst xmlns:a="http://schemas.openxmlformats.org/drawingml/2006/main">
              <a:ext uri="{FF2B5EF4-FFF2-40B4-BE49-F238E27FC236}">
                <a16:creationId xmlns:a16="http://schemas.microsoft.com/office/drawing/2014/main" id="{4D61F798-F136-44DE-8396-35CB43A68296}"/>
              </a:ext>
            </a:extLst>
          </p:cNvPr>
          <p:cNvGraphicFramePr/>
          <p:nvPr/>
        </p:nvGraphicFramePr>
        <p:xfrm>
          <a:off xmlns:a="http://schemas.openxmlformats.org/drawingml/2006/main" x="685800" y="1714500"/>
          <a:ext xmlns:a="http://schemas.openxmlformats.org/drawingml/2006/main" cx="10820400" cy="3143250"/>
        </p:xfrm>
        <a:graphic xmlns:a="http://schemas.openxmlformats.org/drawingml/2006/main">
          <a:graphicData uri="http://schemas.openxmlformats.org/drawingml/2006/table">
            <a:tbl>
              <a:tblPr/>
              <a:tblGrid>
                <a:gridCol w="4762500"/>
                <a:gridCol w="2190750"/>
                <a:gridCol w="3867150"/>
              </a:tblGrid>
              <a:tr h="785813">
                <a:tc>
                  <a:txBody>
                    <a:bodyPr>
                      <a:noAutofit/>
                    </a:bodyPr>
                    <a:lstStyle/>
                    <a:p>
                      <a:r>
                        <a:rPr sz="1800" b="1">
                          <a:solidFill>
                            <a:srgbClr val="FFFFFF"/>
                          </a:solidFill>
                          <a:latin typeface="Arial"/>
                          <a:ea typeface="Arial"/>
                          <a:cs typeface="Arial"/>
                        </a:rPr>
                        <a:t>Cenário</a:t>
                      </a:r>
                    </a:p>
                  </a:txBody>
                  <a:tcPr marL="91440" marR="91440" marT="45720" marB="45720">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Critério atingido</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c>
                  <a:txBody>
                    <a:bodyPr>
                      <a:noAutofit/>
                    </a:bodyPr>
                    <a:lstStyle/>
                    <a:p>
                      <a:r>
                        <a:rPr sz="1800" b="1">
                          <a:solidFill>
                            <a:srgbClr val="FFFFFF"/>
                          </a:solidFill>
                          <a:latin typeface="Arial"/>
                          <a:ea typeface="Arial"/>
                          <a:cs typeface="Arial"/>
                        </a:rPr>
                        <a:t>Confirmação após retomada</a:t>
                      </a:r>
                    </a:p>
                  </a:txBody>
                  <a:tcPr marL="91440" marR="91440" marT="45720" marB="45720">
                    <a:lnR w="9525">
                      <a:solidFill>
                        <a:srgbClr val="CBD5E1"/>
                      </a:solidFill>
                      <a:prstDash val="solid"/>
                    </a:lnR>
                    <a:lnT w="9525">
                      <a:solidFill>
                        <a:srgbClr val="CBD5E1"/>
                      </a:solidFill>
                      <a:prstDash val="solid"/>
                    </a:lnT>
                    <a:lnB w="9525">
                      <a:solidFill>
                        <a:srgbClr val="CBD5E1"/>
                      </a:solidFill>
                      <a:prstDash val="solid"/>
                    </a:lnB>
                    <a:solidFill>
                      <a:srgbClr val="172B4D"/>
                    </a:solidFill>
                  </a:tcPr>
                </a:tc>
              </a:tr>
              <a:tr h="785813">
                <a:tc>
                  <a:txBody>
                    <a:bodyPr>
                      <a:noAutofit/>
                    </a:bodyPr>
                    <a:lstStyle/>
                    <a:p>
                      <a:r>
                        <a:rPr sz="1800" b="0">
                          <a:solidFill>
                            <a:srgbClr val="172B4D"/>
                          </a:solidFill>
                          <a:latin typeface="Arial"/>
                          <a:ea typeface="Arial"/>
                          <a:cs typeface="Arial"/>
                        </a:rPr>
                        <a:t>Banco parado, 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38,47 s em média</a:t>
                      </a:r>
                    </a:p>
                  </a:txBody>
                  <a:tcPr marL="91440" marR="91440" marT="45720" marB="45720">
                    <a:lnR w="9525">
                      <a:solidFill>
                        <a:srgbClr val="CBD5E1"/>
                      </a:solidFill>
                      <a:prstDash val="solid"/>
                    </a:lnR>
                    <a:lnB w="9525">
                      <a:solidFill>
                        <a:srgbClr val="CBD5E1"/>
                      </a:solidFill>
                      <a:prstDash val="solid"/>
                    </a:lnB>
                    <a:solidFill>
                      <a:srgbClr val="FFFFFF"/>
                    </a:solidFill>
                  </a:tcPr>
                </a:tc>
              </a:tr>
              <a:tr h="785813">
                <a:tc>
                  <a:txBody>
                    <a:bodyPr>
                      <a:noAutofit/>
                    </a:bodyPr>
                    <a:lstStyle/>
                    <a:p>
                      <a:r>
                        <a:rPr sz="1800" b="0">
                          <a:solidFill>
                            <a:srgbClr val="172B4D"/>
                          </a:solidFill>
                          <a:latin typeface="Arial"/>
                          <a:ea typeface="Arial"/>
                          <a:cs typeface="Arial"/>
                        </a:rPr>
                        <a:t>Consumidor parado, assíncrona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5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41,63 s em média</a:t>
                      </a:r>
                    </a:p>
                  </a:txBody>
                  <a:tcPr marL="91440" marR="91440" marT="45720" marB="45720">
                    <a:lnR w="9525">
                      <a:solidFill>
                        <a:srgbClr val="CBD5E1"/>
                      </a:solidFill>
                      <a:prstDash val="solid"/>
                    </a:lnR>
                    <a:lnB w="9525">
                      <a:solidFill>
                        <a:srgbClr val="CBD5E1"/>
                      </a:solidFill>
                      <a:prstDash val="solid"/>
                    </a:lnB>
                    <a:solidFill>
                      <a:srgbClr val="FFFFFF"/>
                    </a:solidFill>
                  </a:tcPr>
                </a:tc>
              </a:tr>
              <a:tr h="785813">
                <a:tc>
                  <a:txBody>
                    <a:bodyPr>
                      <a:noAutofit/>
                    </a:bodyPr>
                    <a:lstStyle/>
                    <a:p>
                      <a:r>
                        <a:rPr sz="1800" b="0">
                          <a:solidFill>
                            <a:srgbClr val="172B4D"/>
                          </a:solidFill>
                          <a:latin typeface="Arial"/>
                          <a:ea typeface="Arial"/>
                          <a:cs typeface="Arial"/>
                        </a:rPr>
                        <a:t>Banco parado, assíncrona</a:t>
                      </a:r>
                    </a:p>
                  </a:txBody>
                  <a:tcPr marL="91440" marR="91440" marT="45720" marB="45720">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1 de 5</a:t>
                      </a:r>
                    </a:p>
                  </a:txBody>
                  <a:tcPr marL="91440" marR="91440" marT="45720" marB="45720">
                    <a:lnR w="9525">
                      <a:solidFill>
                        <a:srgbClr val="CBD5E1"/>
                      </a:solidFill>
                      <a:prstDash val="solid"/>
                    </a:lnR>
                    <a:lnB w="9525">
                      <a:solidFill>
                        <a:srgbClr val="CBD5E1"/>
                      </a:solidFill>
                      <a:prstDash val="solid"/>
                    </a:lnB>
                    <a:solidFill>
                      <a:srgbClr val="FFFFFF"/>
                    </a:solidFill>
                  </a:tcPr>
                </a:tc>
                <a:tc>
                  <a:txBody>
                    <a:bodyPr>
                      <a:noAutofit/>
                    </a:bodyPr>
                    <a:lstStyle/>
                    <a:p>
                      <a:r>
                        <a:rPr sz="1800" b="0">
                          <a:solidFill>
                            <a:srgbClr val="172B4D"/>
                          </a:solidFill>
                          <a:latin typeface="Arial"/>
                          <a:ea typeface="Arial"/>
                          <a:cs typeface="Arial"/>
                        </a:rPr>
                        <a:t>38,71 s no caso observado</a:t>
                      </a:r>
                    </a:p>
                  </a:txBody>
                  <a:tcPr marL="91440" marR="91440" marT="45720" marB="45720">
                    <a:lnR w="9525">
                      <a:solidFill>
                        <a:srgbClr val="CBD5E1"/>
                      </a:solidFill>
                      <a:prstDash val="solid"/>
                    </a:lnR>
                    <a:lnB w="9525">
                      <a:solidFill>
                        <a:srgbClr val="CBD5E1"/>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FFB4705-02DB-4295-8BF4-5A8BCC9767D0}"/>
              </a:ext>
            </a:extLst>
          </p:cNvPr>
          <p:cNvSpPr>
            <a:spLocks xmlns:a="http://schemas.openxmlformats.org/drawingml/2006/main" noGrp="1"/>
          </p:cNvSpPr>
          <p:nvPr/>
        </p:nvSpPr>
        <p:spPr>
          <a:xfrm xmlns:a="http://schemas.openxmlformats.org/drawingml/2006/main">
            <a:off x="685800" y="5143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4D"/>
                </a:solidFill>
                <a:latin typeface="Arial"/>
                <a:ea typeface="Arial"/>
                <a:cs typeface="Arial"/>
              </a:defRPr>
            </a:defPPr>
            <a:lvl1pPr>
              <a:buNone/>
              <a:defRPr sz="1725" b="0">
                <a:solidFill>
                  <a:srgbClr val="172B4D"/>
                </a:solidFill>
                <a:latin typeface="Arial"/>
                <a:ea typeface="Arial"/>
                <a:cs typeface="Arial"/>
              </a:defRPr>
            </a:lvl1pPr>
            <a:lvl2pPr>
              <a:buNone/>
              <a:defRPr sz="1725" b="0">
                <a:solidFill>
                  <a:srgbClr val="172B4D"/>
                </a:solidFill>
                <a:latin typeface="Arial"/>
                <a:ea typeface="Arial"/>
                <a:cs typeface="Arial"/>
              </a:defRPr>
            </a:lvl2pPr>
            <a:lvl3pPr>
              <a:buNone/>
              <a:defRPr sz="1725" b="0">
                <a:solidFill>
                  <a:srgbClr val="172B4D"/>
                </a:solidFill>
                <a:latin typeface="Arial"/>
                <a:ea typeface="Arial"/>
                <a:cs typeface="Arial"/>
              </a:defRPr>
            </a:lvl3pPr>
            <a:lvl4pPr>
              <a:buNone/>
              <a:defRPr sz="1725" b="0">
                <a:solidFill>
                  <a:srgbClr val="172B4D"/>
                </a:solidFill>
                <a:latin typeface="Arial"/>
                <a:ea typeface="Arial"/>
                <a:cs typeface="Arial"/>
              </a:defRPr>
            </a:lvl4pPr>
            <a:lvl5pPr>
              <a:buNone/>
              <a:defRPr sz="1725" b="0">
                <a:solidFill>
                  <a:srgbClr val="172B4D"/>
                </a:solidFill>
                <a:latin typeface="Arial"/>
                <a:ea typeface="Arial"/>
                <a:cs typeface="Arial"/>
              </a:defRPr>
            </a:lvl5pPr>
            <a:lvl6pPr>
              <a:buNone/>
              <a:defRPr sz="1725" b="0">
                <a:solidFill>
                  <a:srgbClr val="172B4D"/>
                </a:solidFill>
                <a:latin typeface="Arial"/>
                <a:ea typeface="Arial"/>
                <a:cs typeface="Arial"/>
              </a:defRPr>
            </a:lvl6pPr>
            <a:lvl7pPr>
              <a:buNone/>
              <a:defRPr sz="1725" b="0">
                <a:solidFill>
                  <a:srgbClr val="172B4D"/>
                </a:solidFill>
                <a:latin typeface="Arial"/>
                <a:ea typeface="Arial"/>
                <a:cs typeface="Arial"/>
              </a:defRPr>
            </a:lvl7pPr>
            <a:lvl8pPr>
              <a:buNone/>
              <a:defRPr sz="1725" b="0">
                <a:solidFill>
                  <a:srgbClr val="172B4D"/>
                </a:solidFill>
                <a:latin typeface="Arial"/>
                <a:ea typeface="Arial"/>
                <a:cs typeface="Arial"/>
              </a:defRPr>
            </a:lvl8pPr>
            <a:lvl9pPr>
              <a:buNone/>
              <a:defRPr sz="1725" b="0">
                <a:solidFill>
                  <a:srgbClr val="172B4D"/>
                </a:solidFill>
                <a:latin typeface="Arial"/>
                <a:ea typeface="Arial"/>
                <a:cs typeface="Arial"/>
              </a:defRPr>
            </a:lvl9pPr>
          </a:lstStyle>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Critério: três janelas completas de 10 s com entrada ativa.</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O cálculo conta DLQ como aceite sem commit. Três DLQ excedem o limite de dois.</a:t>
            </a:r>
          </a:p>
          <a:p xmlns:a="http://schemas.openxmlformats.org/drawingml/2006/main">
            <a:pPr>
              <a:buNone/>
              <a:defRPr sz="1725" b="0">
                <a:solidFill>
                  <a:srgbClr val="172B4D"/>
                </a:solidFill>
                <a:latin typeface="Arial"/>
                <a:ea typeface="Arial"/>
                <a:cs typeface="Arial"/>
              </a:defRPr>
            </a:pPr>
            <a:r>
              <a:rPr sz="1725" b="0">
                <a:solidFill>
                  <a:srgbClr val="172B4D"/>
                </a:solidFill>
                <a:latin typeface="Arial"/>
                <a:ea typeface="Arial"/>
                <a:cs typeface="Arial"/>
              </a:rPr>
              <a:t>O retorno do serviço e o indicador composto exigem interpretações distintas.</a:t>
            </a:r>
          </a:p>
        </p:txBody>
      </p:sp>
    </p:spTree>
    <p:extLst>
      <p:ext uri="{BB962C8B-B14F-4D97-AF65-F5344CB8AC3E}">
        <p14:creationId xmlns:p14="http://schemas.microsoft.com/office/powerpoint/2010/main" val="10732283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DB3ED4-436F-4CF7-897B-1A7C72068C81}"/>
              </a:ext>
            </a:extLst>
          </p:cNvPr>
          <p:cNvSpPr>
            <a:spLocks xmlns:a="http://schemas.openxmlformats.org/drawingml/2006/main" noGrp="1"/>
          </p:cNvSpPr>
          <p:nvPr/>
        </p:nvSpPr>
        <p:spPr>
          <a:xfrm xmlns:a="http://schemas.openxmlformats.org/drawingml/2006/main">
            <a:off x="666750" y="4953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72B4D"/>
                </a:solidFill>
                <a:latin typeface="Arial"/>
                <a:ea typeface="Arial"/>
                <a:cs typeface="Arial"/>
              </a:defRPr>
            </a:pPr>
            <a:r>
              <a:rPr sz="2850" b="1">
                <a:solidFill>
                  <a:srgbClr val="172B4D"/>
                </a:solidFill>
                <a:latin typeface="Arial"/>
                <a:ea typeface="Arial"/>
                <a:cs typeface="Arial"/>
              </a:rPr>
              <a:t>Conclusões e alcance das hipóteses</a:t>
            </a:r>
          </a:p>
        </p:txBody>
      </p:sp>
      <p:sp>
        <p:nvSpPr>
          <p:cNvPr id="2" name="">
            <a:extLst xmlns:a="http://schemas.openxmlformats.org/drawingml/2006/main">
              <a:ext uri="{FF2B5EF4-FFF2-40B4-BE49-F238E27FC236}">
                <a16:creationId xmlns:a16="http://schemas.microsoft.com/office/drawing/2014/main" id="{DACBAACC-A292-46BD-86EE-820DFAC157E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887B531F-6D56-4B04-9FE5-5AF7D8206205}"/>
              </a:ext>
            </a:extLst>
          </p:cNvPr>
          <p:cNvSpPr>
            <a:spLocks xmlns:a="http://schemas.openxmlformats.org/drawingml/2006/main" noGrp="1"/>
          </p:cNvSpPr>
          <p:nvPr/>
        </p:nvSpPr>
        <p:spPr>
          <a:xfrm xmlns:a="http://schemas.openxmlformats.org/drawingml/2006/main">
            <a:off x="685800" y="18573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Síncrona: menor CPU/memória e confirmação de gravação no sucesso.</a:t>
            </a:r>
          </a:p>
        </p:txBody>
      </p:sp>
      <p:sp>
        <p:nvSpPr>
          <p:cNvPr id="9" name="">
            <a:extLst xmlns:a="http://schemas.openxmlformats.org/drawingml/2006/main">
              <a:ext uri="{FF2B5EF4-FFF2-40B4-BE49-F238E27FC236}">
                <a16:creationId xmlns:a16="http://schemas.microsoft.com/office/drawing/2014/main" id="{F62A545F-C7BD-419A-9A22-05488A0345F4}"/>
              </a:ext>
            </a:extLst>
          </p:cNvPr>
          <p:cNvSpPr>
            <a:spLocks xmlns:a="http://schemas.openxmlformats.org/drawingml/2006/main" noGrp="1"/>
          </p:cNvSpPr>
          <p:nvPr/>
        </p:nvSpPr>
        <p:spPr>
          <a:xfrm xmlns:a="http://schemas.openxmlformats.org/drawingml/2006/main">
            <a:off x="685800" y="2838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Assíncrona: menor latência de aceite e retenção na parada do consumidor.</a:t>
            </a:r>
          </a:p>
        </p:txBody>
      </p:sp>
      <p:sp>
        <p:nvSpPr>
          <p:cNvPr id="10" name="">
            <a:extLst xmlns:a="http://schemas.openxmlformats.org/drawingml/2006/main">
              <a:ext uri="{FF2B5EF4-FFF2-40B4-BE49-F238E27FC236}">
                <a16:creationId xmlns:a16="http://schemas.microsoft.com/office/drawing/2014/main" id="{7EE4B5E3-F6E1-46D8-B7F7-6AC3D391AC7A}"/>
              </a:ext>
            </a:extLst>
          </p:cNvPr>
          <p:cNvSpPr>
            <a:spLocks xmlns:a="http://schemas.openxmlformats.org/drawingml/2006/main" noGrp="1"/>
          </p:cNvSpPr>
          <p:nvPr/>
        </p:nvSpPr>
        <p:spPr>
          <a:xfrm xmlns:a="http://schemas.openxmlformats.org/drawingml/2006/main">
            <a:off x="685800" y="3819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Contrapartida: mais recursos e maior intervalo até a persistência.</a:t>
            </a:r>
          </a:p>
        </p:txBody>
      </p:sp>
      <p:sp>
        <p:nvSpPr>
          <p:cNvPr id="11" name="">
            <a:extLst xmlns:a="http://schemas.openxmlformats.org/drawingml/2006/main">
              <a:ext uri="{FF2B5EF4-FFF2-40B4-BE49-F238E27FC236}">
                <a16:creationId xmlns:a16="http://schemas.microsoft.com/office/drawing/2014/main" id="{D53E3CC9-D122-4D44-A397-73FDE7C16EB4}"/>
              </a:ext>
            </a:extLst>
          </p:cNvPr>
          <p:cNvSpPr>
            <a:spLocks xmlns:a="http://schemas.openxmlformats.org/drawingml/2006/main" noGrp="1"/>
          </p:cNvSpPr>
          <p:nvPr/>
        </p:nvSpPr>
        <p:spPr>
          <a:xfrm xmlns:a="http://schemas.openxmlformats.org/drawingml/2006/main">
            <a:off x="685800" y="4800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B4D"/>
                </a:solidFill>
                <a:latin typeface="Arial"/>
                <a:ea typeface="Arial"/>
                <a:cs typeface="Arial"/>
              </a:defRPr>
            </a:defPPr>
            <a:lvl1pPr>
              <a:buNone/>
              <a:defRPr sz="2175" b="0">
                <a:solidFill>
                  <a:srgbClr val="172B4D"/>
                </a:solidFill>
                <a:latin typeface="Arial"/>
                <a:ea typeface="Arial"/>
                <a:cs typeface="Arial"/>
              </a:defRPr>
            </a:lvl1pPr>
            <a:lvl2pPr>
              <a:buNone/>
              <a:defRPr sz="2175" b="0">
                <a:solidFill>
                  <a:srgbClr val="172B4D"/>
                </a:solidFill>
                <a:latin typeface="Arial"/>
                <a:ea typeface="Arial"/>
                <a:cs typeface="Arial"/>
              </a:defRPr>
            </a:lvl2pPr>
            <a:lvl3pPr>
              <a:buNone/>
              <a:defRPr sz="2175" b="0">
                <a:solidFill>
                  <a:srgbClr val="172B4D"/>
                </a:solidFill>
                <a:latin typeface="Arial"/>
                <a:ea typeface="Arial"/>
                <a:cs typeface="Arial"/>
              </a:defRPr>
            </a:lvl3pPr>
            <a:lvl4pPr>
              <a:buNone/>
              <a:defRPr sz="2175" b="0">
                <a:solidFill>
                  <a:srgbClr val="172B4D"/>
                </a:solidFill>
                <a:latin typeface="Arial"/>
                <a:ea typeface="Arial"/>
                <a:cs typeface="Arial"/>
              </a:defRPr>
            </a:lvl4pPr>
            <a:lvl5pPr>
              <a:buNone/>
              <a:defRPr sz="2175" b="0">
                <a:solidFill>
                  <a:srgbClr val="172B4D"/>
                </a:solidFill>
                <a:latin typeface="Arial"/>
                <a:ea typeface="Arial"/>
                <a:cs typeface="Arial"/>
              </a:defRPr>
            </a:lvl5pPr>
            <a:lvl6pPr>
              <a:buNone/>
              <a:defRPr sz="2175" b="0">
                <a:solidFill>
                  <a:srgbClr val="172B4D"/>
                </a:solidFill>
                <a:latin typeface="Arial"/>
                <a:ea typeface="Arial"/>
                <a:cs typeface="Arial"/>
              </a:defRPr>
            </a:lvl6pPr>
            <a:lvl7pPr>
              <a:buNone/>
              <a:defRPr sz="2175" b="0">
                <a:solidFill>
                  <a:srgbClr val="172B4D"/>
                </a:solidFill>
                <a:latin typeface="Arial"/>
                <a:ea typeface="Arial"/>
                <a:cs typeface="Arial"/>
              </a:defRPr>
            </a:lvl7pPr>
            <a:lvl8pPr>
              <a:buNone/>
              <a:defRPr sz="2175" b="0">
                <a:solidFill>
                  <a:srgbClr val="172B4D"/>
                </a:solidFill>
                <a:latin typeface="Arial"/>
                <a:ea typeface="Arial"/>
                <a:cs typeface="Arial"/>
              </a:defRPr>
            </a:lvl8pPr>
            <a:lvl9pPr>
              <a:buNone/>
              <a:defRPr sz="2175" b="0">
                <a:solidFill>
                  <a:srgbClr val="172B4D"/>
                </a:solidFill>
                <a:latin typeface="Arial"/>
                <a:ea typeface="Arial"/>
                <a:cs typeface="Arial"/>
              </a:defRPr>
            </a:lvl9pPr>
          </a:lstStyle>
          <a:p xmlns:a="http://schemas.openxmlformats.org/drawingml/2006/main">
            <a:pPr>
              <a:buNone/>
              <a:defRPr sz="2175" b="0">
                <a:solidFill>
                  <a:srgbClr val="172B4D"/>
                </a:solidFill>
                <a:latin typeface="Arial"/>
                <a:ea typeface="Arial"/>
                <a:cs typeface="Arial"/>
              </a:defRPr>
            </a:pPr>
            <a:r>
              <a:rPr sz="2175" b="0">
                <a:solidFill>
                  <a:srgbClr val="172B4D"/>
                </a:solidFill>
                <a:latin typeface="Arial"/>
                <a:ea typeface="Arial"/>
                <a:cs typeface="Arial"/>
              </a:rPr>
              <a:t>Custo financeiro e manutenção permanecem inconclusivos.</a:t>
            </a:r>
          </a:p>
        </p:txBody>
      </p:sp>
      <p:sp>
        <p:nvSpPr>
          <p:cNvPr id="12" name="">
            <a:extLst xmlns:a="http://schemas.openxmlformats.org/drawingml/2006/main">
              <a:ext uri="{FF2B5EF4-FFF2-40B4-BE49-F238E27FC236}">
                <a16:creationId xmlns:a16="http://schemas.microsoft.com/office/drawing/2014/main" id="{4C8F87F9-3EF7-42B9-B39C-583418F4B71A}"/>
              </a:ext>
            </a:extLst>
          </p:cNvPr>
          <p:cNvSpPr>
            <a:spLocks xmlns:a="http://schemas.openxmlformats.org/drawingml/2006/main" noGrp="1"/>
          </p:cNvSpPr>
          <p:nvPr/>
        </p:nvSpPr>
        <p:spPr>
          <a:xfrm xmlns:a="http://schemas.openxmlformats.org/drawingml/2006/main">
            <a:off x="685800" y="58578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75569"/>
                </a:solidFill>
                <a:latin typeface="Arial"/>
                <a:ea typeface="Arial"/>
                <a:cs typeface="Arial"/>
              </a:defRPr>
            </a:defPPr>
            <a:lvl1pPr>
              <a:buNone/>
              <a:defRPr sz="1650" b="0">
                <a:solidFill>
                  <a:srgbClr val="475569"/>
                </a:solidFill>
                <a:latin typeface="Arial"/>
                <a:ea typeface="Arial"/>
                <a:cs typeface="Arial"/>
              </a:defRPr>
            </a:lvl1pPr>
            <a:lvl2pPr>
              <a:buNone/>
              <a:defRPr sz="1650" b="0">
                <a:solidFill>
                  <a:srgbClr val="475569"/>
                </a:solidFill>
                <a:latin typeface="Arial"/>
                <a:ea typeface="Arial"/>
                <a:cs typeface="Arial"/>
              </a:defRPr>
            </a:lvl2pPr>
            <a:lvl3pPr>
              <a:buNone/>
              <a:defRPr sz="1650" b="0">
                <a:solidFill>
                  <a:srgbClr val="475569"/>
                </a:solidFill>
                <a:latin typeface="Arial"/>
                <a:ea typeface="Arial"/>
                <a:cs typeface="Arial"/>
              </a:defRPr>
            </a:lvl3pPr>
            <a:lvl4pPr>
              <a:buNone/>
              <a:defRPr sz="1650" b="0">
                <a:solidFill>
                  <a:srgbClr val="475569"/>
                </a:solidFill>
                <a:latin typeface="Arial"/>
                <a:ea typeface="Arial"/>
                <a:cs typeface="Arial"/>
              </a:defRPr>
            </a:lvl4pPr>
            <a:lvl5pPr>
              <a:buNone/>
              <a:defRPr sz="1650" b="0">
                <a:solidFill>
                  <a:srgbClr val="475569"/>
                </a:solidFill>
                <a:latin typeface="Arial"/>
                <a:ea typeface="Arial"/>
                <a:cs typeface="Arial"/>
              </a:defRPr>
            </a:lvl5pPr>
            <a:lvl6pPr>
              <a:buNone/>
              <a:defRPr sz="1650" b="0">
                <a:solidFill>
                  <a:srgbClr val="475569"/>
                </a:solidFill>
                <a:latin typeface="Arial"/>
                <a:ea typeface="Arial"/>
                <a:cs typeface="Arial"/>
              </a:defRPr>
            </a:lvl6pPr>
            <a:lvl7pPr>
              <a:buNone/>
              <a:defRPr sz="1650" b="0">
                <a:solidFill>
                  <a:srgbClr val="475569"/>
                </a:solidFill>
                <a:latin typeface="Arial"/>
                <a:ea typeface="Arial"/>
                <a:cs typeface="Arial"/>
              </a:defRPr>
            </a:lvl7pPr>
            <a:lvl8pPr>
              <a:buNone/>
              <a:defRPr sz="1650" b="0">
                <a:solidFill>
                  <a:srgbClr val="475569"/>
                </a:solidFill>
                <a:latin typeface="Arial"/>
                <a:ea typeface="Arial"/>
                <a:cs typeface="Arial"/>
              </a:defRPr>
            </a:lvl8pPr>
            <a:lvl9pPr>
              <a:buNone/>
              <a:defRPr sz="1650" b="0">
                <a:solidFill>
                  <a:srgbClr val="475569"/>
                </a:solidFill>
                <a:latin typeface="Arial"/>
                <a:ea typeface="Arial"/>
                <a:cs typeface="Arial"/>
              </a:defRPr>
            </a:lvl9pPr>
          </a:lstStyle>
          <a:p xmlns:a="http://schemas.openxmlformats.org/drawingml/2006/main">
            <a:pPr>
              <a:buNone/>
              <a:defRPr sz="1650" b="0">
                <a:solidFill>
                  <a:srgbClr val="475569"/>
                </a:solidFill>
                <a:latin typeface="Arial"/>
                <a:ea typeface="Arial"/>
                <a:cs typeface="Arial"/>
              </a:defRPr>
            </a:pPr>
            <a:r>
              <a:rPr sz="1650" b="0">
                <a:solidFill>
                  <a:srgbClr val="475569"/>
                </a:solidFill>
                <a:latin typeface="Arial"/>
                <a:ea typeface="Arial"/>
                <a:cs typeface="Arial"/>
              </a:rPr>
              <a:t>Cinco tentativas, um computador e um broker. Sem superioridade geral.</a:t>
            </a:r>
          </a:p>
        </p:txBody>
      </p:sp>
    </p:spTree>
    <p:extLst>
      <p:ext uri="{BB962C8B-B14F-4D97-AF65-F5344CB8AC3E}">
        <p14:creationId xmlns:p14="http://schemas.microsoft.com/office/powerpoint/2010/main" val="1674181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2026-10-27T21:45:45.3450000Z</dcterms:created>
  <dcterms:modified xsi:type="dcterms:W3CDTF">2026-10-27T21:45:45.3450000Z</dcterms:modified>
</coreProperties>
</file>