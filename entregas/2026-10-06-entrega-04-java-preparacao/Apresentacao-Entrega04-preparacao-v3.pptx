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498d592b3e4c0c" /><Relationship Type="http://schemas.openxmlformats.org/officeDocument/2006/relationships/extended-properties" Target="/docProps/app.xml" Id="Rb79f4f391331447b" /><Relationship Type="http://schemas.openxmlformats.org/officeDocument/2006/relationships/officeDocument" Target="/ppt/presentation.xml" Id="Re9b41f86cee341bc" /></Relationships>
</file>

<file path=ppt/presentation.xml><?xml version="1.0" encoding="utf-8"?>
<p:presentation xmlns:p="http://schemas.openxmlformats.org/presentationml/2006/main">
  <p:sldMasterIdLst>
    <p:sldMasterId xmlns:r="http://schemas.openxmlformats.org/officeDocument/2006/relationships" id="2147483648" r:id="R727846148bad45e7"/>
  </p:sldMasterIdLst>
  <p:notesMasterIdLst>
    <p:notesMasterId xmlns:r="http://schemas.openxmlformats.org/officeDocument/2006/relationships" r:id="Rfb654aa4383e4e8d"/>
  </p:notesMasterIdLst>
  <p:sldIdLst>
    <p:sldId xmlns:r="http://schemas.openxmlformats.org/officeDocument/2006/relationships" id="256" r:id="R651662e2f38c4a76"/>
    <p:sldId xmlns:r="http://schemas.openxmlformats.org/officeDocument/2006/relationships" id="257" r:id="R98b67b1bbd1e417f"/>
    <p:sldId xmlns:r="http://schemas.openxmlformats.org/officeDocument/2006/relationships" id="258" r:id="R526435267efd4ede"/>
    <p:sldId xmlns:r="http://schemas.openxmlformats.org/officeDocument/2006/relationships" id="259" r:id="Rc81377aaaf204152"/>
    <p:sldId xmlns:r="http://schemas.openxmlformats.org/officeDocument/2006/relationships" id="260" r:id="Rfbb4fb3ff831419a"/>
    <p:sldId xmlns:r="http://schemas.openxmlformats.org/officeDocument/2006/relationships" id="261" r:id="Rcb3b781692d04a73"/>
    <p:sldId xmlns:r="http://schemas.openxmlformats.org/officeDocument/2006/relationships" id="262" r:id="Re4f821097f8d4300"/>
    <p:sldId xmlns:r="http://schemas.openxmlformats.org/officeDocument/2006/relationships" id="263" r:id="Rb8447eb1e3ff4827"/>
    <p:sldId xmlns:r="http://schemas.openxmlformats.org/officeDocument/2006/relationships" id="264" r:id="Ra0d57e791af24f80"/>
    <p:sldId xmlns:r="http://schemas.openxmlformats.org/officeDocument/2006/relationships" id="265" r:id="R49f5286118ce4d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77d8ee65664573" /><Relationship Type="http://schemas.openxmlformats.org/officeDocument/2006/relationships/slideMaster" Target="/ppt/slideMasters/slideMaster1.xml" Id="R727846148bad45e7" /><Relationship Type="http://schemas.openxmlformats.org/officeDocument/2006/relationships/notesMaster" Target="/ppt/notesMasters/notesMaster1.xml" Id="Rfb654aa4383e4e8d" /><Relationship Type="http://schemas.openxmlformats.org/officeDocument/2006/relationships/presProps" Target="/ppt/presProps.xml" Id="R453a830f6bdb44da" /><Relationship Type="http://schemas.openxmlformats.org/officeDocument/2006/relationships/tableStyles" Target="/ppt/tableStyles.xml" Id="Rd1f4d3fdd64c4a4f" /><Relationship Type="http://schemas.openxmlformats.org/officeDocument/2006/relationships/slide" Target="/ppt/slides/slide1.xml" Id="R651662e2f38c4a76" /><Relationship Type="http://schemas.openxmlformats.org/officeDocument/2006/relationships/slide" Target="/ppt/slides/slide2.xml" Id="R98b67b1bbd1e417f" /><Relationship Type="http://schemas.openxmlformats.org/officeDocument/2006/relationships/slide" Target="/ppt/slides/slide3.xml" Id="R526435267efd4ede" /><Relationship Type="http://schemas.openxmlformats.org/officeDocument/2006/relationships/slide" Target="/ppt/slides/slide4.xml" Id="Rc81377aaaf204152" /><Relationship Type="http://schemas.openxmlformats.org/officeDocument/2006/relationships/slide" Target="/ppt/slides/slide5.xml" Id="Rfbb4fb3ff831419a" /><Relationship Type="http://schemas.openxmlformats.org/officeDocument/2006/relationships/slide" Target="/ppt/slides/slide6.xml" Id="Rcb3b781692d04a73" /><Relationship Type="http://schemas.openxmlformats.org/officeDocument/2006/relationships/slide" Target="/ppt/slides/slide7.xml" Id="Re4f821097f8d4300" /><Relationship Type="http://schemas.openxmlformats.org/officeDocument/2006/relationships/slide" Target="/ppt/slides/slide8.xml" Id="Rb8447eb1e3ff4827" /><Relationship Type="http://schemas.openxmlformats.org/officeDocument/2006/relationships/slide" Target="/ppt/slides/slide9.xml" Id="Ra0d57e791af24f80" /><Relationship Type="http://schemas.openxmlformats.org/officeDocument/2006/relationships/slide" Target="/ppt/slides/slide10.xml" Id="R49f5286118ce4d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ade63c36b442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5698b084ca4042" /><Relationship Type="http://schemas.openxmlformats.org/officeDocument/2006/relationships/notesMaster" Target="/ppt/notesMasters/notesMaster1.xml" Id="Rdfd712bb320948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069e7393cc4f1e" /><Relationship Type="http://schemas.openxmlformats.org/officeDocument/2006/relationships/notesMaster" Target="/ppt/notesMasters/notesMaster1.xml" Id="R04dedad464394f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af9af869d7403f" /><Relationship Type="http://schemas.openxmlformats.org/officeDocument/2006/relationships/notesMaster" Target="/ppt/notesMasters/notesMaster1.xml" Id="Rcd405e9655f145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0afd6d371849c7" /><Relationship Type="http://schemas.openxmlformats.org/officeDocument/2006/relationships/notesMaster" Target="/ppt/notesMasters/notesMaster1.xml" Id="R58bc1d32c02c4e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906c6a69524d69" /><Relationship Type="http://schemas.openxmlformats.org/officeDocument/2006/relationships/notesMaster" Target="/ppt/notesMasters/notesMaster1.xml" Id="R4cb530c5e48c4f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0df96fcbba411b" /><Relationship Type="http://schemas.openxmlformats.org/officeDocument/2006/relationships/notesMaster" Target="/ppt/notesMasters/notesMaster1.xml" Id="Rce1719c0e76148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ad1903fbde4ff0" /><Relationship Type="http://schemas.openxmlformats.org/officeDocument/2006/relationships/notesMaster" Target="/ppt/notesMasters/notesMaster1.xml" Id="R30bd72b066a644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a17323a4bf46fa" /><Relationship Type="http://schemas.openxmlformats.org/officeDocument/2006/relationships/notesMaster" Target="/ppt/notesMasters/notesMaster1.xml" Id="R95f99d453f8742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e66c1e725d4fe0" /><Relationship Type="http://schemas.openxmlformats.org/officeDocument/2006/relationships/notesMaster" Target="/ppt/notesMasters/notesMaster1.xml" Id="R48a213d892cd4d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35e2c5a33a404a" /><Relationship Type="http://schemas.openxmlformats.org/officeDocument/2006/relationships/notesMaster" Target="/ppt/notesMasters/notesMaster1.xml" Id="Rdb89df305dc548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Hoje eu vou mostrar a passagem do desenvolvimento para a etapa de experimentação. As duas versões do sistema já existem em Java, mas ter o código funcionando não é a mesma coisa que ter a comparação científica concluída. Então a apresentação separa o que foi verificado do que ainda precisa ser medido com repetições. A ideia é deixar claro como vamos conseguir responder à pergunta do trabalho, sem escolher de antemão uma arquitetura vencedora. Esta é uma versão de preparação da Entrega 04, não uma apresentação de resultados definitivos.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pergunta é sobre os trade-offs, ou seja, o que a gente ganha e o que precisa aceitar em troca. Nos dois casos o destino dos registros é o mesmo PostgreSQL. O que muda é o caminho até ele. Eu não quero comparar um sistema simples com outro cheio de regras diferentes, porque isso misturaria as causas dos resultados. Por isso o contrato, o processamento e a persistência são compartilhados. Também não vou dizer que REST ou Kafka são melhores em geral. A resposta precisa ficar limitada ao computador, às configurações e às cargas realmente testadas.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 síncrona, a API recebe o registro, faz a validação e tenta gravar no banco antes de responder. Então o sucesso vem depois da transação. Na assíncrona, a API publica no Kafka e responde quando recebe a confirmação da publicação. O consumidor faz a gravação em outra etapa. Esse detalhe é central: se eu olhar só o tempo do HTTP, posso achar que a assíncrona resolveu tudo mais rápido, mas talvez o registro ainda esteja esperando para ser salvo. Para fazer uma comparação justa, os dois tempos precisam aparecer separados.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Eu examinei a documentação das duas ferramentas. O JMeter é uma alternativa válida, inclusive possui um grupo de execução de modelo aberto. Então não seria correto falar que só o k6 consegue controlar chegadas. A escolha aqui foi pela integração: o script do k6 já gera os identificadores, separa as fases e exporta as tags que o analisador Java usa. Isso facilita revisar e repetir os testes pelo Git e pelo Docker. Eu não medi qual gerador é mais rápido. Fontes: https://jmeter.apache.org/usermanual/best-practices.html ; https://jmeter.apache.org/usermanual/component_reference.html#Open_Model_Thread_Group ; https://grafana.com/docs/k6/latest/using-k6/scenarios/executors/constant-arrival-rate/ ; https://grafana.com/docs/k6/latest/results-output/real-time/json/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olhar velocidade, a gente conferiu se as duas versões fazem o mesmo trabalho. Foram enviados cinquenta registros com conteúdo determinístico a cada uma. Isso significa que o identificador e os dados não dependem do momento do envio ou da versão executada. A comparação confirmou os mesmos campos, payloads e hashes. Só o instante de inserção ficou de fora, porque as gravações aconteceram em horários diferentes. O reenvio igual não criou uma segunda linha. Já o conteúdo divergente recebeu 409 na síncrona e foi encontrado na DLQ da assíncrona depois do aceite 202. Esse teste passou para o conjunto examinado, mas não prova todos os casos possíveis nem desempenho. Fonte: comparação das execuções e71d7147-04f8-41bc-b44c-30b6857b41cb e 6cdf03fd-1d50-45b3-b77e-1afd41691e95, catálogo de evidências.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piloto inicial conferiu a instrumentação, com vinte e um eventos síncronos e vinte assíncronos conciliados. Depois houve uma validação curta com o banco parado nas duas versões. Na síncrona, foram observados noventa e um envios, trinta e nove sucessos e cinquenta e dois retornos 503. Na assíncrona, os noventa envios receberam 202, mas um ficou na DLQ ao esgotar as tentativas; oitenta e nove foram salvos. A mensagem não desapareceu, só que também não virou registro no banco. Essa observação impede prometer gravação automática de tudo depois da recuperação. Não é uma estimativa geral de taxas: houve uma execução curta por variante e a carga efetiva diferiu em um evento. Fontes: relatório do piloto e execuções f53dad57-5b76-425a-8bad-44add2111a9f e a5f30182-e7de-47d1-a13a-1a6c1047e6f4 no catálogo.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analisador mantém três intervalos diferentes. O primeiro é o tempo HTTP que o próprio k6 fornece. O segundo começa no marcador de envio e termina quando o código do cliente conferiu o retorno. E o terceiro termina no marco emitido depois que a transação voltou. Esse último não é o campo persisted_at, porque aquele campo é preenchido durante o INSERT. Também calculamos registros efetivamente confirmados dentro da janela divididos pela duração da janela. Se um registro ficou pronto depois, na drenagem, ele não aumenta artificialmente o throughput da medição anterior.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carga baixa é o menor nível da carga crescente; a mesma execução pode atender aos dois objetivos, sem contar como duas repetições. Depois vêm os demais níveis e uma rajada. Para a falha comparável, o banco é interrompido nas duas versões. Existe ainda um teste específico da assíncrona com o consumidor parado: ali o Kafka pode acumular os eventos enquanto o banco continua disponível. Isso é diferente de deixar o consumidor tentando gravar em um banco parado, pois ele pode esgotar tentativas e mandar mensagens para a DLQ. Cada condição precisa de dez repetições, com a ordem registrada.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execução ganha uma pasta própria e um manifesto com parâmetros, commit, imagens e limites. O ambiente experimental tem outro nome, outra rede e outros volumes, para não apagar os dados da aplicação que usamos pelo Swagger. Os dados brutos do k6 são preservados comprimidos, junto com os logs, as exportações do banco, do tópico e da DLQ. Os checksums ajudam a perceber alterações posteriores, mas não são uma assinatura que prova autenticidade. Também precisamos guardar as tentativas inválidas com o motivo. Resultado ruim para a hipótese não é motivo para descartar um teste.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próximo ponto é confirmar a carga de referência e congelar os parâmetros antes da campanha. Depois precisamos completar as repetições, comparar os resultados por execução e só então responder às hipóteses. Não adianta ter milhares de eventos em um único ensaio e tratar isso como milhares de experimentos independentes. Também temos limitações: tudo roda em um computador, com dados sintéticos, um broker e uma partição. Então as recomendações precisam caber nesse recorte. O capítulo seis vai usar somente os resultados apresentados antes, sem trazer novos números ou escolher um vencedor porque era o esperado.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90bc616ed745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fcffc800914618" /><Relationship Type="http://schemas.openxmlformats.org/officeDocument/2006/relationships/slideLayout" Target="/ppt/slideLayouts/slideLayout1.xml" Id="R86bd3eead6694c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bd3eead6694c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4841b3afd94005" /><Relationship Type="http://schemas.openxmlformats.org/officeDocument/2006/relationships/notesSlide" Target="/ppt/notesSlides/notesSlide1.xml" Id="Rac50997243f040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b6b019233e42b9" /><Relationship Type="http://schemas.openxmlformats.org/officeDocument/2006/relationships/notesSlide" Target="/ppt/notesSlides/notesSlide2.xml" Id="Rf7e64ae401884e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01d23912fb41d2" /><Relationship Type="http://schemas.openxmlformats.org/officeDocument/2006/relationships/notesSlide" Target="/ppt/notesSlides/notesSlide3.xml" Id="R0d7d04dd9a6548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ab8914d6184e50" /><Relationship Type="http://schemas.openxmlformats.org/officeDocument/2006/relationships/notesSlide" Target="/ppt/notesSlides/notesSlide4.xml" Id="R157fa5b2abfe49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3b46ea874840dc" /><Relationship Type="http://schemas.openxmlformats.org/officeDocument/2006/relationships/notesSlide" Target="/ppt/notesSlides/notesSlide5.xml" Id="Rb8982278557e42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62a62317d0417c" /><Relationship Type="http://schemas.openxmlformats.org/officeDocument/2006/relationships/notesSlide" Target="/ppt/notesSlides/notesSlide6.xml" Id="R039eacaa12654e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9c248bd1d948af" /><Relationship Type="http://schemas.openxmlformats.org/officeDocument/2006/relationships/notesSlide" Target="/ppt/notesSlides/notesSlide7.xml" Id="R85cf7e056d2740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b66cefbd154a29" /><Relationship Type="http://schemas.openxmlformats.org/officeDocument/2006/relationships/notesSlide" Target="/ppt/notesSlides/notesSlide8.xml" Id="R8df6ae1d4e1d40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f7b1c0604f4360" /><Relationship Type="http://schemas.openxmlformats.org/officeDocument/2006/relationships/notesSlide" Target="/ppt/notesSlides/notesSlide9.xml" Id="Ref9860c3ede04b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3abc17d770449ee" /><Relationship Type="http://schemas.openxmlformats.org/officeDocument/2006/relationships/notesSlide" Target="/ppt/notesSlides/notesSlide10.xml" Id="Ra23a91dd6355462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40BB8F-77D8-4CC2-94B6-BDB02A09A1DC}"/>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Comunicação síncrona via REST e assíncrona orientada a eventos</a:t>
            </a:r>
          </a:p>
        </p:txBody>
      </p:sp>
      <p:sp>
        <p:nvSpPr>
          <p:cNvPr id="2" name="">
            <a:extLst xmlns:a="http://schemas.openxmlformats.org/drawingml/2006/main">
              <a:ext uri="{FF2B5EF4-FFF2-40B4-BE49-F238E27FC236}">
                <a16:creationId xmlns:a16="http://schemas.microsoft.com/office/drawing/2014/main" id="{1F8F37C6-145A-4AB7-8325-7C1042574E99}"/>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4E7CF6C8-43D8-4A51-A57A-F11D7D6DDE2B}"/>
              </a:ext>
            </a:extLst>
          </p:cNvPr>
          <p:cNvSpPr>
            <a:spLocks xmlns:a="http://schemas.openxmlformats.org/drawingml/2006/main" noGrp="1"/>
          </p:cNvSpPr>
          <p:nvPr/>
        </p:nvSpPr>
        <p:spPr>
          <a:xfrm xmlns:a="http://schemas.openxmlformats.org/drawingml/2006/main">
            <a:off x="685800" y="2381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B4D"/>
                </a:solidFill>
                <a:latin typeface="Arial"/>
                <a:ea typeface="Arial"/>
                <a:cs typeface="Arial"/>
              </a:defRPr>
            </a:pPr>
            <a:r>
              <a:rPr sz="2550" b="0">
                <a:solidFill>
                  <a:srgbClr val="172B4D"/>
                </a:solidFill>
                <a:latin typeface="Arial"/>
                <a:ea typeface="Arial"/>
                <a:cs typeface="Arial"/>
              </a:rPr>
              <a:t>Análise experimental no processamento de registros</a:t>
            </a:r>
          </a:p>
        </p:txBody>
      </p:sp>
      <p:sp>
        <p:nvSpPr>
          <p:cNvPr id="4" name="">
            <a:extLst xmlns:a="http://schemas.openxmlformats.org/drawingml/2006/main">
              <a:ext uri="{FF2B5EF4-FFF2-40B4-BE49-F238E27FC236}">
                <a16:creationId xmlns:a16="http://schemas.microsoft.com/office/drawing/2014/main" id="{8DE5058F-1EF4-46F9-9A2A-D7EF9080A14C}"/>
              </a:ext>
            </a:extLst>
          </p:cNvPr>
          <p:cNvSpPr>
            <a:spLocks xmlns:a="http://schemas.openxmlformats.org/drawingml/2006/main" noGrp="1"/>
          </p:cNvSpPr>
          <p:nvPr/>
        </p:nvSpPr>
        <p:spPr>
          <a:xfrm xmlns:a="http://schemas.openxmlformats.org/drawingml/2006/main">
            <a:off x="685800" y="40957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B4D"/>
                </a:solidFill>
                <a:latin typeface="Arial"/>
                <a:ea typeface="Arial"/>
                <a:cs typeface="Arial"/>
              </a:defRPr>
            </a:pPr>
            <a:r>
              <a:rPr sz="1875" b="0">
                <a:solidFill>
                  <a:srgbClr val="172B4D"/>
                </a:solidFill>
                <a:latin typeface="Arial"/>
                <a:ea typeface="Arial"/>
                <a:cs typeface="Arial"/>
              </a:rPr>
              <a:t>Ilan Wendling Thoele</a:t>
            </a:r>
          </a:p>
          <a:p xmlns:a="http://schemas.openxmlformats.org/drawingml/2006/main">
            <a:pPr>
              <a:defRPr sz="1875" b="0">
                <a:solidFill>
                  <a:srgbClr val="172B4D"/>
                </a:solidFill>
                <a:latin typeface="Arial"/>
                <a:ea typeface="Arial"/>
                <a:cs typeface="Arial"/>
              </a:defRPr>
            </a:pPr>
            <a:r>
              <a:rPr sz="1875" b="0">
                <a:solidFill>
                  <a:srgbClr val="172B4D"/>
                </a:solidFill>
                <a:latin typeface="Arial"/>
                <a:ea typeface="Arial"/>
                <a:cs typeface="Arial"/>
              </a:rPr>
              <a:t>Orientadora: Professora Alessandra Bussador</a:t>
            </a:r>
          </a:p>
        </p:txBody>
      </p:sp>
      <p:sp>
        <p:nvSpPr>
          <p:cNvPr id="5" name="">
            <a:extLst xmlns:a="http://schemas.openxmlformats.org/drawingml/2006/main">
              <a:ext uri="{FF2B5EF4-FFF2-40B4-BE49-F238E27FC236}">
                <a16:creationId xmlns:a16="http://schemas.microsoft.com/office/drawing/2014/main" id="{300DED62-E354-4EA6-BBF1-1B77DA0CCAD8}"/>
              </a:ext>
            </a:extLst>
          </p:cNvPr>
          <p:cNvSpPr>
            <a:spLocks xmlns:a="http://schemas.openxmlformats.org/drawingml/2006/main" noGrp="1"/>
          </p:cNvSpPr>
          <p:nvPr/>
        </p:nvSpPr>
        <p:spPr>
          <a:xfrm xmlns:a="http://schemas.openxmlformats.org/drawingml/2006/main">
            <a:off x="6858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75569"/>
                </a:solidFill>
                <a:latin typeface="Arial"/>
                <a:ea typeface="Arial"/>
                <a:cs typeface="Arial"/>
              </a:defRPr>
            </a:pPr>
            <a:r>
              <a:rPr sz="1650" b="0">
                <a:solidFill>
                  <a:srgbClr val="475569"/>
                </a:solidFill>
                <a:latin typeface="Arial"/>
                <a:ea typeface="Arial"/>
                <a:cs typeface="Arial"/>
              </a:rPr>
              <a:t>Validação e preparação experimental • 06/10/2026</a:t>
            </a:r>
          </a:p>
        </p:txBody>
      </p:sp>
    </p:spTree>
    <p:extLst>
      <p:ext uri="{BB962C8B-B14F-4D97-AF65-F5344CB8AC3E}">
        <p14:creationId xmlns:p14="http://schemas.microsoft.com/office/powerpoint/2010/main" val="8944550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348A5A-B23F-4AA4-BFE7-BF5E41F9DF32}"/>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O que a pesquisa quer responder?</a:t>
            </a:r>
          </a:p>
        </p:txBody>
      </p:sp>
      <p:sp>
        <p:nvSpPr>
          <p:cNvPr id="2" name="">
            <a:extLst xmlns:a="http://schemas.openxmlformats.org/drawingml/2006/main">
              <a:ext uri="{FF2B5EF4-FFF2-40B4-BE49-F238E27FC236}">
                <a16:creationId xmlns:a16="http://schemas.microsoft.com/office/drawing/2014/main" id="{1A407E45-414A-45EF-8073-64D535F7937D}"/>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FBDEDCC2-47A2-4C51-B15F-A15D741A373B}"/>
              </a:ext>
            </a:extLst>
          </p:cNvPr>
          <p:cNvSpPr>
            <a:spLocks xmlns:a="http://schemas.openxmlformats.org/drawingml/2006/main" noGrp="1"/>
          </p:cNvSpPr>
          <p:nvPr/>
        </p:nvSpPr>
        <p:spPr>
          <a:xfrm xmlns:a="http://schemas.openxmlformats.org/drawingml/2006/main">
            <a:off x="685800" y="195262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B4D"/>
                </a:solidFill>
                <a:latin typeface="Arial"/>
                <a:ea typeface="Arial"/>
                <a:cs typeface="Arial"/>
              </a:defRPr>
            </a:pPr>
            <a:r>
              <a:rPr sz="3300" b="1">
                <a:solidFill>
                  <a:srgbClr val="172B4D"/>
                </a:solidFill>
                <a:latin typeface="Arial"/>
                <a:ea typeface="Arial"/>
                <a:cs typeface="Arial"/>
              </a:rPr>
              <a:t>Quais trade-offs de desempenho e resiliência aparecem nas duas implementações?</a:t>
            </a:r>
          </a:p>
        </p:txBody>
      </p:sp>
      <p:sp>
        <p:nvSpPr>
          <p:cNvPr id="4" name="">
            <a:extLst xmlns:a="http://schemas.openxmlformats.org/drawingml/2006/main">
              <a:ext uri="{FF2B5EF4-FFF2-40B4-BE49-F238E27FC236}">
                <a16:creationId xmlns:a16="http://schemas.microsoft.com/office/drawing/2014/main" id="{41D630C5-687F-40E3-BFF8-E2FA1A694C72}"/>
              </a:ext>
            </a:extLst>
          </p:cNvPr>
          <p:cNvSpPr>
            <a:spLocks xmlns:a="http://schemas.openxmlformats.org/drawingml/2006/main" noGrp="1"/>
          </p:cNvSpPr>
          <p:nvPr/>
        </p:nvSpPr>
        <p:spPr>
          <a:xfrm xmlns:a="http://schemas.openxmlformats.org/drawingml/2006/main">
            <a:off x="685800" y="44767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Mesmo contrato, processamento e PostgreSQL.</a:t>
            </a:r>
          </a:p>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O caminho de processamento é diferente.</a:t>
            </a:r>
          </a:p>
        </p:txBody>
      </p:sp>
    </p:spTree>
    <p:extLst>
      <p:ext uri="{BB962C8B-B14F-4D97-AF65-F5344CB8AC3E}">
        <p14:creationId xmlns:p14="http://schemas.microsoft.com/office/powerpoint/2010/main" val="3808869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772F50-A96C-4547-A865-3A9943CFC11F}"/>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A resposta de sucesso significa coisas diferentes</a:t>
            </a:r>
          </a:p>
        </p:txBody>
      </p:sp>
      <p:sp>
        <p:nvSpPr>
          <p:cNvPr id="2" name="">
            <a:extLst xmlns:a="http://schemas.openxmlformats.org/drawingml/2006/main">
              <a:ext uri="{FF2B5EF4-FFF2-40B4-BE49-F238E27FC236}">
                <a16:creationId xmlns:a16="http://schemas.microsoft.com/office/drawing/2014/main" id="{5D6828C9-C577-48E4-8F51-C02A856F01A8}"/>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028BFC27-5817-4301-865E-019A88F0B2E0}"/>
              </a:ext>
            </a:extLst>
          </p:cNvPr>
          <p:cNvSpPr>
            <a:spLocks xmlns:a="http://schemas.openxmlformats.org/drawingml/2006/main" noGrp="1"/>
          </p:cNvSpPr>
          <p:nvPr/>
        </p:nvSpPr>
        <p:spPr>
          <a:xfrm xmlns:a="http://schemas.openxmlformats.org/drawingml/2006/main">
            <a:off x="685800" y="19050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Síncrona: 201 após confirmar a transação no banco.</a:t>
            </a:r>
          </a:p>
        </p:txBody>
      </p:sp>
      <p:sp>
        <p:nvSpPr>
          <p:cNvPr id="4" name="">
            <a:extLst xmlns:a="http://schemas.openxmlformats.org/drawingml/2006/main">
              <a:ext uri="{FF2B5EF4-FFF2-40B4-BE49-F238E27FC236}">
                <a16:creationId xmlns:a16="http://schemas.microsoft.com/office/drawing/2014/main" id="{03DF0DE1-CC4B-471A-AA5F-7130821CC650}"/>
              </a:ext>
            </a:extLst>
          </p:cNvPr>
          <p:cNvSpPr>
            <a:spLocks xmlns:a="http://schemas.openxmlformats.org/drawingml/2006/main" noGrp="1"/>
          </p:cNvSpPr>
          <p:nvPr/>
        </p:nvSpPr>
        <p:spPr>
          <a:xfrm xmlns:a="http://schemas.openxmlformats.org/drawingml/2006/main">
            <a:off x="685800" y="28956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Assíncrona: 202 após o aceite da publicação no Kafka.</a:t>
            </a:r>
          </a:p>
        </p:txBody>
      </p:sp>
      <p:sp>
        <p:nvSpPr>
          <p:cNvPr id="5" name="">
            <a:extLst xmlns:a="http://schemas.openxmlformats.org/drawingml/2006/main">
              <a:ext uri="{FF2B5EF4-FFF2-40B4-BE49-F238E27FC236}">
                <a16:creationId xmlns:a16="http://schemas.microsoft.com/office/drawing/2014/main" id="{B76F5072-7CAA-464C-A2E4-1932DC18ADEB}"/>
              </a:ext>
            </a:extLst>
          </p:cNvPr>
          <p:cNvSpPr>
            <a:spLocks xmlns:a="http://schemas.openxmlformats.org/drawingml/2006/main" noGrp="1"/>
          </p:cNvSpPr>
          <p:nvPr/>
        </p:nvSpPr>
        <p:spPr>
          <a:xfrm xmlns:a="http://schemas.openxmlformats.org/drawingml/2006/main">
            <a:off x="685800" y="38862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202 não significa que o registro já foi salvo.</a:t>
            </a:r>
          </a:p>
        </p:txBody>
      </p:sp>
    </p:spTree>
    <p:extLst>
      <p:ext uri="{BB962C8B-B14F-4D97-AF65-F5344CB8AC3E}">
        <p14:creationId xmlns:p14="http://schemas.microsoft.com/office/powerpoint/2010/main" val="19241501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8D7639-F3CE-498B-AE58-6B2572E40189}"/>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Por que usar k6? Não é uma disputa entre ferramentas</a:t>
            </a:r>
          </a:p>
        </p:txBody>
      </p:sp>
      <p:sp>
        <p:nvSpPr>
          <p:cNvPr id="2" name="">
            <a:extLst xmlns:a="http://schemas.openxmlformats.org/drawingml/2006/main">
              <a:ext uri="{FF2B5EF4-FFF2-40B4-BE49-F238E27FC236}">
                <a16:creationId xmlns:a16="http://schemas.microsoft.com/office/drawing/2014/main" id="{3B123E97-A882-4BF7-88B4-FC470570119F}"/>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4</a:t>
            </a:r>
          </a:p>
        </p:txBody>
      </p:sp>
      <p:graphicFrame>
        <p:nvGraphicFramePr>
          <p:cNvPr id="7" name=""/>
          <p:cNvGraphicFramePr/>
          <p:nvPr/>
        </p:nvGraphicFramePr>
        <p:xfrm>
          <a:off xmlns:a="http://schemas.openxmlformats.org/drawingml/2006/main" x="685800" y="1714500"/>
          <a:ext xmlns:a="http://schemas.openxmlformats.org/drawingml/2006/main" cx="10820400" cy="3714750"/>
        </p:xfrm>
        <a:graphic xmlns:a="http://schemas.openxmlformats.org/drawingml/2006/main">
          <a:graphicData uri="http://schemas.openxmlformats.org/drawingml/2006/table">
            <a:tbl>
              <a:tblPr/>
              <a:tblGrid>
                <a:gridCol w="2286000"/>
                <a:gridCol w="4267200"/>
                <a:gridCol w="4267200"/>
              </a:tblGrid>
              <a:tr h="742950">
                <a:tc>
                  <a:txBody>
                    <a:bodyPr>
                      <a:noAutofit/>
                    </a:bodyPr>
                    <a:lstStyle/>
                    <a:p>
                      <a:r>
                        <a:rPr sz="1800" b="1">
                          <a:solidFill>
                            <a:srgbClr val="FFFFFF"/>
                          </a:solidFill>
                          <a:latin typeface="Arial"/>
                          <a:ea typeface="Arial"/>
                          <a:cs typeface="Arial"/>
                        </a:rPr>
                        <a:t>Critério</a:t>
                      </a:r>
                    </a:p>
                  </a:txBody>
                  <a:tcPr marL="91440" marR="91440" marT="45720" marB="45720">
                    <a:solidFill>
                      <a:srgbClr val="172B4D"/>
                    </a:solidFill>
                  </a:tcPr>
                </a:tc>
                <a:tc>
                  <a:txBody>
                    <a:bodyPr>
                      <a:noAutofit/>
                    </a:bodyPr>
                    <a:lstStyle/>
                    <a:p>
                      <a:r>
                        <a:rPr sz="1800" b="1">
                          <a:solidFill>
                            <a:srgbClr val="FFFFFF"/>
                          </a:solidFill>
                          <a:latin typeface="Arial"/>
                          <a:ea typeface="Arial"/>
                          <a:cs typeface="Arial"/>
                        </a:rPr>
                        <a:t>JMeter</a:t>
                      </a:r>
                    </a:p>
                  </a:txBody>
                  <a:tcPr marL="91440" marR="91440" marT="45720" marB="45720">
                    <a:solidFill>
                      <a:srgbClr val="172B4D"/>
                    </a:solidFill>
                  </a:tcPr>
                </a:tc>
                <a:tc>
                  <a:txBody>
                    <a:bodyPr>
                      <a:noAutofit/>
                    </a:bodyPr>
                    <a:lstStyle/>
                    <a:p>
                      <a:r>
                        <a:rPr sz="1800" b="1">
                          <a:solidFill>
                            <a:srgbClr val="FFFFFF"/>
                          </a:solidFill>
                          <a:latin typeface="Arial"/>
                          <a:ea typeface="Arial"/>
                          <a:cs typeface="Arial"/>
                        </a:rPr>
                        <a:t>k6</a:t>
                      </a:r>
                    </a:p>
                  </a:txBody>
                  <a:tcPr marL="91440" marR="91440" marT="45720" marB="45720">
                    <a:solidFill>
                      <a:srgbClr val="172B4D"/>
                    </a:solidFill>
                  </a:tcPr>
                </a:tc>
              </a:tr>
              <a:tr h="742950">
                <a:tc>
                  <a:txBody>
                    <a:bodyPr>
                      <a:noAutofit/>
                    </a:bodyPr>
                    <a:lstStyle/>
                    <a:p>
                      <a:r>
                        <a:rPr sz="1800" b="0">
                          <a:solidFill>
                            <a:srgbClr val="172B4D"/>
                          </a:solidFill>
                          <a:latin typeface="Arial"/>
                          <a:ea typeface="Arial"/>
                          <a:cs typeface="Arial"/>
                        </a:rPr>
                        <a:t>Plano</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JMX e interface gráfica</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JavaScript versionado</a:t>
                      </a:r>
                    </a:p>
                  </a:txBody>
                  <a:tcPr marL="91440" marR="91440" marT="45720" marB="45720">
                    <a:solidFill>
                      <a:srgbClr val="FFFFFF"/>
                    </a:solidFill>
                  </a:tcPr>
                </a:tc>
              </a:tr>
              <a:tr h="742950">
                <a:tc>
                  <a:txBody>
                    <a:bodyPr>
                      <a:noAutofit/>
                    </a:bodyPr>
                    <a:lstStyle/>
                    <a:p>
                      <a:r>
                        <a:rPr sz="1800" b="0">
                          <a:solidFill>
                            <a:srgbClr val="172B4D"/>
                          </a:solidFill>
                          <a:latin typeface="Arial"/>
                          <a:ea typeface="Arial"/>
                          <a:cs typeface="Arial"/>
                        </a:rPr>
                        <a:t>Carga</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CLI recomendado</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CLI em Docker</a:t>
                      </a:r>
                    </a:p>
                  </a:txBody>
                  <a:tcPr marL="91440" marR="91440" marT="45720" marB="45720">
                    <a:solidFill>
                      <a:srgbClr val="FFFFFF"/>
                    </a:solidFill>
                  </a:tcPr>
                </a:tc>
              </a:tr>
              <a:tr h="742950">
                <a:tc>
                  <a:txBody>
                    <a:bodyPr>
                      <a:noAutofit/>
                    </a:bodyPr>
                    <a:lstStyle/>
                    <a:p>
                      <a:r>
                        <a:rPr sz="1800" b="0">
                          <a:solidFill>
                            <a:srgbClr val="172B4D"/>
                          </a:solidFill>
                          <a:latin typeface="Arial"/>
                          <a:ea typeface="Arial"/>
                          <a:cs typeface="Arial"/>
                        </a:rPr>
                        <a:t>Chegadas</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Open Model Thread Group</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Constant / ramping arrival</a:t>
                      </a:r>
                    </a:p>
                  </a:txBody>
                  <a:tcPr marL="91440" marR="91440" marT="45720" marB="45720">
                    <a:solidFill>
                      <a:srgbClr val="FFFFFF"/>
                    </a:solidFill>
                  </a:tcPr>
                </a:tc>
              </a:tr>
              <a:tr h="742950">
                <a:tc>
                  <a:txBody>
                    <a:bodyPr>
                      <a:noAutofit/>
                    </a:bodyPr>
                    <a:lstStyle/>
                    <a:p>
                      <a:r>
                        <a:rPr sz="1800" b="0">
                          <a:solidFill>
                            <a:srgbClr val="172B4D"/>
                          </a:solidFill>
                          <a:latin typeface="Arial"/>
                          <a:ea typeface="Arial"/>
                          <a:cs typeface="Arial"/>
                        </a:rPr>
                        <a:t>Saída</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JTL / CSV</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JSONL e tags por evento</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8B04DE3-CBE5-42A3-9D54-CA75EDA6A126}"/>
              </a:ext>
            </a:extLst>
          </p:cNvPr>
          <p:cNvSpPr>
            <a:spLocks xmlns:a="http://schemas.openxmlformats.org/drawingml/2006/main" noGrp="1"/>
          </p:cNvSpPr>
          <p:nvPr/>
        </p:nvSpPr>
        <p:spPr>
          <a:xfrm xmlns:a="http://schemas.openxmlformats.org/drawingml/2006/main">
            <a:off x="685800" y="56197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B4D"/>
                </a:solidFill>
                <a:latin typeface="Arial"/>
                <a:ea typeface="Arial"/>
                <a:cs typeface="Arial"/>
              </a:defRPr>
            </a:pPr>
            <a:r>
              <a:rPr sz="1875" b="0">
                <a:solidFill>
                  <a:srgbClr val="172B4D"/>
                </a:solidFill>
                <a:latin typeface="Arial"/>
                <a:ea typeface="Arial"/>
                <a:cs typeface="Arial"/>
              </a:rPr>
              <a:t>Escolha: integração com os identificadores e o analisador Java.</a:t>
            </a:r>
          </a:p>
        </p:txBody>
      </p:sp>
    </p:spTree>
    <p:extLst>
      <p:ext uri="{BB962C8B-B14F-4D97-AF65-F5344CB8AC3E}">
        <p14:creationId xmlns:p14="http://schemas.microsoft.com/office/powerpoint/2010/main" val="14067139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A7F59F-5208-4EC4-A949-56861BB789C3}"/>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As duas variantes salvaram o mesmo conjunto</a:t>
            </a:r>
          </a:p>
        </p:txBody>
      </p:sp>
      <p:sp>
        <p:nvSpPr>
          <p:cNvPr id="2" name="">
            <a:extLst xmlns:a="http://schemas.openxmlformats.org/drawingml/2006/main">
              <a:ext uri="{FF2B5EF4-FFF2-40B4-BE49-F238E27FC236}">
                <a16:creationId xmlns:a16="http://schemas.microsoft.com/office/drawing/2014/main" id="{8A1579E8-E47C-4163-A2B5-E522E451902C}"/>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5</a:t>
            </a:r>
          </a:p>
        </p:txBody>
      </p:sp>
      <p:graphicFrame>
        <p:nvGraphicFramePr>
          <p:cNvPr id="7" name=""/>
          <p:cNvGraphicFramePr/>
          <p:nvPr/>
        </p:nvGraphicFramePr>
        <p:xfrm>
          <a:off xmlns:a="http://schemas.openxmlformats.org/drawingml/2006/main" x="685800" y="1714500"/>
          <a:ext xmlns:a="http://schemas.openxmlformats.org/drawingml/2006/main" cx="10820400" cy="3714750"/>
        </p:xfrm>
        <a:graphic xmlns:a="http://schemas.openxmlformats.org/drawingml/2006/main">
          <a:graphicData uri="http://schemas.openxmlformats.org/drawingml/2006/table">
            <a:tbl>
              <a:tblPr/>
              <a:tblGrid>
                <a:gridCol w="3238500"/>
                <a:gridCol w="7581900"/>
              </a:tblGrid>
              <a:tr h="742950">
                <a:tc>
                  <a:txBody>
                    <a:bodyPr>
                      <a:noAutofit/>
                    </a:bodyPr>
                    <a:lstStyle/>
                    <a:p>
                      <a:r>
                        <a:rPr sz="1950" b="1">
                          <a:solidFill>
                            <a:srgbClr val="FFFFFF"/>
                          </a:solidFill>
                          <a:latin typeface="Arial"/>
                          <a:ea typeface="Arial"/>
                          <a:cs typeface="Arial"/>
                        </a:rPr>
                        <a:t>Verificação</a:t>
                      </a:r>
                    </a:p>
                  </a:txBody>
                  <a:tcPr marL="91440" marR="91440" marT="45720" marB="45720">
                    <a:solidFill>
                      <a:srgbClr val="172B4D"/>
                    </a:solidFill>
                  </a:tcPr>
                </a:tc>
                <a:tc>
                  <a:txBody>
                    <a:bodyPr>
                      <a:noAutofit/>
                    </a:bodyPr>
                    <a:lstStyle/>
                    <a:p>
                      <a:r>
                        <a:rPr sz="1950" b="1">
                          <a:solidFill>
                            <a:srgbClr val="FFFFFF"/>
                          </a:solidFill>
                          <a:latin typeface="Arial"/>
                          <a:ea typeface="Arial"/>
                          <a:cs typeface="Arial"/>
                        </a:rPr>
                        <a:t>Resultado observado</a:t>
                      </a:r>
                    </a:p>
                  </a:txBody>
                  <a:tcPr marL="91440" marR="91440" marT="45720" marB="45720">
                    <a:solidFill>
                      <a:srgbClr val="172B4D"/>
                    </a:solidFill>
                  </a:tcPr>
                </a:tc>
              </a:tr>
              <a:tr h="742950">
                <a:tc>
                  <a:txBody>
                    <a:bodyPr>
                      <a:noAutofit/>
                    </a:bodyPr>
                    <a:lstStyle/>
                    <a:p>
                      <a:r>
                        <a:rPr sz="1950" b="0">
                          <a:solidFill>
                            <a:srgbClr val="172B4D"/>
                          </a:solidFill>
                          <a:latin typeface="Arial"/>
                          <a:ea typeface="Arial"/>
                          <a:cs typeface="Arial"/>
                        </a:rPr>
                        <a:t>Conjunto comum</a:t>
                      </a:r>
                    </a:p>
                  </a:txBody>
                  <a:tcPr marL="91440" marR="91440" marT="45720" marB="45720">
                    <a:solidFill>
                      <a:srgbClr val="FFFFFF"/>
                    </a:solidFill>
                  </a:tcPr>
                </a:tc>
                <a:tc>
                  <a:txBody>
                    <a:bodyPr>
                      <a:noAutofit/>
                    </a:bodyPr>
                    <a:lstStyle/>
                    <a:p>
                      <a:r>
                        <a:rPr sz="1950" b="0">
                          <a:solidFill>
                            <a:srgbClr val="172B4D"/>
                          </a:solidFill>
                          <a:latin typeface="Arial"/>
                          <a:ea typeface="Arial"/>
                          <a:cs typeface="Arial"/>
                        </a:rPr>
                        <a:t>50 linhas em cada variante</a:t>
                      </a:r>
                    </a:p>
                  </a:txBody>
                  <a:tcPr marL="91440" marR="91440" marT="45720" marB="45720">
                    <a:solidFill>
                      <a:srgbClr val="FFFFFF"/>
                    </a:solidFill>
                  </a:tcPr>
                </a:tc>
              </a:tr>
              <a:tr h="742950">
                <a:tc>
                  <a:txBody>
                    <a:bodyPr>
                      <a:noAutofit/>
                    </a:bodyPr>
                    <a:lstStyle/>
                    <a:p>
                      <a:r>
                        <a:rPr sz="1950" b="0">
                          <a:solidFill>
                            <a:srgbClr val="172B4D"/>
                          </a:solidFill>
                          <a:latin typeface="Arial"/>
                          <a:ea typeface="Arial"/>
                          <a:cs typeface="Arial"/>
                        </a:rPr>
                        <a:t>Equivalência</a:t>
                      </a:r>
                    </a:p>
                  </a:txBody>
                  <a:tcPr marL="91440" marR="91440" marT="45720" marB="45720">
                    <a:solidFill>
                      <a:srgbClr val="FFFFFF"/>
                    </a:solidFill>
                  </a:tcPr>
                </a:tc>
                <a:tc>
                  <a:txBody>
                    <a:bodyPr>
                      <a:noAutofit/>
                    </a:bodyPr>
                    <a:lstStyle/>
                    <a:p>
                      <a:r>
                        <a:rPr sz="1950" b="0">
                          <a:solidFill>
                            <a:srgbClr val="172B4D"/>
                          </a:solidFill>
                          <a:latin typeface="Arial"/>
                          <a:ea typeface="Arial"/>
                          <a:cs typeface="Arial"/>
                        </a:rPr>
                        <a:t>UUIDs, campos, payloads e hashes iguais</a:t>
                      </a:r>
                    </a:p>
                  </a:txBody>
                  <a:tcPr marL="91440" marR="91440" marT="45720" marB="45720">
                    <a:solidFill>
                      <a:srgbClr val="FFFFFF"/>
                    </a:solidFill>
                  </a:tcPr>
                </a:tc>
              </a:tr>
              <a:tr h="742950">
                <a:tc>
                  <a:txBody>
                    <a:bodyPr>
                      <a:noAutofit/>
                    </a:bodyPr>
                    <a:lstStyle/>
                    <a:p>
                      <a:r>
                        <a:rPr sz="1950" b="0">
                          <a:solidFill>
                            <a:srgbClr val="172B4D"/>
                          </a:solidFill>
                          <a:latin typeface="Arial"/>
                          <a:ea typeface="Arial"/>
                          <a:cs typeface="Arial"/>
                        </a:rPr>
                        <a:t>Reenvio igual</a:t>
                      </a:r>
                    </a:p>
                  </a:txBody>
                  <a:tcPr marL="91440" marR="91440" marT="45720" marB="45720">
                    <a:solidFill>
                      <a:srgbClr val="FFFFFF"/>
                    </a:solidFill>
                  </a:tcPr>
                </a:tc>
                <a:tc>
                  <a:txBody>
                    <a:bodyPr>
                      <a:noAutofit/>
                    </a:bodyPr>
                    <a:lstStyle/>
                    <a:p>
                      <a:r>
                        <a:rPr sz="1950" b="0">
                          <a:solidFill>
                            <a:srgbClr val="172B4D"/>
                          </a:solidFill>
                          <a:latin typeface="Arial"/>
                          <a:ea typeface="Arial"/>
                          <a:cs typeface="Arial"/>
                        </a:rPr>
                        <a:t>50 linhas; duplicate em ambas</a:t>
                      </a:r>
                    </a:p>
                  </a:txBody>
                  <a:tcPr marL="91440" marR="91440" marT="45720" marB="45720">
                    <a:solidFill>
                      <a:srgbClr val="FFFFFF"/>
                    </a:solidFill>
                  </a:tcPr>
                </a:tc>
              </a:tr>
              <a:tr h="742950">
                <a:tc>
                  <a:txBody>
                    <a:bodyPr>
                      <a:noAutofit/>
                    </a:bodyPr>
                    <a:lstStyle/>
                    <a:p>
                      <a:r>
                        <a:rPr sz="1950" b="0">
                          <a:solidFill>
                            <a:srgbClr val="172B4D"/>
                          </a:solidFill>
                          <a:latin typeface="Arial"/>
                          <a:ea typeface="Arial"/>
                          <a:cs typeface="Arial"/>
                        </a:rPr>
                        <a:t>Mesmo UUID, conteúdo diferente</a:t>
                      </a:r>
                    </a:p>
                  </a:txBody>
                  <a:tcPr marL="91440" marR="91440" marT="45720" marB="45720">
                    <a:solidFill>
                      <a:srgbClr val="FFFFFF"/>
                    </a:solidFill>
                  </a:tcPr>
                </a:tc>
                <a:tc>
                  <a:txBody>
                    <a:bodyPr>
                      <a:noAutofit/>
                    </a:bodyPr>
                    <a:lstStyle/>
                    <a:p>
                      <a:r>
                        <a:rPr sz="1950" b="0">
                          <a:solidFill>
                            <a:srgbClr val="172B4D"/>
                          </a:solidFill>
                          <a:latin typeface="Arial"/>
                          <a:ea typeface="Arial"/>
                          <a:cs typeface="Arial"/>
                        </a:rPr>
                        <a:t>409 síncrono; conflito na DLQ assíncrona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5CFF437-9325-408D-9BA5-B54A31F87DDE}"/>
              </a:ext>
            </a:extLst>
          </p:cNvPr>
          <p:cNvSpPr>
            <a:spLocks xmlns:a="http://schemas.openxmlformats.org/drawingml/2006/main" noGrp="1"/>
          </p:cNvSpPr>
          <p:nvPr/>
        </p:nvSpPr>
        <p:spPr>
          <a:xfrm xmlns:a="http://schemas.openxmlformats.org/drawingml/2006/main">
            <a:off x="685800" y="56197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B4D"/>
                </a:solidFill>
                <a:latin typeface="Arial"/>
                <a:ea typeface="Arial"/>
                <a:cs typeface="Arial"/>
              </a:defRPr>
            </a:pPr>
            <a:r>
              <a:rPr sz="1875" b="0">
                <a:solidFill>
                  <a:srgbClr val="172B4D"/>
                </a:solidFill>
                <a:latin typeface="Arial"/>
                <a:ea typeface="Arial"/>
                <a:cs typeface="Arial"/>
              </a:rPr>
              <a:t>Verificação funcional não é benchmark de desempenho.</a:t>
            </a:r>
          </a:p>
        </p:txBody>
      </p:sp>
    </p:spTree>
    <p:extLst>
      <p:ext uri="{BB962C8B-B14F-4D97-AF65-F5344CB8AC3E}">
        <p14:creationId xmlns:p14="http://schemas.microsoft.com/office/powerpoint/2010/main" val="2817759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0EF7CA-3D50-4299-8EDC-9CCFCBD87CD6}"/>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Banco parado: um aceite terminou na fila de falhas</a:t>
            </a:r>
          </a:p>
        </p:txBody>
      </p:sp>
      <p:sp>
        <p:nvSpPr>
          <p:cNvPr id="2" name="">
            <a:extLst xmlns:a="http://schemas.openxmlformats.org/drawingml/2006/main">
              <a:ext uri="{FF2B5EF4-FFF2-40B4-BE49-F238E27FC236}">
                <a16:creationId xmlns:a16="http://schemas.microsoft.com/office/drawing/2014/main" id="{4A60FA36-569C-4493-8D3D-68EDC438116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6</a:t>
            </a:r>
          </a:p>
        </p:txBody>
      </p:sp>
      <p:graphicFrame>
        <p:nvGraphicFramePr>
          <p:cNvPr id="7" name=""/>
          <p:cNvGraphicFramePr/>
          <p:nvPr/>
        </p:nvGraphicFramePr>
        <p:xfrm>
          <a:off xmlns:a="http://schemas.openxmlformats.org/drawingml/2006/main" x="685800" y="1905000"/>
          <a:ext xmlns:a="http://schemas.openxmlformats.org/drawingml/2006/main" cx="10820400" cy="2857500"/>
        </p:xfrm>
        <a:graphic xmlns:a="http://schemas.openxmlformats.org/drawingml/2006/main">
          <a:graphicData uri="http://schemas.openxmlformats.org/drawingml/2006/table">
            <a:tbl>
              <a:tblPr/>
              <a:tblGrid>
                <a:gridCol w="4953000"/>
                <a:gridCol w="2933700"/>
                <a:gridCol w="2933700"/>
              </a:tblGrid>
              <a:tr h="714375">
                <a:tc>
                  <a:txBody>
                    <a:bodyPr>
                      <a:noAutofit/>
                    </a:bodyPr>
                    <a:lstStyle/>
                    <a:p>
                      <a:r>
                        <a:rPr sz="2100" b="1">
                          <a:solidFill>
                            <a:srgbClr val="FFFFFF"/>
                          </a:solidFill>
                          <a:latin typeface="Arial"/>
                          <a:ea typeface="Arial"/>
                          <a:cs typeface="Arial"/>
                        </a:rPr>
                        <a:t>Validação curta</a:t>
                      </a:r>
                    </a:p>
                  </a:txBody>
                  <a:tcPr marL="91440" marR="91440" marT="45720" marB="45720">
                    <a:solidFill>
                      <a:srgbClr val="172B4D"/>
                    </a:solidFill>
                  </a:tcPr>
                </a:tc>
                <a:tc>
                  <a:txBody>
                    <a:bodyPr>
                      <a:noAutofit/>
                    </a:bodyPr>
                    <a:lstStyle/>
                    <a:p>
                      <a:r>
                        <a:rPr sz="2100" b="1">
                          <a:solidFill>
                            <a:srgbClr val="FFFFFF"/>
                          </a:solidFill>
                          <a:latin typeface="Arial"/>
                          <a:ea typeface="Arial"/>
                          <a:cs typeface="Arial"/>
                        </a:rPr>
                        <a:t>Síncrona</a:t>
                      </a:r>
                    </a:p>
                  </a:txBody>
                  <a:tcPr marL="91440" marR="91440" marT="45720" marB="45720">
                    <a:solidFill>
                      <a:srgbClr val="172B4D"/>
                    </a:solidFill>
                  </a:tcPr>
                </a:tc>
                <a:tc>
                  <a:txBody>
                    <a:bodyPr>
                      <a:noAutofit/>
                    </a:bodyPr>
                    <a:lstStyle/>
                    <a:p>
                      <a:r>
                        <a:rPr sz="2100" b="1">
                          <a:solidFill>
                            <a:srgbClr val="FFFFFF"/>
                          </a:solidFill>
                          <a:latin typeface="Arial"/>
                          <a:ea typeface="Arial"/>
                          <a:cs typeface="Arial"/>
                        </a:rPr>
                        <a:t>Assíncrona</a:t>
                      </a:r>
                    </a:p>
                  </a:txBody>
                  <a:tcPr marL="91440" marR="91440" marT="45720" marB="45720">
                    <a:solidFill>
                      <a:srgbClr val="172B4D"/>
                    </a:solidFill>
                  </a:tcPr>
                </a:tc>
              </a:tr>
              <a:tr h="714375">
                <a:tc>
                  <a:txBody>
                    <a:bodyPr>
                      <a:noAutofit/>
                    </a:bodyPr>
                    <a:lstStyle/>
                    <a:p>
                      <a:r>
                        <a:rPr sz="2100" b="0">
                          <a:solidFill>
                            <a:srgbClr val="172B4D"/>
                          </a:solidFill>
                          <a:latin typeface="Arial"/>
                          <a:ea typeface="Arial"/>
                          <a:cs typeface="Arial"/>
                        </a:rPr>
                        <a:t>Envios observados</a:t>
                      </a:r>
                    </a:p>
                  </a:txBody>
                  <a:tcPr marL="91440" marR="91440" marT="45720" marB="45720">
                    <a:solidFill>
                      <a:srgbClr val="FFFFFF"/>
                    </a:solidFill>
                  </a:tcPr>
                </a:tc>
                <a:tc>
                  <a:txBody>
                    <a:bodyPr>
                      <a:noAutofit/>
                    </a:bodyPr>
                    <a:lstStyle/>
                    <a:p>
                      <a:r>
                        <a:rPr sz="2100" b="0">
                          <a:solidFill>
                            <a:srgbClr val="172B4D"/>
                          </a:solidFill>
                          <a:latin typeface="Arial"/>
                          <a:ea typeface="Arial"/>
                          <a:cs typeface="Arial"/>
                        </a:rPr>
                        <a:t>91</a:t>
                      </a:r>
                    </a:p>
                  </a:txBody>
                  <a:tcPr marL="91440" marR="91440" marT="45720" marB="45720">
                    <a:solidFill>
                      <a:srgbClr val="FFFFFF"/>
                    </a:solidFill>
                  </a:tcPr>
                </a:tc>
                <a:tc>
                  <a:txBody>
                    <a:bodyPr>
                      <a:noAutofit/>
                    </a:bodyPr>
                    <a:lstStyle/>
                    <a:p>
                      <a:r>
                        <a:rPr sz="2100" b="0">
                          <a:solidFill>
                            <a:srgbClr val="172B4D"/>
                          </a:solidFill>
                          <a:latin typeface="Arial"/>
                          <a:ea typeface="Arial"/>
                          <a:cs typeface="Arial"/>
                        </a:rPr>
                        <a:t>90</a:t>
                      </a:r>
                    </a:p>
                  </a:txBody>
                  <a:tcPr marL="91440" marR="91440" marT="45720" marB="45720">
                    <a:solidFill>
                      <a:srgbClr val="FFFFFF"/>
                    </a:solidFill>
                  </a:tcPr>
                </a:tc>
              </a:tr>
              <a:tr h="714375">
                <a:tc>
                  <a:txBody>
                    <a:bodyPr>
                      <a:noAutofit/>
                    </a:bodyPr>
                    <a:lstStyle/>
                    <a:p>
                      <a:r>
                        <a:rPr sz="2100" b="0">
                          <a:solidFill>
                            <a:srgbClr val="172B4D"/>
                          </a:solidFill>
                          <a:latin typeface="Arial"/>
                          <a:ea typeface="Arial"/>
                          <a:cs typeface="Arial"/>
                        </a:rPr>
                        <a:t>HTTP de sucesso</a:t>
                      </a:r>
                    </a:p>
                  </a:txBody>
                  <a:tcPr marL="91440" marR="91440" marT="45720" marB="45720">
                    <a:solidFill>
                      <a:srgbClr val="FFFFFF"/>
                    </a:solidFill>
                  </a:tcPr>
                </a:tc>
                <a:tc>
                  <a:txBody>
                    <a:bodyPr>
                      <a:noAutofit/>
                    </a:bodyPr>
                    <a:lstStyle/>
                    <a:p>
                      <a:r>
                        <a:rPr sz="2100" b="0">
                          <a:solidFill>
                            <a:srgbClr val="172B4D"/>
                          </a:solidFill>
                          <a:latin typeface="Arial"/>
                          <a:ea typeface="Arial"/>
                          <a:cs typeface="Arial"/>
                        </a:rPr>
                        <a:t>39</a:t>
                      </a:r>
                    </a:p>
                  </a:txBody>
                  <a:tcPr marL="91440" marR="91440" marT="45720" marB="45720">
                    <a:solidFill>
                      <a:srgbClr val="FFFFFF"/>
                    </a:solidFill>
                  </a:tcPr>
                </a:tc>
                <a:tc>
                  <a:txBody>
                    <a:bodyPr>
                      <a:noAutofit/>
                    </a:bodyPr>
                    <a:lstStyle/>
                    <a:p>
                      <a:r>
                        <a:rPr sz="2100" b="0">
                          <a:solidFill>
                            <a:srgbClr val="172B4D"/>
                          </a:solidFill>
                          <a:latin typeface="Arial"/>
                          <a:ea typeface="Arial"/>
                          <a:cs typeface="Arial"/>
                        </a:rPr>
                        <a:t>90</a:t>
                      </a:r>
                    </a:p>
                  </a:txBody>
                  <a:tcPr marL="91440" marR="91440" marT="45720" marB="45720">
                    <a:solidFill>
                      <a:srgbClr val="FFFFFF"/>
                    </a:solidFill>
                  </a:tcPr>
                </a:tc>
              </a:tr>
              <a:tr h="714375">
                <a:tc>
                  <a:txBody>
                    <a:bodyPr>
                      <a:noAutofit/>
                    </a:bodyPr>
                    <a:lstStyle/>
                    <a:p>
                      <a:r>
                        <a:rPr sz="2100" b="0">
                          <a:solidFill>
                            <a:srgbClr val="172B4D"/>
                          </a:solidFill>
                          <a:latin typeface="Arial"/>
                          <a:ea typeface="Arial"/>
                          <a:cs typeface="Arial"/>
                        </a:rPr>
                        <a:t>Salvos / DLQ terminal</a:t>
                      </a:r>
                    </a:p>
                  </a:txBody>
                  <a:tcPr marL="91440" marR="91440" marT="45720" marB="45720">
                    <a:solidFill>
                      <a:srgbClr val="FFFFFF"/>
                    </a:solidFill>
                  </a:tcPr>
                </a:tc>
                <a:tc>
                  <a:txBody>
                    <a:bodyPr>
                      <a:noAutofit/>
                    </a:bodyPr>
                    <a:lstStyle/>
                    <a:p>
                      <a:r>
                        <a:rPr sz="2100" b="0">
                          <a:solidFill>
                            <a:srgbClr val="172B4D"/>
                          </a:solidFill>
                          <a:latin typeface="Arial"/>
                          <a:ea typeface="Arial"/>
                          <a:cs typeface="Arial"/>
                        </a:rPr>
                        <a:t>39 / 0</a:t>
                      </a:r>
                    </a:p>
                  </a:txBody>
                  <a:tcPr marL="91440" marR="91440" marT="45720" marB="45720">
                    <a:solidFill>
                      <a:srgbClr val="FFFFFF"/>
                    </a:solidFill>
                  </a:tcPr>
                </a:tc>
                <a:tc>
                  <a:txBody>
                    <a:bodyPr>
                      <a:noAutofit/>
                    </a:bodyPr>
                    <a:lstStyle/>
                    <a:p>
                      <a:r>
                        <a:rPr sz="2100" b="0">
                          <a:solidFill>
                            <a:srgbClr val="172B4D"/>
                          </a:solidFill>
                          <a:latin typeface="Arial"/>
                          <a:ea typeface="Arial"/>
                          <a:cs typeface="Arial"/>
                        </a:rPr>
                        <a:t>89 / 1</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63EFDF5-B14C-40AC-B7F6-236B5EE41A7E}"/>
              </a:ext>
            </a:extLst>
          </p:cNvPr>
          <p:cNvSpPr>
            <a:spLocks xmlns:a="http://schemas.openxmlformats.org/drawingml/2006/main" noGrp="1"/>
          </p:cNvSpPr>
          <p:nvPr/>
        </p:nvSpPr>
        <p:spPr>
          <a:xfrm xmlns:a="http://schemas.openxmlformats.org/drawingml/2006/main">
            <a:off x="685800" y="53340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2B4D"/>
                </a:solidFill>
                <a:latin typeface="Arial"/>
                <a:ea typeface="Arial"/>
                <a:cs typeface="Arial"/>
              </a:defRPr>
            </a:pPr>
            <a:r>
              <a:rPr sz="2100" b="1">
                <a:solidFill>
                  <a:srgbClr val="172B4D"/>
                </a:solidFill>
                <a:latin typeface="Arial"/>
                <a:ea typeface="Arial"/>
                <a:cs typeface="Arial"/>
              </a:rPr>
              <a:t>Uma validação por variante. Não confirma desempenho superior.</a:t>
            </a:r>
          </a:p>
        </p:txBody>
      </p:sp>
    </p:spTree>
    <p:extLst>
      <p:ext uri="{BB962C8B-B14F-4D97-AF65-F5344CB8AC3E}">
        <p14:creationId xmlns:p14="http://schemas.microsoft.com/office/powerpoint/2010/main" val="16716874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F375ACE-C20D-4DE0-B8A4-4AB2078B0D34}"/>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Medir resposta e gravação separadamente</a:t>
            </a:r>
          </a:p>
        </p:txBody>
      </p:sp>
      <p:sp>
        <p:nvSpPr>
          <p:cNvPr id="2" name="">
            <a:extLst xmlns:a="http://schemas.openxmlformats.org/drawingml/2006/main">
              <a:ext uri="{FF2B5EF4-FFF2-40B4-BE49-F238E27FC236}">
                <a16:creationId xmlns:a16="http://schemas.microsoft.com/office/drawing/2014/main" id="{93B6DCD2-0B3D-41DD-8E6E-81AEDCBC70AC}"/>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7</a:t>
            </a:r>
          </a:p>
        </p:txBody>
      </p:sp>
      <p:graphicFrame>
        <p:nvGraphicFramePr>
          <p:cNvPr id="6" name=""/>
          <p:cNvGraphicFramePr/>
          <p:nvPr/>
        </p:nvGraphicFramePr>
        <p:xfrm>
          <a:off xmlns:a="http://schemas.openxmlformats.org/drawingml/2006/main" x="685800" y="1809750"/>
          <a:ext xmlns:a="http://schemas.openxmlformats.org/drawingml/2006/main" cx="10820400" cy="3619500"/>
        </p:xfrm>
        <a:graphic xmlns:a="http://schemas.openxmlformats.org/drawingml/2006/main">
          <a:graphicData uri="http://schemas.openxmlformats.org/drawingml/2006/table">
            <a:tbl>
              <a:tblPr/>
              <a:tblGrid>
                <a:gridCol w="3524250"/>
                <a:gridCol w="7296150"/>
              </a:tblGrid>
              <a:tr h="723900">
                <a:tc>
                  <a:txBody>
                    <a:bodyPr>
                      <a:noAutofit/>
                    </a:bodyPr>
                    <a:lstStyle/>
                    <a:p>
                      <a:r>
                        <a:rPr sz="1875" b="1">
                          <a:solidFill>
                            <a:srgbClr val="FFFFFF"/>
                          </a:solidFill>
                          <a:latin typeface="Arial"/>
                          <a:ea typeface="Arial"/>
                          <a:cs typeface="Arial"/>
                        </a:rPr>
                        <a:t>Métrica</a:t>
                      </a:r>
                    </a:p>
                  </a:txBody>
                  <a:tcPr marL="91440" marR="91440" marT="45720" marB="45720">
                    <a:solidFill>
                      <a:srgbClr val="172B4D"/>
                    </a:solidFill>
                  </a:tcPr>
                </a:tc>
                <a:tc>
                  <a:txBody>
                    <a:bodyPr>
                      <a:noAutofit/>
                    </a:bodyPr>
                    <a:lstStyle/>
                    <a:p>
                      <a:r>
                        <a:rPr sz="1875" b="1">
                          <a:solidFill>
                            <a:srgbClr val="FFFFFF"/>
                          </a:solidFill>
                          <a:latin typeface="Arial"/>
                          <a:ea typeface="Arial"/>
                          <a:cs typeface="Arial"/>
                        </a:rPr>
                        <a:t>O que termina a medição</a:t>
                      </a:r>
                    </a:p>
                  </a:txBody>
                  <a:tcPr marL="91440" marR="91440" marT="45720" marB="45720">
                    <a:solidFill>
                      <a:srgbClr val="172B4D"/>
                    </a:solidFill>
                  </a:tcPr>
                </a:tc>
              </a:tr>
              <a:tr h="723900">
                <a:tc>
                  <a:txBody>
                    <a:bodyPr>
                      <a:noAutofit/>
                    </a:bodyPr>
                    <a:lstStyle/>
                    <a:p>
                      <a:r>
                        <a:rPr sz="1875" b="0">
                          <a:solidFill>
                            <a:srgbClr val="172B4D"/>
                          </a:solidFill>
                          <a:latin typeface="Arial"/>
                          <a:ea typeface="Arial"/>
                          <a:cs typeface="Arial"/>
                        </a:rPr>
                        <a:t>Tempo HTTP</a:t>
                      </a:r>
                    </a:p>
                  </a:txBody>
                  <a:tcPr marL="91440" marR="91440" marT="45720" marB="45720">
                    <a:solidFill>
                      <a:srgbClr val="FFFFFF"/>
                    </a:solidFill>
                  </a:tcPr>
                </a:tc>
                <a:tc>
                  <a:txBody>
                    <a:bodyPr>
                      <a:noAutofit/>
                    </a:bodyPr>
                    <a:lstStyle/>
                    <a:p>
                      <a:r>
                        <a:rPr sz="1875" b="0">
                          <a:solidFill>
                            <a:srgbClr val="172B4D"/>
                          </a:solidFill>
                          <a:latin typeface="Arial"/>
                          <a:ea typeface="Arial"/>
                          <a:cs typeface="Arial"/>
                        </a:rPr>
                        <a:t>Retorno da requisição</a:t>
                      </a:r>
                    </a:p>
                  </a:txBody>
                  <a:tcPr marL="91440" marR="91440" marT="45720" marB="45720">
                    <a:solidFill>
                      <a:srgbClr val="FFFFFF"/>
                    </a:solidFill>
                  </a:tcPr>
                </a:tc>
              </a:tr>
              <a:tr h="723900">
                <a:tc>
                  <a:txBody>
                    <a:bodyPr>
                      <a:noAutofit/>
                    </a:bodyPr>
                    <a:lstStyle/>
                    <a:p>
                      <a:r>
                        <a:rPr sz="1875" b="0">
                          <a:solidFill>
                            <a:srgbClr val="172B4D"/>
                          </a:solidFill>
                          <a:latin typeface="Arial"/>
                          <a:ea typeface="Arial"/>
                          <a:cs typeface="Arial"/>
                        </a:rPr>
                        <a:t>Envio → resposta</a:t>
                      </a:r>
                    </a:p>
                  </a:txBody>
                  <a:tcPr marL="91440" marR="91440" marT="45720" marB="45720">
                    <a:solidFill>
                      <a:srgbClr val="FFFFFF"/>
                    </a:solidFill>
                  </a:tcPr>
                </a:tc>
                <a:tc>
                  <a:txBody>
                    <a:bodyPr>
                      <a:noAutofit/>
                    </a:bodyPr>
                    <a:lstStyle/>
                    <a:p>
                      <a:r>
                        <a:rPr sz="1875" b="0">
                          <a:solidFill>
                            <a:srgbClr val="172B4D"/>
                          </a:solidFill>
                          <a:latin typeface="Arial"/>
                          <a:ea typeface="Arial"/>
                          <a:cs typeface="Arial"/>
                        </a:rPr>
                        <a:t>Marcador do cliente após conferir o retorno</a:t>
                      </a:r>
                    </a:p>
                  </a:txBody>
                  <a:tcPr marL="91440" marR="91440" marT="45720" marB="45720">
                    <a:solidFill>
                      <a:srgbClr val="FFFFFF"/>
                    </a:solidFill>
                  </a:tcPr>
                </a:tc>
              </a:tr>
              <a:tr h="723900">
                <a:tc>
                  <a:txBody>
                    <a:bodyPr>
                      <a:noAutofit/>
                    </a:bodyPr>
                    <a:lstStyle/>
                    <a:p>
                      <a:r>
                        <a:rPr sz="1875" b="0">
                          <a:solidFill>
                            <a:srgbClr val="172B4D"/>
                          </a:solidFill>
                          <a:latin typeface="Arial"/>
                          <a:ea typeface="Arial"/>
                          <a:cs typeface="Arial"/>
                        </a:rPr>
                        <a:t>Envio → commit</a:t>
                      </a:r>
                    </a:p>
                  </a:txBody>
                  <a:tcPr marL="91440" marR="91440" marT="45720" marB="45720">
                    <a:solidFill>
                      <a:srgbClr val="FFFFFF"/>
                    </a:solidFill>
                  </a:tcPr>
                </a:tc>
                <a:tc>
                  <a:txBody>
                    <a:bodyPr>
                      <a:noAutofit/>
                    </a:bodyPr>
                    <a:lstStyle/>
                    <a:p>
                      <a:r>
                        <a:rPr sz="1875" b="0">
                          <a:solidFill>
                            <a:srgbClr val="172B4D"/>
                          </a:solidFill>
                          <a:latin typeface="Arial"/>
                          <a:ea typeface="Arial"/>
                          <a:cs typeface="Arial"/>
                        </a:rPr>
                        <a:t>Retorno da transação confirmado pelo servidor</a:t>
                      </a:r>
                    </a:p>
                  </a:txBody>
                  <a:tcPr marL="91440" marR="91440" marT="45720" marB="45720">
                    <a:solidFill>
                      <a:srgbClr val="FFFFFF"/>
                    </a:solidFill>
                  </a:tcPr>
                </a:tc>
              </a:tr>
              <a:tr h="723900">
                <a:tc>
                  <a:txBody>
                    <a:bodyPr>
                      <a:noAutofit/>
                    </a:bodyPr>
                    <a:lstStyle/>
                    <a:p>
                      <a:r>
                        <a:rPr sz="1875" b="0">
                          <a:solidFill>
                            <a:srgbClr val="172B4D"/>
                          </a:solidFill>
                          <a:latin typeface="Arial"/>
                          <a:ea typeface="Arial"/>
                          <a:cs typeface="Arial"/>
                        </a:rPr>
                        <a:t>Throughput concluído</a:t>
                      </a:r>
                    </a:p>
                  </a:txBody>
                  <a:tcPr marL="91440" marR="91440" marT="45720" marB="45720">
                    <a:solidFill>
                      <a:srgbClr val="FFFFFF"/>
                    </a:solidFill>
                  </a:tcPr>
                </a:tc>
                <a:tc>
                  <a:txBody>
                    <a:bodyPr>
                      <a:noAutofit/>
                    </a:bodyPr>
                    <a:lstStyle/>
                    <a:p>
                      <a:r>
                        <a:rPr sz="1875" b="0">
                          <a:solidFill>
                            <a:srgbClr val="172B4D"/>
                          </a:solidFill>
                          <a:latin typeface="Arial"/>
                          <a:ea typeface="Arial"/>
                          <a:cs typeface="Arial"/>
                        </a:rPr>
                        <a:t>UUIDs com commit na janela / segundos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299651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B2ECAE-0DD8-4448-94F0-03DEA23131FA}"/>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A campanha planejada cobre carga e falhas</a:t>
            </a:r>
          </a:p>
        </p:txBody>
      </p:sp>
      <p:sp>
        <p:nvSpPr>
          <p:cNvPr id="2" name="">
            <a:extLst xmlns:a="http://schemas.openxmlformats.org/drawingml/2006/main">
              <a:ext uri="{FF2B5EF4-FFF2-40B4-BE49-F238E27FC236}">
                <a16:creationId xmlns:a16="http://schemas.microsoft.com/office/drawing/2014/main" id="{B775F8D5-235B-4BE8-82DE-A11038D22800}"/>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8</a:t>
            </a:r>
          </a:p>
        </p:txBody>
      </p:sp>
      <p:graphicFrame>
        <p:nvGraphicFramePr>
          <p:cNvPr id="7" name=""/>
          <p:cNvGraphicFramePr/>
          <p:nvPr/>
        </p:nvGraphicFramePr>
        <p:xfrm>
          <a:off xmlns:a="http://schemas.openxmlformats.org/drawingml/2006/main" x="685800" y="1762125"/>
          <a:ext xmlns:a="http://schemas.openxmlformats.org/drawingml/2006/main" cx="10820400" cy="3429000"/>
        </p:xfrm>
        <a:graphic xmlns:a="http://schemas.openxmlformats.org/drawingml/2006/main">
          <a:graphicData uri="http://schemas.openxmlformats.org/drawingml/2006/table">
            <a:tbl>
              <a:tblPr/>
              <a:tblGrid>
                <a:gridCol w="2000250"/>
                <a:gridCol w="6953250"/>
                <a:gridCol w="1866900"/>
              </a:tblGrid>
              <a:tr h="685800">
                <a:tc>
                  <a:txBody>
                    <a:bodyPr>
                      <a:noAutofit/>
                    </a:bodyPr>
                    <a:lstStyle/>
                    <a:p>
                      <a:r>
                        <a:rPr sz="1800" b="1">
                          <a:solidFill>
                            <a:srgbClr val="FFFFFF"/>
                          </a:solidFill>
                          <a:latin typeface="Arial"/>
                          <a:ea typeface="Arial"/>
                          <a:cs typeface="Arial"/>
                        </a:rPr>
                        <a:t>Cenário</a:t>
                      </a:r>
                    </a:p>
                  </a:txBody>
                  <a:tcPr marL="91440" marR="91440" marT="45720" marB="45720">
                    <a:solidFill>
                      <a:srgbClr val="172B4D"/>
                    </a:solidFill>
                  </a:tcPr>
                </a:tc>
                <a:tc>
                  <a:txBody>
                    <a:bodyPr>
                      <a:noAutofit/>
                    </a:bodyPr>
                    <a:lstStyle/>
                    <a:p>
                      <a:r>
                        <a:rPr sz="1800" b="1">
                          <a:solidFill>
                            <a:srgbClr val="FFFFFF"/>
                          </a:solidFill>
                          <a:latin typeface="Arial"/>
                          <a:ea typeface="Arial"/>
                          <a:cs typeface="Arial"/>
                        </a:rPr>
                        <a:t>Condição</a:t>
                      </a:r>
                    </a:p>
                  </a:txBody>
                  <a:tcPr marL="91440" marR="91440" marT="45720" marB="45720">
                    <a:solidFill>
                      <a:srgbClr val="172B4D"/>
                    </a:solidFill>
                  </a:tcPr>
                </a:tc>
                <a:tc>
                  <a:txBody>
                    <a:bodyPr>
                      <a:noAutofit/>
                    </a:bodyPr>
                    <a:lstStyle/>
                    <a:p>
                      <a:r>
                        <a:rPr sz="1800" b="1">
                          <a:solidFill>
                            <a:srgbClr val="FFFFFF"/>
                          </a:solidFill>
                          <a:latin typeface="Arial"/>
                          <a:ea typeface="Arial"/>
                          <a:cs typeface="Arial"/>
                        </a:rPr>
                        <a:t>Comparação</a:t>
                      </a:r>
                    </a:p>
                  </a:txBody>
                  <a:tcPr marL="91440" marR="91440" marT="45720" marB="45720">
                    <a:solidFill>
                      <a:srgbClr val="172B4D"/>
                    </a:solidFill>
                  </a:tcPr>
                </a:tc>
              </a:tr>
              <a:tr h="685800">
                <a:tc>
                  <a:txBody>
                    <a:bodyPr>
                      <a:noAutofit/>
                    </a:bodyPr>
                    <a:lstStyle/>
                    <a:p>
                      <a:r>
                        <a:rPr sz="1800" b="0">
                          <a:solidFill>
                            <a:srgbClr val="172B4D"/>
                          </a:solidFill>
                          <a:latin typeface="Arial"/>
                          <a:ea typeface="Arial"/>
                          <a:cs typeface="Arial"/>
                        </a:rPr>
                        <a:t>C1 / C2</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25%, 50%, 75%, 100% da referência</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Ambas</a:t>
                      </a:r>
                    </a:p>
                  </a:txBody>
                  <a:tcPr marL="91440" marR="91440" marT="45720" marB="45720">
                    <a:solidFill>
                      <a:srgbClr val="FFFFFF"/>
                    </a:solidFill>
                  </a:tcPr>
                </a:tc>
              </a:tr>
              <a:tr h="685800">
                <a:tc>
                  <a:txBody>
                    <a:bodyPr>
                      <a:noAutofit/>
                    </a:bodyPr>
                    <a:lstStyle/>
                    <a:p>
                      <a:r>
                        <a:rPr sz="1800" b="0">
                          <a:solidFill>
                            <a:srgbClr val="172B4D"/>
                          </a:solidFill>
                          <a:latin typeface="Arial"/>
                          <a:ea typeface="Arial"/>
                          <a:cs typeface="Arial"/>
                        </a:rPr>
                        <a:t>C3</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Rajada acima da referência</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Ambas</a:t>
                      </a:r>
                    </a:p>
                  </a:txBody>
                  <a:tcPr marL="91440" marR="91440" marT="45720" marB="45720">
                    <a:solidFill>
                      <a:srgbClr val="FFFFFF"/>
                    </a:solidFill>
                  </a:tcPr>
                </a:tc>
              </a:tr>
              <a:tr h="685800">
                <a:tc>
                  <a:txBody>
                    <a:bodyPr>
                      <a:noAutofit/>
                    </a:bodyPr>
                    <a:lstStyle/>
                    <a:p>
                      <a:r>
                        <a:rPr sz="1800" b="0">
                          <a:solidFill>
                            <a:srgbClr val="172B4D"/>
                          </a:solidFill>
                          <a:latin typeface="Arial"/>
                          <a:ea typeface="Arial"/>
                          <a:cs typeface="Arial"/>
                        </a:rPr>
                        <a:t>C4 / C5</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Banco parado e retomado</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Ambas</a:t>
                      </a:r>
                    </a:p>
                  </a:txBody>
                  <a:tcPr marL="91440" marR="91440" marT="45720" marB="45720">
                    <a:solidFill>
                      <a:srgbClr val="FFFFFF"/>
                    </a:solidFill>
                  </a:tcPr>
                </a:tc>
              </a:tr>
              <a:tr h="685800">
                <a:tc>
                  <a:txBody>
                    <a:bodyPr>
                      <a:noAutofit/>
                    </a:bodyPr>
                    <a:lstStyle/>
                    <a:p>
                      <a:r>
                        <a:rPr sz="1800" b="0">
                          <a:solidFill>
                            <a:srgbClr val="172B4D"/>
                          </a:solidFill>
                          <a:latin typeface="Arial"/>
                          <a:ea typeface="Arial"/>
                          <a:cs typeface="Arial"/>
                        </a:rPr>
                        <a:t>Complementar</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Consumidor parado e retomado</a:t>
                      </a:r>
                    </a:p>
                  </a:txBody>
                  <a:tcPr marL="91440" marR="91440" marT="45720" marB="45720">
                    <a:solidFill>
                      <a:srgbClr val="FFFFFF"/>
                    </a:solidFill>
                  </a:tcPr>
                </a:tc>
                <a:tc>
                  <a:txBody>
                    <a:bodyPr>
                      <a:noAutofit/>
                    </a:bodyPr>
                    <a:lstStyle/>
                    <a:p>
                      <a:r>
                        <a:rPr sz="1800" b="0">
                          <a:solidFill>
                            <a:srgbClr val="172B4D"/>
                          </a:solidFill>
                          <a:latin typeface="Arial"/>
                          <a:ea typeface="Arial"/>
                          <a:cs typeface="Arial"/>
                        </a:rPr>
                        <a:t>Assíncrona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84FFED2-3617-412E-9F52-D84E07D4D7F2}"/>
              </a:ext>
            </a:extLst>
          </p:cNvPr>
          <p:cNvSpPr>
            <a:spLocks xmlns:a="http://schemas.openxmlformats.org/drawingml/2006/main" noGrp="1"/>
          </p:cNvSpPr>
          <p:nvPr/>
        </p:nvSpPr>
        <p:spPr>
          <a:xfrm xmlns:a="http://schemas.openxmlformats.org/drawingml/2006/main">
            <a:off x="685800" y="5524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B4D"/>
                </a:solidFill>
                <a:latin typeface="Arial"/>
                <a:ea typeface="Arial"/>
                <a:cs typeface="Arial"/>
              </a:defRPr>
            </a:pPr>
            <a:r>
              <a:rPr sz="1800" b="0">
                <a:solidFill>
                  <a:srgbClr val="172B4D"/>
                </a:solidFill>
                <a:latin typeface="Arial"/>
                <a:ea typeface="Arial"/>
                <a:cs typeface="Arial"/>
              </a:rPr>
              <a:t>Planejado: 60 s de aquecimento + 300 s de medição, 10 repetições.</a:t>
            </a:r>
          </a:p>
        </p:txBody>
      </p:sp>
    </p:spTree>
    <p:extLst>
      <p:ext uri="{BB962C8B-B14F-4D97-AF65-F5344CB8AC3E}">
        <p14:creationId xmlns:p14="http://schemas.microsoft.com/office/powerpoint/2010/main" val="21434018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C026E6-9592-4AF8-9AE0-4135DCE14039}"/>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O que torna as medições conferíveis?</a:t>
            </a:r>
          </a:p>
        </p:txBody>
      </p:sp>
      <p:sp>
        <p:nvSpPr>
          <p:cNvPr id="2" name="">
            <a:extLst xmlns:a="http://schemas.openxmlformats.org/drawingml/2006/main">
              <a:ext uri="{FF2B5EF4-FFF2-40B4-BE49-F238E27FC236}">
                <a16:creationId xmlns:a16="http://schemas.microsoft.com/office/drawing/2014/main" id="{D5FA65EC-E740-4761-A331-C5FA96E88858}"/>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E777484C-494B-4DC6-A78B-800D35689C3B}"/>
              </a:ext>
            </a:extLst>
          </p:cNvPr>
          <p:cNvSpPr>
            <a:spLocks xmlns:a="http://schemas.openxmlformats.org/drawingml/2006/main" noGrp="1"/>
          </p:cNvSpPr>
          <p:nvPr/>
        </p:nvSpPr>
        <p:spPr>
          <a:xfrm xmlns:a="http://schemas.openxmlformats.org/drawingml/2006/main">
            <a:off x="685800" y="19050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Ambiente Docker isolado e dados sintéticos.</a:t>
            </a:r>
          </a:p>
        </p:txBody>
      </p:sp>
      <p:sp>
        <p:nvSpPr>
          <p:cNvPr id="4" name="">
            <a:extLst xmlns:a="http://schemas.openxmlformats.org/drawingml/2006/main">
              <a:ext uri="{FF2B5EF4-FFF2-40B4-BE49-F238E27FC236}">
                <a16:creationId xmlns:a16="http://schemas.microsoft.com/office/drawing/2014/main" id="{BBB0BF8D-DBFF-46F4-9EB7-C76F3B8524B1}"/>
              </a:ext>
            </a:extLst>
          </p:cNvPr>
          <p:cNvSpPr>
            <a:spLocks xmlns:a="http://schemas.openxmlformats.org/drawingml/2006/main" noGrp="1"/>
          </p:cNvSpPr>
          <p:nvPr/>
        </p:nvSpPr>
        <p:spPr>
          <a:xfrm xmlns:a="http://schemas.openxmlformats.org/drawingml/2006/main">
            <a:off x="685800" y="28956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UUID por execução e conteúdo comum por par.</a:t>
            </a:r>
          </a:p>
        </p:txBody>
      </p:sp>
      <p:sp>
        <p:nvSpPr>
          <p:cNvPr id="5" name="">
            <a:extLst xmlns:a="http://schemas.openxmlformats.org/drawingml/2006/main">
              <a:ext uri="{FF2B5EF4-FFF2-40B4-BE49-F238E27FC236}">
                <a16:creationId xmlns:a16="http://schemas.microsoft.com/office/drawing/2014/main" id="{5B551541-D49F-4EA7-948D-C3BB14F98F26}"/>
              </a:ext>
            </a:extLst>
          </p:cNvPr>
          <p:cNvSpPr>
            <a:spLocks xmlns:a="http://schemas.openxmlformats.org/drawingml/2006/main" noGrp="1"/>
          </p:cNvSpPr>
          <p:nvPr/>
        </p:nvSpPr>
        <p:spPr>
          <a:xfrm xmlns:a="http://schemas.openxmlformats.org/drawingml/2006/main">
            <a:off x="685800" y="38862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Manifesto, dados brutos, conciliação e checksums.</a:t>
            </a:r>
          </a:p>
        </p:txBody>
      </p:sp>
      <p:sp>
        <p:nvSpPr>
          <p:cNvPr id="6" name="">
            <a:extLst xmlns:a="http://schemas.openxmlformats.org/drawingml/2006/main">
              <a:ext uri="{FF2B5EF4-FFF2-40B4-BE49-F238E27FC236}">
                <a16:creationId xmlns:a16="http://schemas.microsoft.com/office/drawing/2014/main" id="{8289CD6F-30DE-4830-A101-15CF87640002}"/>
              </a:ext>
            </a:extLst>
          </p:cNvPr>
          <p:cNvSpPr>
            <a:spLocks xmlns:a="http://schemas.openxmlformats.org/drawingml/2006/main" noGrp="1"/>
          </p:cNvSpPr>
          <p:nvPr/>
        </p:nvSpPr>
        <p:spPr>
          <a:xfrm xmlns:a="http://schemas.openxmlformats.org/drawingml/2006/main">
            <a:off x="685800" y="48768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Tentativas inválidas preservadas com o motivo.</a:t>
            </a:r>
          </a:p>
        </p:txBody>
      </p:sp>
    </p:spTree>
    <p:extLst>
      <p:ext uri="{BB962C8B-B14F-4D97-AF65-F5344CB8AC3E}">
        <p14:creationId xmlns:p14="http://schemas.microsoft.com/office/powerpoint/2010/main" val="10732283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DB3ED4-436F-4CF7-897B-1A7C72068C81}"/>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B4D"/>
                </a:solidFill>
                <a:latin typeface="Arial"/>
                <a:ea typeface="Arial"/>
                <a:cs typeface="Arial"/>
              </a:defRPr>
            </a:pPr>
            <a:r>
              <a:rPr sz="2850" b="1">
                <a:solidFill>
                  <a:srgbClr val="172B4D"/>
                </a:solidFill>
                <a:latin typeface="Arial"/>
                <a:ea typeface="Arial"/>
                <a:cs typeface="Arial"/>
              </a:rPr>
              <a:t>O que ainda falta para a conclusão científica?</a:t>
            </a:r>
          </a:p>
        </p:txBody>
      </p:sp>
      <p:sp>
        <p:nvSpPr>
          <p:cNvPr id="2" name="">
            <a:extLst xmlns:a="http://schemas.openxmlformats.org/drawingml/2006/main">
              <a:ext uri="{FF2B5EF4-FFF2-40B4-BE49-F238E27FC236}">
                <a16:creationId xmlns:a16="http://schemas.microsoft.com/office/drawing/2014/main" id="{DACBAACC-A292-46BD-86EE-820DFAC157E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48B"/>
                </a:solidFill>
                <a:latin typeface="Arial"/>
                <a:ea typeface="Arial"/>
                <a:cs typeface="Arial"/>
              </a:defRPr>
            </a:pPr>
            <a:r>
              <a:rPr sz="1350" b="0">
                <a:solidFill>
                  <a:srgbClr val="64748B"/>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4AB1A42B-B6DA-4C7B-9C2A-243C993E9F18}"/>
              </a:ext>
            </a:extLst>
          </p:cNvPr>
          <p:cNvSpPr>
            <a:spLocks xmlns:a="http://schemas.openxmlformats.org/drawingml/2006/main" noGrp="1"/>
          </p:cNvSpPr>
          <p:nvPr/>
        </p:nvSpPr>
        <p:spPr>
          <a:xfrm xmlns:a="http://schemas.openxmlformats.org/drawingml/2006/main">
            <a:off x="685800" y="19050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Calibrar a carga e congelar o protocolo.</a:t>
            </a:r>
          </a:p>
        </p:txBody>
      </p:sp>
      <p:sp>
        <p:nvSpPr>
          <p:cNvPr id="4" name="">
            <a:extLst xmlns:a="http://schemas.openxmlformats.org/drawingml/2006/main">
              <a:ext uri="{FF2B5EF4-FFF2-40B4-BE49-F238E27FC236}">
                <a16:creationId xmlns:a16="http://schemas.microsoft.com/office/drawing/2014/main" id="{EB079275-2971-47C3-9033-744FAE0EAF46}"/>
              </a:ext>
            </a:extLst>
          </p:cNvPr>
          <p:cNvSpPr>
            <a:spLocks xmlns:a="http://schemas.openxmlformats.org/drawingml/2006/main" noGrp="1"/>
          </p:cNvSpPr>
          <p:nvPr/>
        </p:nvSpPr>
        <p:spPr>
          <a:xfrm xmlns:a="http://schemas.openxmlformats.org/drawingml/2006/main">
            <a:off x="685800" y="28956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Executar as repetições e analisar a dispersão.</a:t>
            </a:r>
          </a:p>
        </p:txBody>
      </p:sp>
      <p:sp>
        <p:nvSpPr>
          <p:cNvPr id="5" name="">
            <a:extLst xmlns:a="http://schemas.openxmlformats.org/drawingml/2006/main">
              <a:ext uri="{FF2B5EF4-FFF2-40B4-BE49-F238E27FC236}">
                <a16:creationId xmlns:a16="http://schemas.microsoft.com/office/drawing/2014/main" id="{34190391-4C33-4175-B7D1-12C91772C11B}"/>
              </a:ext>
            </a:extLst>
          </p:cNvPr>
          <p:cNvSpPr>
            <a:spLocks xmlns:a="http://schemas.openxmlformats.org/drawingml/2006/main" noGrp="1"/>
          </p:cNvSpPr>
          <p:nvPr/>
        </p:nvSpPr>
        <p:spPr>
          <a:xfrm xmlns:a="http://schemas.openxmlformats.org/drawingml/2006/main">
            <a:off x="685800" y="38862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Responder às hipóteses com o que foi medido.</a:t>
            </a:r>
          </a:p>
        </p:txBody>
      </p:sp>
      <p:sp>
        <p:nvSpPr>
          <p:cNvPr id="6" name="">
            <a:extLst xmlns:a="http://schemas.openxmlformats.org/drawingml/2006/main">
              <a:ext uri="{FF2B5EF4-FFF2-40B4-BE49-F238E27FC236}">
                <a16:creationId xmlns:a16="http://schemas.microsoft.com/office/drawing/2014/main" id="{7362A8E7-2631-4D5A-8104-06F8470591CB}"/>
              </a:ext>
            </a:extLst>
          </p:cNvPr>
          <p:cNvSpPr>
            <a:spLocks xmlns:a="http://schemas.openxmlformats.org/drawingml/2006/main" noGrp="1"/>
          </p:cNvSpPr>
          <p:nvPr/>
        </p:nvSpPr>
        <p:spPr>
          <a:xfrm xmlns:a="http://schemas.openxmlformats.org/drawingml/2006/main">
            <a:off x="685800" y="48768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B4D"/>
                </a:solidFill>
                <a:latin typeface="Arial"/>
                <a:ea typeface="Arial"/>
                <a:cs typeface="Arial"/>
              </a:defRPr>
            </a:pPr>
            <a:r>
              <a:rPr sz="2250" b="0">
                <a:solidFill>
                  <a:srgbClr val="172B4D"/>
                </a:solidFill>
                <a:latin typeface="Arial"/>
                <a:ea typeface="Arial"/>
                <a:cs typeface="Arial"/>
              </a:rPr>
              <a:t>Limites: um computador, um broker, dados sintéticos.</a:t>
            </a:r>
          </a:p>
        </p:txBody>
      </p:sp>
    </p:spTree>
    <p:extLst>
      <p:ext uri="{BB962C8B-B14F-4D97-AF65-F5344CB8AC3E}">
        <p14:creationId xmlns:p14="http://schemas.microsoft.com/office/powerpoint/2010/main" val="16741814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2026-10-06T13:28:01.0720000Z</dcterms:created>
  <dcterms:modified xsi:type="dcterms:W3CDTF">2026-10-06T13:28:01.0720000Z</dcterms:modified>
</coreProperties>
</file>