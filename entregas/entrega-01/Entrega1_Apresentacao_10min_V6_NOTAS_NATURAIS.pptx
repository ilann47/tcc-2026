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1b611bc04343a4" /><Relationship Type="http://schemas.openxmlformats.org/officeDocument/2006/relationships/extended-properties" Target="/docProps/app.xml" Id="R8739fb1f03d04334" /><Relationship Type="http://schemas.openxmlformats.org/officeDocument/2006/relationships/officeDocument" Target="/ppt/presentation.xml" Id="R2d30c950cde14734" /></Relationships>
</file>

<file path=ppt/presentation.xml><?xml version="1.0" encoding="utf-8"?>
<p:presentation xmlns:p="http://schemas.openxmlformats.org/presentationml/2006/main">
  <p:sldMasterIdLst>
    <p:sldMasterId xmlns:r="http://schemas.openxmlformats.org/officeDocument/2006/relationships" id="2147483648" r:id="R2f921be0cafe439b"/>
  </p:sldMasterIdLst>
  <p:notesMasterIdLst>
    <p:notesMasterId xmlns:r="http://schemas.openxmlformats.org/officeDocument/2006/relationships" r:id="R6fee2c7c62bb48fd"/>
  </p:notesMasterIdLst>
  <p:sldIdLst>
    <p:sldId xmlns:r="http://schemas.openxmlformats.org/officeDocument/2006/relationships" id="256" r:id="Rd27c7ef5203d4ef0"/>
    <p:sldId xmlns:r="http://schemas.openxmlformats.org/officeDocument/2006/relationships" id="257" r:id="R9f5b5a57d2374637"/>
    <p:sldId xmlns:r="http://schemas.openxmlformats.org/officeDocument/2006/relationships" id="258" r:id="R28024c9e23ba4bc2"/>
    <p:sldId xmlns:r="http://schemas.openxmlformats.org/officeDocument/2006/relationships" id="259" r:id="Rcc2d5619636f412d"/>
    <p:sldId xmlns:r="http://schemas.openxmlformats.org/officeDocument/2006/relationships" id="260" r:id="R09616a6b8c6143d2"/>
    <p:sldId xmlns:r="http://schemas.openxmlformats.org/officeDocument/2006/relationships" id="261" r:id="R790afd29fe9f4fc9"/>
    <p:sldId xmlns:r="http://schemas.openxmlformats.org/officeDocument/2006/relationships" id="262" r:id="R2b66aff41b3e4957"/>
    <p:sldId xmlns:r="http://schemas.openxmlformats.org/officeDocument/2006/relationships" id="263" r:id="Rcaa01ee47cd74df7"/>
    <p:sldId xmlns:r="http://schemas.openxmlformats.org/officeDocument/2006/relationships" id="264" r:id="Ra7990daaabea42e7"/>
    <p:sldId xmlns:r="http://schemas.openxmlformats.org/officeDocument/2006/relationships" id="265" r:id="Re21c857668a44a26"/>
    <p:sldId xmlns:r="http://schemas.openxmlformats.org/officeDocument/2006/relationships" id="266" r:id="R42e5a015c45f4b66"/>
    <p:sldId xmlns:r="http://schemas.openxmlformats.org/officeDocument/2006/relationships" id="267" r:id="R0d7e58c584eb4b80"/>
    <p:sldId xmlns:r="http://schemas.openxmlformats.org/officeDocument/2006/relationships" id="268" r:id="R081a9dbebc0245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132f5384604ea8" /><Relationship Type="http://schemas.openxmlformats.org/officeDocument/2006/relationships/slideMaster" Target="/ppt/slideMasters/slideMaster1.xml" Id="R2f921be0cafe439b" /><Relationship Type="http://schemas.openxmlformats.org/officeDocument/2006/relationships/notesMaster" Target="/ppt/notesMasters/notesMaster1.xml" Id="R6fee2c7c62bb48fd" /><Relationship Type="http://schemas.openxmlformats.org/officeDocument/2006/relationships/presProps" Target="/ppt/presProps.xml" Id="Rf1500cddcb2f4922" /><Relationship Type="http://schemas.openxmlformats.org/officeDocument/2006/relationships/tableStyles" Target="/ppt/tableStyles.xml" Id="R22d3d278cd2f4951" /><Relationship Type="http://schemas.openxmlformats.org/officeDocument/2006/relationships/slide" Target="/ppt/slides/slide1.xml" Id="Rd27c7ef5203d4ef0" /><Relationship Type="http://schemas.openxmlformats.org/officeDocument/2006/relationships/slide" Target="/ppt/slides/slide2.xml" Id="R9f5b5a57d2374637" /><Relationship Type="http://schemas.openxmlformats.org/officeDocument/2006/relationships/slide" Target="/ppt/slides/slide3.xml" Id="R28024c9e23ba4bc2" /><Relationship Type="http://schemas.openxmlformats.org/officeDocument/2006/relationships/slide" Target="/ppt/slides/slide4.xml" Id="Rcc2d5619636f412d" /><Relationship Type="http://schemas.openxmlformats.org/officeDocument/2006/relationships/slide" Target="/ppt/slides/slide5.xml" Id="R09616a6b8c6143d2" /><Relationship Type="http://schemas.openxmlformats.org/officeDocument/2006/relationships/slide" Target="/ppt/slides/slide6.xml" Id="R790afd29fe9f4fc9" /><Relationship Type="http://schemas.openxmlformats.org/officeDocument/2006/relationships/slide" Target="/ppt/slides/slide7.xml" Id="R2b66aff41b3e4957" /><Relationship Type="http://schemas.openxmlformats.org/officeDocument/2006/relationships/slide" Target="/ppt/slides/slide8.xml" Id="Rcaa01ee47cd74df7" /><Relationship Type="http://schemas.openxmlformats.org/officeDocument/2006/relationships/slide" Target="/ppt/slides/slide9.xml" Id="Ra7990daaabea42e7" /><Relationship Type="http://schemas.openxmlformats.org/officeDocument/2006/relationships/slide" Target="/ppt/slides/slide10.xml" Id="Re21c857668a44a26" /><Relationship Type="http://schemas.openxmlformats.org/officeDocument/2006/relationships/slide" Target="/ppt/slides/slide11.xml" Id="R42e5a015c45f4b66" /><Relationship Type="http://schemas.openxmlformats.org/officeDocument/2006/relationships/slide" Target="/ppt/slides/slide12.xml" Id="R0d7e58c584eb4b80" /><Relationship Type="http://schemas.openxmlformats.org/officeDocument/2006/relationships/slide" Target="/ppt/slides/slide13.xml" Id="R081a9dbebc0245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45a571c8a54b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4992dcaaef4ad5" /><Relationship Type="http://schemas.openxmlformats.org/officeDocument/2006/relationships/notesMaster" Target="/ppt/notesMasters/notesMaster1.xml" Id="Rbc95ca0b895e4a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b40f47a7884c0e" /><Relationship Type="http://schemas.openxmlformats.org/officeDocument/2006/relationships/notesMaster" Target="/ppt/notesMasters/notesMaster1.xml" Id="R05e4c7d789cb40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54b6d6187d466a" /><Relationship Type="http://schemas.openxmlformats.org/officeDocument/2006/relationships/notesMaster" Target="/ppt/notesMasters/notesMaster1.xml" Id="R1191b81bfed846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c8f7a1ead24349" /><Relationship Type="http://schemas.openxmlformats.org/officeDocument/2006/relationships/notesMaster" Target="/ppt/notesMasters/notesMaster1.xml" Id="R15ffecb054804e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7990a94363487f" /><Relationship Type="http://schemas.openxmlformats.org/officeDocument/2006/relationships/notesMaster" Target="/ppt/notesMasters/notesMaster1.xml" Id="Ra75d070f911242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0a816329f64ee6" /><Relationship Type="http://schemas.openxmlformats.org/officeDocument/2006/relationships/notesMaster" Target="/ppt/notesMasters/notesMaster1.xml" Id="Rd829036bc5934a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5dfe36207e484f" /><Relationship Type="http://schemas.openxmlformats.org/officeDocument/2006/relationships/notesMaster" Target="/ppt/notesMasters/notesMaster1.xml" Id="R130a09a44cfc4a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efe7b6c8e6e4e0e" /><Relationship Type="http://schemas.openxmlformats.org/officeDocument/2006/relationships/notesMaster" Target="/ppt/notesMasters/notesMaster1.xml" Id="R8f6af05cf02c42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74423d80194d8b" /><Relationship Type="http://schemas.openxmlformats.org/officeDocument/2006/relationships/notesMaster" Target="/ppt/notesMasters/notesMaster1.xml" Id="R7fe99c7092e447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dc1f55e0e44e14" /><Relationship Type="http://schemas.openxmlformats.org/officeDocument/2006/relationships/notesMaster" Target="/ppt/notesMasters/notesMaster1.xml" Id="Rebf7efe8dee940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906b307bfca49b7" /><Relationship Type="http://schemas.openxmlformats.org/officeDocument/2006/relationships/notesMaster" Target="/ppt/notesMasters/notesMaster1.xml" Id="Rba3ba2e9614f4e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4f21ebcb496416c" /><Relationship Type="http://schemas.openxmlformats.org/officeDocument/2006/relationships/notesMaster" Target="/ppt/notesMasters/notesMaster1.xml" Id="R1de3ea2c37484d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03d5e00822644e7" /><Relationship Type="http://schemas.openxmlformats.org/officeDocument/2006/relationships/notesMaster" Target="/ppt/notesMasters/notesMaster1.xml" Id="R0fa0ac0511ce45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 noite. Pra começar, a ideia do meu trabalho é olhar para duas formas bem comuns de fazer sistemas se comunicarem. De um lado, eu tenho o REST síncrono, em que o cliente fica esperando uma resposta. Do outro, tenho uma comunicação assíncrona orientada a eventos, usando Kafka. Eu escolhi o processamento de registros como cenário para conseguir implementar os dois caminhos de forma parecida. Então, mais do que tentar provar que um é melhor, eu quero entender em quais situações cada abordagem apresenta vantagens ou dificuldades.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Aqui aparece a diferença que mais chamou minha atenção. Quando eu uso REST, normalmente a resposta chega depois que todo o trabalho principal terminou. Então, quando o cliente recebe 201, o registro já foi persistido. No fluxo com eventos, a resposta pode chegar antes. O 202 quer dizer que a solicitação foi aceita, mas ainda existe um consumidor que vai processar aquilo depois. Parece uma diferença pequena, mas ela muda bastante a forma de medir o sistema, porque uma coisa é o tempo de aceitação e outra é o tempo até a conclusão.</a:t>
            </a:r>
          </a:p>
          <a:p xmlns:a="http://schemas.openxmlformats.org/drawingml/2006/main">
            <a:r>
              <a:t/>
            </a:r>
          </a:p>
          <a:p xmlns:a="http://schemas.openxmlformats.org/drawingml/2006/main">
            <a:r>
              <a:t>[Sources]</a:t>
            </a:r>
          </a:p>
          <a:p xmlns:a="http://schemas.openxmlformats.org/drawingml/2006/main">
            <a:r>
              <a:t>- https://www.rfc-editor.org/rfc/rfc9110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partir disso, eu cheguei nesta pergunta de pesquisa: quais trade-offs de desempenho e resiliência aparecem entre REST síncrono e uma comunicação orientada a eventos? Eu evitei perguntar simplesmente qual é melhor, porque provavelmente não existe uma resposta única. O que eu pretendo fazer é colocar as duas implementações em condições parecidas. Elas vão usar o mesmo formato de evento, a mesma validação, o mesmo processamento e o mesmo banco. Assim, o que realmente muda é o modo como a comunicação acontece.</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Quando eu fui olhar os trabalhos relacionados, percebi que os resultados mudam bastante de acordo com o contexto. Uma arquitetura orientada a eventos pode funcionar muito bem em determinado tipo de carga, mas isso não significa que ela será a melhor escolha em qualquer sistema. Também é importante lembrar que desacoplar os componentes traz benefícios, mas adiciona Kafka, consumidores, reentregas e novas possibilidades de falha. Então, o que a literatura me ajudou a perceber foi justamente isso: faz mais sentido estudar os trade-offs do que procurar uma resposta universal.</a:t>
            </a:r>
          </a:p>
          <a:p xmlns:a="http://schemas.openxmlformats.org/drawingml/2006/main">
            <a:r>
              <a:t/>
            </a:r>
          </a:p>
          <a:p xmlns:a="http://schemas.openxmlformats.org/drawingml/2006/main">
            <a:r>
              <a:t>[Sources]</a:t>
            </a:r>
          </a:p>
          <a:p xmlns:a="http://schemas.openxmlformats.org/drawingml/2006/main">
            <a:r>
              <a:t>- https://doi.org/10.5753/ercemapi.2024.32467</a:t>
            </a:r>
          </a:p>
          <a:p xmlns:a="http://schemas.openxmlformats.org/drawingml/2006/main">
            <a:r>
              <a:t>- https://doi.org/10.5755/j01.itc.52.1.30622</a:t>
            </a:r>
          </a:p>
          <a:p xmlns:a="http://schemas.openxmlformats.org/drawingml/2006/main">
            <a:r>
              <a:t>- https://doi.org/10.1007/s11227-021-04122-x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Neste desenho eu tento resumir como a comparação vai funcionar. A mesma carga sintética será enviada para os dois lados. Um lado passa pelo REST e o outro passa pelo Kafka. Depois disso, os dois reaproveitam a mesma parte central do código, com o mesmo contrato e as mesmas regras de processamento. O banco também é o mesmo, assim como a forma de coletar as métricas. Eu organizei dessa maneira para evitar comparar aplicações completamente diferentes e acabar atribuindo ao REST ou ao Kafka uma diferença causada por outro detalhe do código.</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Olhando primeiro para o REST, o fluxo é mais fácil de acompanhar. O cliente manda uma requisição e fica esperando. A API valida os dados, organiza o conteúdo, calcula o hash e grava no PostgreSQL. Só depois que o banco confirma é que o cliente recebe o 201. Isso é interessante porque a resposta tem um significado bem claro: terminou e foi persistido. Ao mesmo tempo, tudo fica no caminho da requisição. Se o processamento ou o banco demorar, o cliente percebe essa demora diretamente.</a:t>
            </a:r>
          </a:p>
          <a:p xmlns:a="http://schemas.openxmlformats.org/drawingml/2006/main">
            <a:r>
              <a:t/>
            </a:r>
          </a:p>
          <a:p xmlns:a="http://schemas.openxmlformats.org/drawingml/2006/main">
            <a:r>
              <a:t>[Sources]</a:t>
            </a:r>
          </a:p>
          <a:p xmlns:a="http://schemas.openxmlformats.org/drawingml/2006/main">
            <a:r>
              <a:t>- https://www.rfc-editor.org/rfc/rfc9110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lado assíncrono, o fluxo se divide em dois momentos. Primeiro, a API recebe o registro, publica no Kafka e já pode responder 202. Depois disso, o consumidor busca a mensagem, processa e grava no banco. Aqui entra o offset, que funciona como uma marca da posição que o consumidor já tratou. Eu só confirmo essa posição depois da persistência. Se alguma coisa falhar antes, o Kafka pode entregar a mensagem novamente. Por isso também é necessário garantir idempotência, ou seja, repetir a mensagem sem criar outro registro igual.</a:t>
            </a:r>
          </a:p>
          <a:p xmlns:a="http://schemas.openxmlformats.org/drawingml/2006/main">
            <a:r>
              <a:t/>
            </a:r>
          </a:p>
          <a:p xmlns:a="http://schemas.openxmlformats.org/drawingml/2006/main">
            <a:r>
              <a:t>[Sources]</a:t>
            </a:r>
          </a:p>
          <a:p xmlns:a="http://schemas.openxmlformats.org/drawingml/2006/main">
            <a:r>
              <a:t>- https://kafka.apache.org/documentation/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comparar os dois caminhos, eu pretendo começar com uma carga mais baixa e aumentar gradualmente. Também quero observar o comportamento quando algum componente fica indisponível e quando ele volta a funcionar. Entre as métricas estão a latência, os percentis p50, p95 e p99, o throughput, os erros e o tempo de recuperação. Para a comparação não ficar enviesada, vou manter a mesma máquina, os mesmos dados e repetir os testes. Por enquanto, essa parte representa o protocolo planejado; eu ainda não estou apresentando resultados finais.</a:t>
            </a:r>
          </a:p>
          <a:p xmlns:a="http://schemas.openxmlformats.org/drawingml/2006/main">
            <a:r>
              <a:t/>
            </a:r>
          </a:p>
          <a:p xmlns:a="http://schemas.openxmlformats.org/drawingml/2006/main">
            <a:r>
              <a:t>[Sources]</a:t>
            </a:r>
          </a:p>
          <a:p xmlns:a="http://schemas.openxmlformats.org/drawingml/2006/main">
            <a:r>
              <a:t>- https://doi.org/10.1007/978-3-642-29044-2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Aqui eu estou mostrando como o protótipo foi separado internamente. Este ainda não é o diagrama de casos de uso; ele mostra os componentes do código. A sync API representa o caminho REST. A async API publica no Kafka, e o consumer faz o processamento posterior. No meio ficam os módulos compartilhados. O schemas cuida do formato e da validação, o processing organiza o evento e calcula o hash, e o database faz a persistência. A ideia de compartilhar esses módulos é evitar que cada versão tenha regras diferentes.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Agora sim este é o diagrama de casos de uso. A diferença é que aqui eu não estou preocupado com os arquivos internos do código, mas com as interações do sistema. A aplicação cliente é quem inicia os dois primeiros casos. No UC01, ela registra de forma síncrona. No UC02, ela envia para o caminho assíncrono. Depois, o UC03 representa o consumo e a persistência do evento. O Kafka aparece fazendo o transporte entre esses momentos, enquanto o PostgreSQL recebe o resultado persistido. Então, esse diagrama ajuda a enxergar quem participa de cada ação.</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Eu agrupei os requisitos funcionais para não apresentar apenas uma lista solta. Na parte de entrada, estão o recebimento por HTTP, a validação e os dois caminhos possíveis: processar por REST ou publicar no Kafka. Depois aparecem as funções que os dois fluxos precisam cumprir, como consumir, calcular o SHA-256 e persistir. Por último, entram alguns cuidados de confiabilidade, como impedir duplicidade, confirmar o offset depois da gravação e oferecer uma verificação de saúde. São comportamentos que eu consigo demonstrar e testar no protótipo.</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Já os requisitos não funcionais falam mais sobre a qualidade e as condições da comparação. Eu preciso garantir que as duas versões usem as mesmas regras e que o ambiente possa ser reproduzido com contêineres e versões conhecidas. Também decidi usar apenas dados sintéticos. Na parte assíncrona, é importante separar aceitação de conclusão e permitir reentrega sem duplicar o efeito. Além disso, identificadores e logs ajudam a acompanhar o que aconteceu. Eles não aparecem como uma função para o usuário, mas dão mais segurança para o experimento.</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 fechar, neste momento eu já tenho a base teórica, o planejamento do método, os requisitos, os diagramas e uma primeira versão do protótipo. As duas APIs, o consumidor e a persistência idempotente já estão estruturados. O próximo passo é colocar tudo para funcionar de forma integrada, fazer um teste piloto e, depois dos ajustes, manter os parâmetros fixos para executar as repetições. Só então eu vou conseguir analisar os resultados. Então, por enquanto, eu não estou apontando um vencedor; essa resposta deve surgir a partir dos experimentos.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2cba70476747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56f660b0c34e17" /><Relationship Type="http://schemas.openxmlformats.org/officeDocument/2006/relationships/slideLayout" Target="/ppt/slideLayouts/slideLayout1.xml" Id="R6df431c4f63642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f431c4f63642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e612a72d714d27" /><Relationship Type="http://schemas.openxmlformats.org/officeDocument/2006/relationships/notesSlide" Target="/ppt/notesSlides/notesSlide1.xml" Id="R682385f0e9964c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8408aedfff349e7" /><Relationship Type="http://schemas.openxmlformats.org/officeDocument/2006/relationships/notesSlide" Target="/ppt/notesSlides/notesSlide2.xml" Id="Reb88aac86d6448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6a7f48e36654198" /><Relationship Type="http://schemas.openxmlformats.org/officeDocument/2006/relationships/notesSlide" Target="/ppt/notesSlides/notesSlide3.xml" Id="R3fade17e1d6e4c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04ec0efa2f24d31" /><Relationship Type="http://schemas.openxmlformats.org/officeDocument/2006/relationships/notesSlide" Target="/ppt/notesSlides/notesSlide4.xml" Id="R1292ab03cc734b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ef958bc1894d98" /><Relationship Type="http://schemas.openxmlformats.org/officeDocument/2006/relationships/image" Target="/ppt/media/image.png" Id="Ra0009d92697242fe" /><Relationship Type="http://schemas.openxmlformats.org/officeDocument/2006/relationships/notesSlide" Target="/ppt/notesSlides/notesSlide5.xml" Id="R718e3ab17bf94b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1509b857b374ade" /><Relationship Type="http://schemas.openxmlformats.org/officeDocument/2006/relationships/image" Target="/ppt/media/image2.png" Id="R5e04a63dead84257" /><Relationship Type="http://schemas.openxmlformats.org/officeDocument/2006/relationships/notesSlide" Target="/ppt/notesSlides/notesSlide6.xml" Id="R6ea15d9d1b824a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941881a14d14a9c" /><Relationship Type="http://schemas.openxmlformats.org/officeDocument/2006/relationships/image" Target="/ppt/media/image3.png" Id="Ra67d8a7011a04196" /><Relationship Type="http://schemas.openxmlformats.org/officeDocument/2006/relationships/notesSlide" Target="/ppt/notesSlides/notesSlide7.xml" Id="Rfea18823fb3f47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c24eac0689d48ad" /><Relationship Type="http://schemas.openxmlformats.org/officeDocument/2006/relationships/notesSlide" Target="/ppt/notesSlides/notesSlide8.xml" Id="R7deb01a3c77546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8e81da4431a49f0" /><Relationship Type="http://schemas.openxmlformats.org/officeDocument/2006/relationships/image" Target="/ppt/media/image4.png" Id="R1d3d8de44b914c2f" /><Relationship Type="http://schemas.openxmlformats.org/officeDocument/2006/relationships/notesSlide" Target="/ppt/notesSlides/notesSlide9.xml" Id="R524136a27aa149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f9ce4e9b98542d1" /><Relationship Type="http://schemas.openxmlformats.org/officeDocument/2006/relationships/image" Target="/ppt/media/image5.png" Id="R7de1459444fc450a" /><Relationship Type="http://schemas.openxmlformats.org/officeDocument/2006/relationships/notesSlide" Target="/ppt/notesSlides/notesSlide10.xml" Id="R6ec069f9b5f54e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88bb60d60b24364" /><Relationship Type="http://schemas.openxmlformats.org/officeDocument/2006/relationships/notesSlide" Target="/ppt/notesSlides/notesSlide11.xml" Id="R02fc665eacc2480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d7311a9a585467c" /><Relationship Type="http://schemas.openxmlformats.org/officeDocument/2006/relationships/notesSlide" Target="/ppt/notesSlides/notesSlide12.xml" Id="R97a026b2b2914c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e262e00b9744520" /><Relationship Type="http://schemas.openxmlformats.org/officeDocument/2006/relationships/notesSlide" Target="/ppt/notesSlides/notesSlide13.xml" Id="R844f5eff9eac47c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 name="Title-3-1">
            <a:extLst xmlns:a="http://schemas.openxmlformats.org/drawingml/2006/main">
              <a:ext uri="{FF2B5EF4-FFF2-40B4-BE49-F238E27FC236}">
                <a16:creationId xmlns:a16="http://schemas.microsoft.com/office/drawing/2014/main" id="{B17466BC-E010-44D6-AE1B-2397B9F70D2C}"/>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REST síncrono
vs. eventos assíncronos</a:t>
            </a:r>
          </a:p>
        </p:txBody>
      </p:sp>
      <p:sp>
        <p:nvSpPr>
          <p:cNvPr id="2" name="Subtitle-4-2">
            <a:extLst xmlns:a="http://schemas.openxmlformats.org/drawingml/2006/main">
              <a:ext uri="{FF2B5EF4-FFF2-40B4-BE49-F238E27FC236}">
                <a16:creationId xmlns:a16="http://schemas.microsoft.com/office/drawing/2014/main" id="{89900D41-340F-44AD-8E64-79030E92B851}"/>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Uma análise experimental no processamento de registros
Ilan Wendling Thoele • 2026</a:t>
            </a:r>
          </a:p>
        </p:txBody>
      </p:sp>
      <p:sp>
        <p:nvSpPr>
          <p:cNvPr id="3" name="Subtitle-4-3">
            <a:extLst xmlns:a="http://schemas.openxmlformats.org/drawingml/2006/main">
              <a:ext uri="{FF2B5EF4-FFF2-40B4-BE49-F238E27FC236}">
                <a16:creationId xmlns:a16="http://schemas.microsoft.com/office/drawing/2014/main" id="{332A5383-CEB1-4958-9FF0-8B7D08ECC22E}"/>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TCC • ENTREGA 01</a:t>
            </a:r>
          </a:p>
        </p:txBody>
      </p:sp>
      <p:sp>
        <p:nvSpPr>
          <p:cNvPr id="4" name="">
            <a:extLst xmlns:a="http://schemas.openxmlformats.org/drawingml/2006/main">
              <a:ext uri="{FF2B5EF4-FFF2-40B4-BE49-F238E27FC236}">
                <a16:creationId xmlns:a16="http://schemas.microsoft.com/office/drawing/2014/main" id="{AB330C03-351B-4923-9B10-A015A82BD8D9}"/>
              </a:ext>
            </a:extLst>
          </p:cNvPr>
          <p:cNvSpPr>
            <a:spLocks xmlns:a="http://schemas.openxmlformats.org/drawingml/2006/main" noGrp="1"/>
          </p:cNvSpPr>
          <p:nvPr/>
        </p:nvSpPr>
        <p:spPr>
          <a:xfrm xmlns:a="http://schemas.openxmlformats.org/drawingml/2006/main">
            <a:off x="390525" y="1428750"/>
            <a:ext cx="1952625" cy="66675"/>
          </a:xfrm>
          <a:prstGeom xmlns:a="http://schemas.openxmlformats.org/drawingml/2006/main" prst="rect">
            <a:avLst/>
          </a:prstGeom>
          <a:solidFill xmlns:a="http://schemas.openxmlformats.org/drawingml/2006/main">
            <a:srgbClr val="F97316"/>
          </a:solidFill>
          <a:ln xmlns:a="http://schemas.openxmlformats.org/drawingml/2006/main" w="0">
            <a:solidFill>
              <a:srgbClr val="F97316"/>
            </a:solidFill>
            <a:prstDash val="solid"/>
          </a:ln>
        </p:spPr>
      </p:sp>
    </p:spTree>
    <p:extLst>
      <p:ext uri="{BB962C8B-B14F-4D97-AF65-F5344CB8AC3E}">
        <p14:creationId xmlns:p14="http://schemas.microsoft.com/office/powerpoint/2010/main" val="33918590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 name="Google-Shape-532-p58-2">
            <a:extLst xmlns:a="http://schemas.openxmlformats.org/drawingml/2006/main">
              <a:ext uri="{FF2B5EF4-FFF2-40B4-BE49-F238E27FC236}">
                <a16:creationId xmlns:a16="http://schemas.microsoft.com/office/drawing/2014/main" id="{7DE3476A-CED6-46F3-9FB2-931CB51B929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02</a:t>
            </a:r>
          </a:p>
        </p:txBody>
      </p:sp>
      <p:sp>
        <p:nvSpPr>
          <p:cNvPr id="2" name="Google-Shape-533-p58-3">
            <a:extLst xmlns:a="http://schemas.openxmlformats.org/drawingml/2006/main">
              <a:ext uri="{FF2B5EF4-FFF2-40B4-BE49-F238E27FC236}">
                <a16:creationId xmlns:a16="http://schemas.microsoft.com/office/drawing/2014/main" id="{7302EE34-5725-4FA3-8F22-0904109CB38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O mesmo evento pode ter dois momentos de conclusão</a:t>
            </a:r>
          </a:p>
        </p:txBody>
      </p:sp>
      <p:sp>
        <p:nvSpPr>
          <p:cNvPr id="3" name="Google-Shape-534-p58-4">
            <a:extLst xmlns:a="http://schemas.openxmlformats.org/drawingml/2006/main">
              <a:ext uri="{FF2B5EF4-FFF2-40B4-BE49-F238E27FC236}">
                <a16:creationId xmlns:a16="http://schemas.microsoft.com/office/drawing/2014/main" id="{26244555-E7A9-44CE-84EF-1846BE09E640}"/>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REST</a:t>
            </a:r>
          </a:p>
          <a:p xmlns:a="http://schemas.openxmlformats.org/drawingml/2006/main">
            <a:pPr algn="l">
              <a:defRPr sz="2400">
                <a:solidFill>
                  <a:srgbClr val="000000"/>
                </a:solidFill>
                <a:latin typeface="Helvetica Neue"/>
                <a:ea typeface="Helvetica Neue"/>
                <a:cs typeface="Helvetica Neue"/>
              </a:defRPr>
            </a:pPr>
            <a:r>
              <a:t>O cliente recebe a confirmação somente depois da persistência.</a:t>
            </a:r>
          </a:p>
        </p:txBody>
      </p:sp>
      <p:sp>
        <p:nvSpPr>
          <p:cNvPr id="4" name="Content-Placeholder-3-5">
            <a:extLst xmlns:a="http://schemas.openxmlformats.org/drawingml/2006/main">
              <a:ext uri="{FF2B5EF4-FFF2-40B4-BE49-F238E27FC236}">
                <a16:creationId xmlns:a16="http://schemas.microsoft.com/office/drawing/2014/main" id="{CE048021-64D5-45F9-908C-9C2DDA69231D}"/>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EVENTOS</a:t>
            </a:r>
          </a:p>
          <a:p xmlns:a="http://schemas.openxmlformats.org/drawingml/2006/main">
            <a:pPr algn="l">
              <a:defRPr sz="2400">
                <a:solidFill>
                  <a:srgbClr val="000000"/>
                </a:solidFill>
                <a:latin typeface="Helvetica Neue"/>
                <a:ea typeface="Helvetica Neue"/>
                <a:cs typeface="Helvetica Neue"/>
              </a:defRPr>
            </a:pPr>
            <a:r>
              <a:t>O cliente recebe a aceitação antes do processamento posterior.</a:t>
            </a:r>
          </a:p>
        </p:txBody>
      </p:sp>
      <p:sp>
        <p:nvSpPr>
          <p:cNvPr id="5" name="">
            <a:extLst xmlns:a="http://schemas.openxmlformats.org/drawingml/2006/main">
              <a:ext uri="{FF2B5EF4-FFF2-40B4-BE49-F238E27FC236}">
                <a16:creationId xmlns:a16="http://schemas.microsoft.com/office/drawing/2014/main" id="{C6B2AD94-CECB-4AFE-9341-7C699EC34637}"/>
              </a:ext>
            </a:extLst>
          </p:cNvPr>
          <p:cNvSpPr>
            <a:spLocks xmlns:a="http://schemas.openxmlformats.org/drawingml/2006/main" noGrp="1"/>
          </p:cNvSpPr>
          <p:nvPr/>
        </p:nvSpPr>
        <p:spPr>
          <a:xfrm xmlns:a="http://schemas.openxmlformats.org/drawingml/2006/main">
            <a:off x="390525" y="1628775"/>
            <a:ext cx="11049000" cy="66675"/>
          </a:xfrm>
          <a:prstGeom xmlns:a="http://schemas.openxmlformats.org/drawingml/2006/main" prst="rect">
            <a:avLst/>
          </a:prstGeom>
          <a:solidFill xmlns:a="http://schemas.openxmlformats.org/drawingml/2006/main">
            <a:srgbClr val="F97316"/>
          </a:solidFill>
          <a:ln xmlns:a="http://schemas.openxmlformats.org/drawingml/2006/main" w="0">
            <a:solidFill>
              <a:srgbClr val="F97316"/>
            </a:solidFill>
            <a:prstDash val="solid"/>
          </a:ln>
        </p:spPr>
      </p:sp>
      <p:sp>
        <p:nvSpPr>
          <p:cNvPr id="6" name="">
            <a:extLst xmlns:a="http://schemas.openxmlformats.org/drawingml/2006/main">
              <a:ext uri="{FF2B5EF4-FFF2-40B4-BE49-F238E27FC236}">
                <a16:creationId xmlns:a16="http://schemas.microsoft.com/office/drawing/2014/main" id="{8FB9018C-2936-4A90-8053-8415128C18C5}"/>
              </a:ext>
            </a:extLst>
          </p:cNvPr>
          <p:cNvSpPr>
            <a:spLocks xmlns:a="http://schemas.openxmlformats.org/drawingml/2006/main" noGrp="1"/>
          </p:cNvSpPr>
          <p:nvPr/>
        </p:nvSpPr>
        <p:spPr>
          <a:xfrm xmlns:a="http://schemas.openxmlformats.org/drawingml/2006/main">
            <a:off x="400050" y="5191125"/>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F766E"/>
                </a:solidFill>
                <a:latin typeface="Helvetica Neue"/>
                <a:ea typeface="Helvetica Neue"/>
                <a:cs typeface="Helvetica Neue"/>
              </a:defRPr>
            </a:pPr>
            <a:r>
              <a:rPr sz="1950" b="1">
                <a:solidFill>
                  <a:srgbClr val="0F766E"/>
                </a:solidFill>
                <a:latin typeface="Helvetica Neue"/>
                <a:ea typeface="Helvetica Neue"/>
                <a:cs typeface="Helvetica Neue"/>
              </a:rPr>
              <a:t>201 = persistido</a:t>
            </a:r>
          </a:p>
        </p:txBody>
      </p:sp>
      <p:sp>
        <p:nvSpPr>
          <p:cNvPr id="7" name="">
            <a:extLst xmlns:a="http://schemas.openxmlformats.org/drawingml/2006/main">
              <a:ext uri="{FF2B5EF4-FFF2-40B4-BE49-F238E27FC236}">
                <a16:creationId xmlns:a16="http://schemas.microsoft.com/office/drawing/2014/main" id="{F4A89676-DDF3-462F-99EF-FADE6174113D}"/>
              </a:ext>
            </a:extLst>
          </p:cNvPr>
          <p:cNvSpPr>
            <a:spLocks xmlns:a="http://schemas.openxmlformats.org/drawingml/2006/main" noGrp="1"/>
          </p:cNvSpPr>
          <p:nvPr/>
        </p:nvSpPr>
        <p:spPr>
          <a:xfrm xmlns:a="http://schemas.openxmlformats.org/drawingml/2006/main">
            <a:off x="6267450" y="5191125"/>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C2410C"/>
                </a:solidFill>
                <a:latin typeface="Helvetica Neue"/>
                <a:ea typeface="Helvetica Neue"/>
                <a:cs typeface="Helvetica Neue"/>
              </a:defRPr>
            </a:pPr>
            <a:r>
              <a:rPr sz="1950" b="1">
                <a:solidFill>
                  <a:srgbClr val="C2410C"/>
                </a:solidFill>
                <a:latin typeface="Helvetica Neue"/>
                <a:ea typeface="Helvetica Neue"/>
                <a:cs typeface="Helvetica Neue"/>
              </a:rPr>
              <a:t>202 = aceito, ainda não concluído</a:t>
            </a:r>
          </a:p>
        </p:txBody>
      </p:sp>
    </p:spTree>
    <p:extLst>
      <p:ext uri="{BB962C8B-B14F-4D97-AF65-F5344CB8AC3E}">
        <p14:creationId xmlns:p14="http://schemas.microsoft.com/office/powerpoint/2010/main" val="72673495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Google-Shape-532-p58-2">
            <a:extLst xmlns:a="http://schemas.openxmlformats.org/drawingml/2006/main">
              <a:ext uri="{FF2B5EF4-FFF2-40B4-BE49-F238E27FC236}">
                <a16:creationId xmlns:a16="http://schemas.microsoft.com/office/drawing/2014/main" id="{EBDE1CE0-6BD3-4C9A-937B-D63E42F0A6A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03</a:t>
            </a:r>
          </a:p>
        </p:txBody>
      </p:sp>
      <p:sp>
        <p:nvSpPr>
          <p:cNvPr id="2" name="Google-Shape-533-p58-3">
            <a:extLst xmlns:a="http://schemas.openxmlformats.org/drawingml/2006/main">
              <a:ext uri="{FF2B5EF4-FFF2-40B4-BE49-F238E27FC236}">
                <a16:creationId xmlns:a16="http://schemas.microsoft.com/office/drawing/2014/main" id="{7C3C1FA2-4EAB-40BD-9E55-8A6ACC11919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A pergunta investiga trade-offs — não um vencedor universal</a:t>
            </a:r>
          </a:p>
        </p:txBody>
      </p:sp>
      <p:sp>
        <p:nvSpPr>
          <p:cNvPr id="3" name="Google-Shape-534-p58-4">
            <a:extLst xmlns:a="http://schemas.openxmlformats.org/drawingml/2006/main">
              <a:ext uri="{FF2B5EF4-FFF2-40B4-BE49-F238E27FC236}">
                <a16:creationId xmlns:a16="http://schemas.microsoft.com/office/drawing/2014/main" id="{B2612635-A914-4875-BD6D-E067513A52E6}"/>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PERGUNTA</a:t>
            </a:r>
          </a:p>
          <a:p xmlns:a="http://schemas.openxmlformats.org/drawingml/2006/main">
            <a:pPr algn="l">
              <a:defRPr sz="2400">
                <a:solidFill>
                  <a:srgbClr val="000000"/>
                </a:solidFill>
                <a:latin typeface="Helvetica Neue"/>
                <a:ea typeface="Helvetica Neue"/>
                <a:cs typeface="Helvetica Neue"/>
              </a:defRPr>
            </a:pPr>
            <a:r>
              <a:t>Quais trade-offs de desempenho e resiliência aparecem entre REST síncrono e comunicação orientada a eventos?</a:t>
            </a:r>
          </a:p>
        </p:txBody>
      </p:sp>
      <p:sp>
        <p:nvSpPr>
          <p:cNvPr id="4" name="Content-Placeholder-3-5">
            <a:extLst xmlns:a="http://schemas.openxmlformats.org/drawingml/2006/main">
              <a:ext uri="{FF2B5EF4-FFF2-40B4-BE49-F238E27FC236}">
                <a16:creationId xmlns:a16="http://schemas.microsoft.com/office/drawing/2014/main" id="{013A8558-424D-4A3C-BECB-33C5BDA2B90A}"/>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OBJETIVO</a:t>
            </a:r>
          </a:p>
          <a:p xmlns:a="http://schemas.openxmlformats.org/drawingml/2006/main">
            <a:pPr algn="l">
              <a:defRPr sz="2400">
                <a:solidFill>
                  <a:srgbClr val="000000"/>
                </a:solidFill>
                <a:latin typeface="Helvetica Neue"/>
                <a:ea typeface="Helvetica Neue"/>
                <a:cs typeface="Helvetica Neue"/>
              </a:defRPr>
            </a:pPr>
            <a:r>
              <a:t>Comparar as duas implementações sob o mesmo contrato, carga, processamento e banco de dados.</a:t>
            </a:r>
          </a:p>
        </p:txBody>
      </p:sp>
      <p:sp>
        <p:nvSpPr>
          <p:cNvPr id="5" name="">
            <a:extLst xmlns:a="http://schemas.openxmlformats.org/drawingml/2006/main">
              <a:ext uri="{FF2B5EF4-FFF2-40B4-BE49-F238E27FC236}">
                <a16:creationId xmlns:a16="http://schemas.microsoft.com/office/drawing/2014/main" id="{190E09E3-6579-451F-8873-4264E73FE554}"/>
              </a:ext>
            </a:extLst>
          </p:cNvPr>
          <p:cNvSpPr>
            <a:spLocks xmlns:a="http://schemas.openxmlformats.org/drawingml/2006/main" noGrp="1"/>
          </p:cNvSpPr>
          <p:nvPr/>
        </p:nvSpPr>
        <p:spPr>
          <a:xfrm xmlns:a="http://schemas.openxmlformats.org/drawingml/2006/main">
            <a:off x="390525" y="1628775"/>
            <a:ext cx="11049000" cy="66675"/>
          </a:xfrm>
          <a:prstGeom xmlns:a="http://schemas.openxmlformats.org/drawingml/2006/main" prst="rect">
            <a:avLst/>
          </a:prstGeom>
          <a:solidFill xmlns:a="http://schemas.openxmlformats.org/drawingml/2006/main">
            <a:srgbClr val="F97316"/>
          </a:solidFill>
          <a:ln xmlns:a="http://schemas.openxmlformats.org/drawingml/2006/main" w="0">
            <a:solidFill>
              <a:srgbClr val="F97316"/>
            </a:solidFill>
            <a:prstDash val="solid"/>
          </a:ln>
        </p:spPr>
      </p:sp>
    </p:spTree>
    <p:extLst>
      <p:ext uri="{BB962C8B-B14F-4D97-AF65-F5344CB8AC3E}">
        <p14:creationId xmlns:p14="http://schemas.microsoft.com/office/powerpoint/2010/main" val="19452733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2EFBBB60-2437-4D1C-8B47-7AA5E15BC32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04</a:t>
            </a:r>
          </a:p>
        </p:txBody>
      </p:sp>
      <p:sp>
        <p:nvSpPr>
          <p:cNvPr id="2" name="Google-Shape-533-p58-3">
            <a:extLst xmlns:a="http://schemas.openxmlformats.org/drawingml/2006/main">
              <a:ext uri="{FF2B5EF4-FFF2-40B4-BE49-F238E27FC236}">
                <a16:creationId xmlns:a16="http://schemas.microsoft.com/office/drawing/2014/main" id="{13EB35DF-13B7-42B7-BCB9-641EA049A16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A literatura reforça que a resposta depende do contexto</a:t>
            </a:r>
          </a:p>
        </p:txBody>
      </p:sp>
      <p:sp>
        <p:nvSpPr>
          <p:cNvPr id="3" name="Google-Shape-534-p58-4">
            <a:extLst xmlns:a="http://schemas.openxmlformats.org/drawingml/2006/main">
              <a:ext uri="{FF2B5EF4-FFF2-40B4-BE49-F238E27FC236}">
                <a16:creationId xmlns:a16="http://schemas.microsoft.com/office/drawing/2014/main" id="{D65DC013-E615-457B-90D7-217CFBE5B5E7}"/>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EDA</a:t>
            </a:r>
          </a:p>
          <a:p xmlns:a="http://schemas.openxmlformats.org/drawingml/2006/main">
            <a:pPr algn="l">
              <a:defRPr sz="2400">
                <a:solidFill>
                  <a:srgbClr val="000000"/>
                </a:solidFill>
                <a:latin typeface="Helvetica Neue"/>
                <a:ea typeface="Helvetica Neue"/>
                <a:cs typeface="Helvetica Neue"/>
              </a:defRPr>
            </a:pPr>
            <a:r>
              <a:t>Os efeitos mudam conforme carga, domínio e critérios avaliados.</a:t>
            </a:r>
          </a:p>
        </p:txBody>
      </p:sp>
      <p:sp>
        <p:nvSpPr>
          <p:cNvPr id="4" name="Content-Placeholder-1-5">
            <a:extLst xmlns:a="http://schemas.openxmlformats.org/drawingml/2006/main">
              <a:ext uri="{FF2B5EF4-FFF2-40B4-BE49-F238E27FC236}">
                <a16:creationId xmlns:a16="http://schemas.microsoft.com/office/drawing/2014/main" id="{1F26A37E-602D-4F53-A356-0EF27392A112}"/>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CUSTO</a:t>
            </a:r>
          </a:p>
          <a:p xmlns:a="http://schemas.openxmlformats.org/drawingml/2006/main">
            <a:pPr algn="l">
              <a:defRPr sz="2400">
                <a:solidFill>
                  <a:srgbClr val="000000"/>
                </a:solidFill>
                <a:latin typeface="Helvetica Neue"/>
                <a:ea typeface="Helvetica Neue"/>
                <a:cs typeface="Helvetica Neue"/>
              </a:defRPr>
            </a:pPr>
            <a:r>
              <a:t>Desacoplamento também adiciona infraestrutura e novos modos de falha.</a:t>
            </a:r>
          </a:p>
        </p:txBody>
      </p:sp>
      <p:sp>
        <p:nvSpPr>
          <p:cNvPr id="5" name="Content-Placeholder-2-6">
            <a:extLst xmlns:a="http://schemas.openxmlformats.org/drawingml/2006/main">
              <a:ext uri="{FF2B5EF4-FFF2-40B4-BE49-F238E27FC236}">
                <a16:creationId xmlns:a16="http://schemas.microsoft.com/office/drawing/2014/main" id="{C9C065B2-BFF0-4FF7-BA13-F639A28D7B97}"/>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MECANISMOS</a:t>
            </a:r>
          </a:p>
          <a:p xmlns:a="http://schemas.openxmlformats.org/drawingml/2006/main">
            <a:pPr algn="l">
              <a:defRPr sz="2400">
                <a:solidFill>
                  <a:srgbClr val="000000"/>
                </a:solidFill>
                <a:latin typeface="Helvetica Neue"/>
                <a:ea typeface="Helvetica Neue"/>
                <a:cs typeface="Helvetica Neue"/>
              </a:defRPr>
            </a:pPr>
            <a:r>
              <a:t>REST e mensageria atendem necessidades arquiteturais diferentes.</a:t>
            </a:r>
          </a:p>
        </p:txBody>
      </p:sp>
      <p:sp>
        <p:nvSpPr>
          <p:cNvPr id="6" name="">
            <a:extLst xmlns:a="http://schemas.openxmlformats.org/drawingml/2006/main">
              <a:ext uri="{FF2B5EF4-FFF2-40B4-BE49-F238E27FC236}">
                <a16:creationId xmlns:a16="http://schemas.microsoft.com/office/drawing/2014/main" id="{481C98A3-0217-4073-B7EC-45647B6EEE3F}"/>
              </a:ext>
            </a:extLst>
          </p:cNvPr>
          <p:cNvSpPr>
            <a:spLocks xmlns:a="http://schemas.openxmlformats.org/drawingml/2006/main" noGrp="1"/>
          </p:cNvSpPr>
          <p:nvPr/>
        </p:nvSpPr>
        <p:spPr>
          <a:xfrm xmlns:a="http://schemas.openxmlformats.org/drawingml/2006/main">
            <a:off x="390525" y="1628775"/>
            <a:ext cx="11049000" cy="66675"/>
          </a:xfrm>
          <a:prstGeom xmlns:a="http://schemas.openxmlformats.org/drawingml/2006/main" prst="rect">
            <a:avLst/>
          </a:prstGeom>
          <a:solidFill xmlns:a="http://schemas.openxmlformats.org/drawingml/2006/main">
            <a:srgbClr val="F97316"/>
          </a:solidFill>
          <a:ln xmlns:a="http://schemas.openxmlformats.org/drawingml/2006/main" w="0">
            <a:solidFill>
              <a:srgbClr val="F97316"/>
            </a:solidFill>
            <a:prstDash val="solid"/>
          </a:ln>
        </p:spPr>
      </p:sp>
    </p:spTree>
    <p:extLst>
      <p:ext uri="{BB962C8B-B14F-4D97-AF65-F5344CB8AC3E}">
        <p14:creationId xmlns:p14="http://schemas.microsoft.com/office/powerpoint/2010/main" val="106471993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9D2BC735-F067-4CDA-9546-6F9EBAF28F0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05</a:t>
            </a:r>
          </a:p>
        </p:txBody>
      </p:sp>
      <p:sp>
        <p:nvSpPr>
          <p:cNvPr id="2" name="Google-Shape-533-p58-3">
            <a:extLst xmlns:a="http://schemas.openxmlformats.org/drawingml/2006/main">
              <a:ext uri="{FF2B5EF4-FFF2-40B4-BE49-F238E27FC236}">
                <a16:creationId xmlns:a16="http://schemas.microsoft.com/office/drawing/2014/main" id="{7A61347A-91FE-41A8-8570-4D648410BD5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A comparação muda uma variável e mantém o restante equivalente</a:t>
            </a:r>
          </a:p>
        </p:txBody>
      </p:sp>
      <p:sp>
        <p:nvSpPr>
          <p:cNvPr id="3" name="Google-Shape-534-p58-4">
            <a:extLst xmlns:a="http://schemas.openxmlformats.org/drawingml/2006/main">
              <a:ext uri="{FF2B5EF4-FFF2-40B4-BE49-F238E27FC236}">
                <a16:creationId xmlns:a16="http://schemas.microsoft.com/office/drawing/2014/main" id="{F18340E3-8B54-4EB0-8E8E-377DAF9CA8D5}"/>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sp>
        <p:nvSpPr>
          <p:cNvPr id="4" name="Content-Placeholder-3-5">
            <a:extLst xmlns:a="http://schemas.openxmlformats.org/drawingml/2006/main">
              <a:ext uri="{FF2B5EF4-FFF2-40B4-BE49-F238E27FC236}">
                <a16:creationId xmlns:a16="http://schemas.microsoft.com/office/drawing/2014/main" id="{9C549D8C-576F-4A28-A74E-722F94DC8527}"/>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0009d92697242fe"/>
          <a:stretch xmlns:a="http://schemas.openxmlformats.org/drawingml/2006/main"/>
        </p:blipFill>
        <p:spPr>
          <a:xfrm xmlns:a="http://schemas.openxmlformats.org/drawingml/2006/main">
            <a:off x="4087416" y="1476375"/>
            <a:ext cx="4017169"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84B1161-1773-4DC5-B622-DCF1E6EED489}"/>
              </a:ext>
            </a:extLst>
          </p:cNvPr>
          <p:cNvSpPr>
            <a:spLocks xmlns:a="http://schemas.openxmlformats.org/drawingml/2006/main" noGrp="1"/>
          </p:cNvSpPr>
          <p:nvPr/>
        </p:nvSpPr>
        <p:spPr>
          <a:xfrm xmlns:a="http://schemas.openxmlformats.org/drawingml/2006/main">
            <a:off x="2000250" y="5810250"/>
            <a:ext cx="819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475569"/>
                </a:solidFill>
                <a:latin typeface="Helvetica Neue"/>
                <a:ea typeface="Helvetica Neue"/>
                <a:cs typeface="Helvetica Neue"/>
              </a:defRPr>
            </a:pPr>
            <a:r>
              <a:rPr sz="1650" b="1">
                <a:solidFill>
                  <a:srgbClr val="475569"/>
                </a:solidFill>
                <a:latin typeface="Helvetica Neue"/>
                <a:ea typeface="Helvetica Neue"/>
                <a:cs typeface="Helvetica Neue"/>
              </a:rPr>
              <a:t>Mesmo evento • mesmo processamento • mesmo PostgreSQL</a:t>
            </a:r>
          </a:p>
        </p:txBody>
      </p:sp>
    </p:spTree>
    <p:extLst>
      <p:ext uri="{BB962C8B-B14F-4D97-AF65-F5344CB8AC3E}">
        <p14:creationId xmlns:p14="http://schemas.microsoft.com/office/powerpoint/2010/main" val="5999934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EC186222-44ED-4472-A053-C5954B15147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06</a:t>
            </a:r>
          </a:p>
        </p:txBody>
      </p:sp>
      <p:sp>
        <p:nvSpPr>
          <p:cNvPr id="2" name="Google-Shape-533-p58-3">
            <a:extLst xmlns:a="http://schemas.openxmlformats.org/drawingml/2006/main">
              <a:ext uri="{FF2B5EF4-FFF2-40B4-BE49-F238E27FC236}">
                <a16:creationId xmlns:a16="http://schemas.microsoft.com/office/drawing/2014/main" id="{4536B3BD-C6DD-4B0A-8DB8-D2366591A80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No fluxo REST, persistência faz parte do caminho crítico</a:t>
            </a:r>
          </a:p>
        </p:txBody>
      </p:sp>
      <p:sp>
        <p:nvSpPr>
          <p:cNvPr id="3" name="Google-Shape-534-p58-4">
            <a:extLst xmlns:a="http://schemas.openxmlformats.org/drawingml/2006/main">
              <a:ext uri="{FF2B5EF4-FFF2-40B4-BE49-F238E27FC236}">
                <a16:creationId xmlns:a16="http://schemas.microsoft.com/office/drawing/2014/main" id="{95C2C71C-776B-47A5-AC62-2E83AB45EC14}"/>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sp>
        <p:nvSpPr>
          <p:cNvPr id="4" name="Content-Placeholder-3-5">
            <a:extLst xmlns:a="http://schemas.openxmlformats.org/drawingml/2006/main">
              <a:ext uri="{FF2B5EF4-FFF2-40B4-BE49-F238E27FC236}">
                <a16:creationId xmlns:a16="http://schemas.microsoft.com/office/drawing/2014/main" id="{75C8AC5F-0BB7-4262-86EC-F6415EED7628}"/>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e04a63dead84257"/>
          <a:stretch xmlns:a="http://schemas.openxmlformats.org/drawingml/2006/main"/>
        </p:blipFill>
        <p:spPr>
          <a:xfrm xmlns:a="http://schemas.openxmlformats.org/drawingml/2006/main">
            <a:off x="3689120" y="1285875"/>
            <a:ext cx="4813759"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1910AD9-CC19-465D-8A5C-264FA1140689}"/>
              </a:ext>
            </a:extLst>
          </p:cNvPr>
          <p:cNvSpPr>
            <a:spLocks xmlns:a="http://schemas.openxmlformats.org/drawingml/2006/main" noGrp="1"/>
          </p:cNvSpPr>
          <p:nvPr/>
        </p:nvSpPr>
        <p:spPr>
          <a:xfrm xmlns:a="http://schemas.openxmlformats.org/drawingml/2006/main">
            <a:off x="1619250" y="5381625"/>
            <a:ext cx="895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0F766E"/>
                </a:solidFill>
                <a:latin typeface="Helvetica Neue"/>
                <a:ea typeface="Helvetica Neue"/>
                <a:cs typeface="Helvetica Neue"/>
              </a:defRPr>
            </a:pPr>
            <a:r>
              <a:rPr sz="2100" b="1">
                <a:solidFill>
                  <a:srgbClr val="0F766E"/>
                </a:solidFill>
                <a:latin typeface="Helvetica Neue"/>
                <a:ea typeface="Helvetica Neue"/>
                <a:cs typeface="Helvetica Neue"/>
              </a:rPr>
              <a:t>O cliente aguarda validação, processamento e banco.</a:t>
            </a:r>
          </a:p>
        </p:txBody>
      </p:sp>
    </p:spTree>
    <p:extLst>
      <p:ext uri="{BB962C8B-B14F-4D97-AF65-F5344CB8AC3E}">
        <p14:creationId xmlns:p14="http://schemas.microsoft.com/office/powerpoint/2010/main" val="37273659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1AE35247-3694-4142-BEC3-CD749A04FDA1}"/>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07</a:t>
            </a:r>
          </a:p>
        </p:txBody>
      </p:sp>
      <p:sp>
        <p:nvSpPr>
          <p:cNvPr id="2" name="Google-Shape-533-p58-3">
            <a:extLst xmlns:a="http://schemas.openxmlformats.org/drawingml/2006/main">
              <a:ext uri="{FF2B5EF4-FFF2-40B4-BE49-F238E27FC236}">
                <a16:creationId xmlns:a16="http://schemas.microsoft.com/office/drawing/2014/main" id="{0C2B8F5A-4F88-40DE-9EE9-971C0400B31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No fluxo assíncrono, aceitação e conclusão são separadas</a:t>
            </a:r>
          </a:p>
        </p:txBody>
      </p:sp>
      <p:sp>
        <p:nvSpPr>
          <p:cNvPr id="3" name="Google-Shape-534-p58-4">
            <a:extLst xmlns:a="http://schemas.openxmlformats.org/drawingml/2006/main">
              <a:ext uri="{FF2B5EF4-FFF2-40B4-BE49-F238E27FC236}">
                <a16:creationId xmlns:a16="http://schemas.microsoft.com/office/drawing/2014/main" id="{A628230F-18F6-4F4F-8749-6C11AD45A6CB}"/>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sp>
        <p:nvSpPr>
          <p:cNvPr id="4" name="Content-Placeholder-3-5">
            <a:extLst xmlns:a="http://schemas.openxmlformats.org/drawingml/2006/main">
              <a:ext uri="{FF2B5EF4-FFF2-40B4-BE49-F238E27FC236}">
                <a16:creationId xmlns:a16="http://schemas.microsoft.com/office/drawing/2014/main" id="{D1EC67DA-0CD3-4660-8772-2676A544FBA4}"/>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67d8a7011a04196"/>
          <a:stretch xmlns:a="http://schemas.openxmlformats.org/drawingml/2006/main"/>
        </p:blipFill>
        <p:spPr>
          <a:xfrm xmlns:a="http://schemas.openxmlformats.org/drawingml/2006/main">
            <a:off x="3436239" y="1285875"/>
            <a:ext cx="5319522"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7F5DB15-EDE5-4454-AA12-A127AE70629E}"/>
              </a:ext>
            </a:extLst>
          </p:cNvPr>
          <p:cNvSpPr>
            <a:spLocks xmlns:a="http://schemas.openxmlformats.org/drawingml/2006/main" noGrp="1"/>
          </p:cNvSpPr>
          <p:nvPr/>
        </p:nvSpPr>
        <p:spPr>
          <a:xfrm xmlns:a="http://schemas.openxmlformats.org/drawingml/2006/main">
            <a:off x="2000250" y="5715000"/>
            <a:ext cx="8191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C2410C"/>
                </a:solidFill>
                <a:latin typeface="Helvetica Neue"/>
                <a:ea typeface="Helvetica Neue"/>
                <a:cs typeface="Helvetica Neue"/>
              </a:defRPr>
            </a:pPr>
            <a:r>
              <a:rPr sz="1950" b="1">
                <a:solidFill>
                  <a:srgbClr val="C2410C"/>
                </a:solidFill>
                <a:latin typeface="Helvetica Neue"/>
                <a:ea typeface="Helvetica Neue"/>
                <a:cs typeface="Helvetica Neue"/>
              </a:rPr>
              <a:t>O offset só é confirmado depois da persistência.</a:t>
            </a:r>
          </a:p>
        </p:txBody>
      </p:sp>
    </p:spTree>
    <p:extLst>
      <p:ext uri="{BB962C8B-B14F-4D97-AF65-F5344CB8AC3E}">
        <p14:creationId xmlns:p14="http://schemas.microsoft.com/office/powerpoint/2010/main" val="11968925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3E2C7F90-CC45-42B0-AC35-C2EAB0D595C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08</a:t>
            </a:r>
          </a:p>
        </p:txBody>
      </p:sp>
      <p:sp>
        <p:nvSpPr>
          <p:cNvPr id="2" name="Google-Shape-533-p58-3">
            <a:extLst xmlns:a="http://schemas.openxmlformats.org/drawingml/2006/main">
              <a:ext uri="{FF2B5EF4-FFF2-40B4-BE49-F238E27FC236}">
                <a16:creationId xmlns:a16="http://schemas.microsoft.com/office/drawing/2014/main" id="{FC9DF124-3374-41E6-87D8-90FB46D8115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O protocolo mede desempenho e recuperação sob as mesmas condições</a:t>
            </a:r>
          </a:p>
        </p:txBody>
      </p:sp>
      <p:sp>
        <p:nvSpPr>
          <p:cNvPr id="3" name="Google-Shape-534-p58-4">
            <a:extLst xmlns:a="http://schemas.openxmlformats.org/drawingml/2006/main">
              <a:ext uri="{FF2B5EF4-FFF2-40B4-BE49-F238E27FC236}">
                <a16:creationId xmlns:a16="http://schemas.microsoft.com/office/drawing/2014/main" id="{E894133F-1556-4CBA-8309-262D3090164D}"/>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CENÁRIOS</a:t>
            </a:r>
          </a:p>
          <a:p xmlns:a="http://schemas.openxmlformats.org/drawingml/2006/main">
            <a:pPr algn="l">
              <a:defRPr sz="2400">
                <a:solidFill>
                  <a:srgbClr val="000000"/>
                </a:solidFill>
                <a:latin typeface="Helvetica Neue"/>
                <a:ea typeface="Helvetica Neue"/>
                <a:cs typeface="Helvetica Neue"/>
              </a:defRPr>
            </a:pPr>
            <a:r>
              <a:t>Carga baixa
Carga crescente
Indisponibilidade
Recuperação</a:t>
            </a:r>
          </a:p>
        </p:txBody>
      </p:sp>
      <p:sp>
        <p:nvSpPr>
          <p:cNvPr id="4" name="Content-Placeholder-1-5">
            <a:extLst xmlns:a="http://schemas.openxmlformats.org/drawingml/2006/main">
              <a:ext uri="{FF2B5EF4-FFF2-40B4-BE49-F238E27FC236}">
                <a16:creationId xmlns:a16="http://schemas.microsoft.com/office/drawing/2014/main" id="{DA5F8C60-677D-4C89-A447-594370AE216E}"/>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CONTROLES</a:t>
            </a:r>
          </a:p>
          <a:p xmlns:a="http://schemas.openxmlformats.org/drawingml/2006/main">
            <a:pPr algn="l">
              <a:defRPr sz="2400">
                <a:solidFill>
                  <a:srgbClr val="000000"/>
                </a:solidFill>
                <a:latin typeface="Helvetica Neue"/>
                <a:ea typeface="Helvetica Neue"/>
                <a:cs typeface="Helvetica Neue"/>
              </a:defRPr>
            </a:pPr>
            <a:r>
              <a:t>Mesma máquina
Mesmos dados
Repetições
Ordem randomizada</a:t>
            </a:r>
          </a:p>
        </p:txBody>
      </p:sp>
      <p:sp>
        <p:nvSpPr>
          <p:cNvPr id="5" name="Content-Placeholder-2-6">
            <a:extLst xmlns:a="http://schemas.openxmlformats.org/drawingml/2006/main">
              <a:ext uri="{FF2B5EF4-FFF2-40B4-BE49-F238E27FC236}">
                <a16:creationId xmlns:a16="http://schemas.microsoft.com/office/drawing/2014/main" id="{F36476B3-F3A1-4E97-ACC8-B52CF7EDE81F}"/>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MÉTRICAS</a:t>
            </a:r>
          </a:p>
          <a:p xmlns:a="http://schemas.openxmlformats.org/drawingml/2006/main">
            <a:pPr algn="l">
              <a:defRPr sz="2400">
                <a:solidFill>
                  <a:srgbClr val="000000"/>
                </a:solidFill>
                <a:latin typeface="Helvetica Neue"/>
                <a:ea typeface="Helvetica Neue"/>
                <a:cs typeface="Helvetica Neue"/>
              </a:defRPr>
            </a:pPr>
            <a:r>
              <a:t>Latência p50/p95/p99
Throughput
Erros
Tempo de recuperação</a:t>
            </a:r>
          </a:p>
        </p:txBody>
      </p:sp>
      <p:sp>
        <p:nvSpPr>
          <p:cNvPr id="6" name="">
            <a:extLst xmlns:a="http://schemas.openxmlformats.org/drawingml/2006/main">
              <a:ext uri="{FF2B5EF4-FFF2-40B4-BE49-F238E27FC236}">
                <a16:creationId xmlns:a16="http://schemas.microsoft.com/office/drawing/2014/main" id="{F5B7E673-CC86-4AB6-B63B-0ED8EC963657}"/>
              </a:ext>
            </a:extLst>
          </p:cNvPr>
          <p:cNvSpPr>
            <a:spLocks xmlns:a="http://schemas.openxmlformats.org/drawingml/2006/main" noGrp="1"/>
          </p:cNvSpPr>
          <p:nvPr/>
        </p:nvSpPr>
        <p:spPr>
          <a:xfrm xmlns:a="http://schemas.openxmlformats.org/drawingml/2006/main">
            <a:off x="390525" y="1628775"/>
            <a:ext cx="11049000" cy="66675"/>
          </a:xfrm>
          <a:prstGeom xmlns:a="http://schemas.openxmlformats.org/drawingml/2006/main" prst="rect">
            <a:avLst/>
          </a:prstGeom>
          <a:solidFill xmlns:a="http://schemas.openxmlformats.org/drawingml/2006/main">
            <a:srgbClr val="F97316"/>
          </a:solidFill>
          <a:ln xmlns:a="http://schemas.openxmlformats.org/drawingml/2006/main" w="0">
            <a:solidFill>
              <a:srgbClr val="F97316"/>
            </a:solidFill>
            <a:prstDash val="solid"/>
          </a:ln>
        </p:spPr>
      </p:sp>
    </p:spTree>
    <p:extLst>
      <p:ext uri="{BB962C8B-B14F-4D97-AF65-F5344CB8AC3E}">
        <p14:creationId xmlns:p14="http://schemas.microsoft.com/office/powerpoint/2010/main" val="117518955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CA66ACBA-AF49-46F2-860A-A1A5E810208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09</a:t>
            </a:r>
          </a:p>
        </p:txBody>
      </p:sp>
      <p:sp>
        <p:nvSpPr>
          <p:cNvPr id="2" name="Google-Shape-533-p58-3">
            <a:extLst xmlns:a="http://schemas.openxmlformats.org/drawingml/2006/main">
              <a:ext uri="{FF2B5EF4-FFF2-40B4-BE49-F238E27FC236}">
                <a16:creationId xmlns:a16="http://schemas.microsoft.com/office/drawing/2014/main" id="{CBF89834-ABA1-41BC-A242-B3FCA8FDFF1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O protótipo já contém as duas variantes e o núcleo compartilhado</a:t>
            </a:r>
          </a:p>
        </p:txBody>
      </p:sp>
      <p:sp>
        <p:nvSpPr>
          <p:cNvPr id="3" name="Google-Shape-534-p58-4">
            <a:extLst xmlns:a="http://schemas.openxmlformats.org/drawingml/2006/main">
              <a:ext uri="{FF2B5EF4-FFF2-40B4-BE49-F238E27FC236}">
                <a16:creationId xmlns:a16="http://schemas.microsoft.com/office/drawing/2014/main" id="{B3181483-0953-41CB-883D-84111A416F56}"/>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sp>
        <p:nvSpPr>
          <p:cNvPr id="4" name="Content-Placeholder-3-5">
            <a:extLst xmlns:a="http://schemas.openxmlformats.org/drawingml/2006/main">
              <a:ext uri="{FF2B5EF4-FFF2-40B4-BE49-F238E27FC236}">
                <a16:creationId xmlns:a16="http://schemas.microsoft.com/office/drawing/2014/main" id="{9FDE2FBF-7C88-4780-8A46-29CE87BD7779}"/>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d3d8de44b914c2f"/>
          <a:stretch xmlns:a="http://schemas.openxmlformats.org/drawingml/2006/main"/>
        </p:blipFill>
        <p:spPr>
          <a:xfrm xmlns:a="http://schemas.openxmlformats.org/drawingml/2006/main">
            <a:off x="1143000" y="1930400"/>
            <a:ext cx="9906000" cy="2711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67596AE-6E19-44AD-8C81-CD9A0DBF281C}"/>
              </a:ext>
            </a:extLst>
          </p:cNvPr>
          <p:cNvSpPr>
            <a:spLocks xmlns:a="http://schemas.openxmlformats.org/drawingml/2006/main" noGrp="1"/>
          </p:cNvSpPr>
          <p:nvPr/>
        </p:nvSpPr>
        <p:spPr>
          <a:xfrm xmlns:a="http://schemas.openxmlformats.org/drawingml/2006/main">
            <a:off x="1619250" y="5429250"/>
            <a:ext cx="895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Contrato • hash canônico • persistência idempotente</a:t>
            </a:r>
          </a:p>
        </p:txBody>
      </p:sp>
    </p:spTree>
    <p:extLst>
      <p:ext uri="{BB962C8B-B14F-4D97-AF65-F5344CB8AC3E}">
        <p14:creationId xmlns:p14="http://schemas.microsoft.com/office/powerpoint/2010/main" val="42145105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4A99CB36-A954-4B63-BF82-7B19C8C9315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10</a:t>
            </a:r>
          </a:p>
        </p:txBody>
      </p:sp>
      <p:sp>
        <p:nvSpPr>
          <p:cNvPr id="2" name="Google-Shape-533-p58-3">
            <a:extLst xmlns:a="http://schemas.openxmlformats.org/drawingml/2006/main">
              <a:ext uri="{FF2B5EF4-FFF2-40B4-BE49-F238E27FC236}">
                <a16:creationId xmlns:a16="http://schemas.microsoft.com/office/drawing/2014/main" id="{2D3D8BE5-52C8-4A7A-8DAA-96BA31CC224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Os casos de uso mostram as interações externas do sistema</a:t>
            </a:r>
          </a:p>
        </p:txBody>
      </p:sp>
      <p:sp>
        <p:nvSpPr>
          <p:cNvPr id="3" name="Google-Shape-534-p58-4">
            <a:extLst xmlns:a="http://schemas.openxmlformats.org/drawingml/2006/main">
              <a:ext uri="{FF2B5EF4-FFF2-40B4-BE49-F238E27FC236}">
                <a16:creationId xmlns:a16="http://schemas.microsoft.com/office/drawing/2014/main" id="{92006CF9-E537-48DE-A091-A45F0206A570}"/>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sp>
        <p:nvSpPr>
          <p:cNvPr id="4" name="Content-Placeholder-3-5">
            <a:extLst xmlns:a="http://schemas.openxmlformats.org/drawingml/2006/main">
              <a:ext uri="{FF2B5EF4-FFF2-40B4-BE49-F238E27FC236}">
                <a16:creationId xmlns:a16="http://schemas.microsoft.com/office/drawing/2014/main" id="{C90BACE6-6C85-49B8-B27C-9823B4650C7C}"/>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de1459444fc450a"/>
          <a:stretch xmlns:a="http://schemas.openxmlformats.org/drawingml/2006/main"/>
        </p:blipFill>
        <p:spPr>
          <a:xfrm xmlns:a="http://schemas.openxmlformats.org/drawingml/2006/main">
            <a:off x="1952625" y="1381125"/>
            <a:ext cx="8286750" cy="4143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EFDE47F-88A9-40A7-83F5-3D372ED62BFB}"/>
              </a:ext>
            </a:extLst>
          </p:cNvPr>
          <p:cNvSpPr>
            <a:spLocks xmlns:a="http://schemas.openxmlformats.org/drawingml/2006/main" noGrp="1"/>
          </p:cNvSpPr>
          <p:nvPr/>
        </p:nvSpPr>
        <p:spPr>
          <a:xfrm xmlns:a="http://schemas.openxmlformats.org/drawingml/2006/main">
            <a:off x="1619250" y="5715000"/>
            <a:ext cx="895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Cliente inicia • Kafka transporta • PostgreSQL persiste</a:t>
            </a:r>
          </a:p>
        </p:txBody>
      </p:sp>
    </p:spTree>
    <p:extLst>
      <p:ext uri="{BB962C8B-B14F-4D97-AF65-F5344CB8AC3E}">
        <p14:creationId xmlns:p14="http://schemas.microsoft.com/office/powerpoint/2010/main" val="71252477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A1342DD1-8F88-478D-A976-66A1EA9CC1B0}"/>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11</a:t>
            </a:r>
          </a:p>
        </p:txBody>
      </p:sp>
      <p:sp>
        <p:nvSpPr>
          <p:cNvPr id="2" name="Google-Shape-533-p58-3">
            <a:extLst xmlns:a="http://schemas.openxmlformats.org/drawingml/2006/main">
              <a:ext uri="{FF2B5EF4-FFF2-40B4-BE49-F238E27FC236}">
                <a16:creationId xmlns:a16="http://schemas.microsoft.com/office/drawing/2014/main" id="{ECFEC48D-8A88-472D-8E74-98B3CBCA4EC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Os requisitos funcionais garantem equivalência entre as variantes</a:t>
            </a:r>
          </a:p>
        </p:txBody>
      </p:sp>
      <p:sp>
        <p:nvSpPr>
          <p:cNvPr id="3" name="Google-Shape-534-p58-4">
            <a:extLst xmlns:a="http://schemas.openxmlformats.org/drawingml/2006/main">
              <a:ext uri="{FF2B5EF4-FFF2-40B4-BE49-F238E27FC236}">
                <a16:creationId xmlns:a16="http://schemas.microsoft.com/office/drawing/2014/main" id="{087AACC8-31F3-48E9-B5E8-94C949417C77}"/>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ENTRADA</a:t>
            </a:r>
          </a:p>
          <a:p xmlns:a="http://schemas.openxmlformats.org/drawingml/2006/main">
            <a:pPr algn="l">
              <a:defRPr sz="2400">
                <a:solidFill>
                  <a:srgbClr val="000000"/>
                </a:solidFill>
                <a:latin typeface="Helvetica Neue"/>
                <a:ea typeface="Helvetica Neue"/>
                <a:cs typeface="Helvetica Neue"/>
              </a:defRPr>
            </a:pPr>
            <a:r>
              <a:t>RF01 Receber via HTTP
RF02 Validar contrato
RF03 Processar via REST
RF04 Publicar no Kafka</a:t>
            </a:r>
          </a:p>
        </p:txBody>
      </p:sp>
      <p:sp>
        <p:nvSpPr>
          <p:cNvPr id="4" name="Content-Placeholder-1-5">
            <a:extLst xmlns:a="http://schemas.openxmlformats.org/drawingml/2006/main">
              <a:ext uri="{FF2B5EF4-FFF2-40B4-BE49-F238E27FC236}">
                <a16:creationId xmlns:a16="http://schemas.microsoft.com/office/drawing/2014/main" id="{7663323E-FDDC-43F2-88BE-D0D0695C9ABA}"/>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CONFIABILIDADE</a:t>
            </a:r>
          </a:p>
          <a:p xmlns:a="http://schemas.openxmlformats.org/drawingml/2006/main">
            <a:pPr algn="l">
              <a:defRPr sz="2400">
                <a:solidFill>
                  <a:srgbClr val="000000"/>
                </a:solidFill>
                <a:latin typeface="Helvetica Neue"/>
                <a:ea typeface="Helvetica Neue"/>
                <a:cs typeface="Helvetica Neue"/>
              </a:defRPr>
            </a:pPr>
            <a:r>
              <a:t>RF08 Impedir duplicidade
RF09 Confirmar offset após persistência
RF10 Expor health check</a:t>
            </a:r>
          </a:p>
        </p:txBody>
      </p:sp>
      <p:sp>
        <p:nvSpPr>
          <p:cNvPr id="5" name="Content-Placeholder-2-6">
            <a:extLst xmlns:a="http://schemas.openxmlformats.org/drawingml/2006/main">
              <a:ext uri="{FF2B5EF4-FFF2-40B4-BE49-F238E27FC236}">
                <a16:creationId xmlns:a16="http://schemas.microsoft.com/office/drawing/2014/main" id="{9D40CE17-ABE9-44DE-AD90-72560A054A04}"/>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PROCESSAMENTO</a:t>
            </a:r>
          </a:p>
          <a:p xmlns:a="http://schemas.openxmlformats.org/drawingml/2006/main">
            <a:pPr algn="l">
              <a:defRPr sz="2400">
                <a:solidFill>
                  <a:srgbClr val="000000"/>
                </a:solidFill>
                <a:latin typeface="Helvetica Neue"/>
                <a:ea typeface="Helvetica Neue"/>
                <a:cs typeface="Helvetica Neue"/>
              </a:defRPr>
            </a:pPr>
            <a:r>
              <a:t>RF05 Consumir eventos
RF06 Calcular SHA-256
RF07 Persistir no PostgreSQL</a:t>
            </a:r>
          </a:p>
        </p:txBody>
      </p:sp>
      <p:sp>
        <p:nvSpPr>
          <p:cNvPr id="6" name="">
            <a:extLst xmlns:a="http://schemas.openxmlformats.org/drawingml/2006/main">
              <a:ext uri="{FF2B5EF4-FFF2-40B4-BE49-F238E27FC236}">
                <a16:creationId xmlns:a16="http://schemas.microsoft.com/office/drawing/2014/main" id="{7A98C4A7-6148-46BB-8281-AAD8D079A842}"/>
              </a:ext>
            </a:extLst>
          </p:cNvPr>
          <p:cNvSpPr>
            <a:spLocks xmlns:a="http://schemas.openxmlformats.org/drawingml/2006/main" noGrp="1"/>
          </p:cNvSpPr>
          <p:nvPr/>
        </p:nvSpPr>
        <p:spPr>
          <a:xfrm xmlns:a="http://schemas.openxmlformats.org/drawingml/2006/main">
            <a:off x="390525" y="1628775"/>
            <a:ext cx="11049000" cy="66675"/>
          </a:xfrm>
          <a:prstGeom xmlns:a="http://schemas.openxmlformats.org/drawingml/2006/main" prst="rect">
            <a:avLst/>
          </a:prstGeom>
          <a:solidFill xmlns:a="http://schemas.openxmlformats.org/drawingml/2006/main">
            <a:srgbClr val="F97316"/>
          </a:solidFill>
          <a:ln xmlns:a="http://schemas.openxmlformats.org/drawingml/2006/main" w="0">
            <a:solidFill>
              <a:srgbClr val="F97316"/>
            </a:solidFill>
            <a:prstDash val="solid"/>
          </a:ln>
        </p:spPr>
      </p:sp>
    </p:spTree>
    <p:extLst>
      <p:ext uri="{BB962C8B-B14F-4D97-AF65-F5344CB8AC3E}">
        <p14:creationId xmlns:p14="http://schemas.microsoft.com/office/powerpoint/2010/main" val="192767245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Google-Shape-532-p58-2">
            <a:extLst xmlns:a="http://schemas.openxmlformats.org/drawingml/2006/main">
              <a:ext uri="{FF2B5EF4-FFF2-40B4-BE49-F238E27FC236}">
                <a16:creationId xmlns:a16="http://schemas.microsoft.com/office/drawing/2014/main" id="{64E24FA2-47C6-4AFC-A527-768BBB84E54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12</a:t>
            </a:r>
          </a:p>
        </p:txBody>
      </p:sp>
      <p:sp>
        <p:nvSpPr>
          <p:cNvPr id="2" name="Google-Shape-533-p58-3">
            <a:extLst xmlns:a="http://schemas.openxmlformats.org/drawingml/2006/main">
              <a:ext uri="{FF2B5EF4-FFF2-40B4-BE49-F238E27FC236}">
                <a16:creationId xmlns:a16="http://schemas.microsoft.com/office/drawing/2014/main" id="{1FF67169-9672-4CB9-AED9-CC268234F56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Requisitos não funcionais preservam a validade experimental</a:t>
            </a:r>
          </a:p>
        </p:txBody>
      </p:sp>
      <p:sp>
        <p:nvSpPr>
          <p:cNvPr id="3" name="Google-Shape-534-p58-4">
            <a:extLst xmlns:a="http://schemas.openxmlformats.org/drawingml/2006/main">
              <a:ext uri="{FF2B5EF4-FFF2-40B4-BE49-F238E27FC236}">
                <a16:creationId xmlns:a16="http://schemas.microsoft.com/office/drawing/2014/main" id="{7F6E54D6-3B53-415A-9F80-A616A2CA64AB}"/>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EQUIVALÊNCIA E REPRODUÇÃO</a:t>
            </a:r>
          </a:p>
          <a:p xmlns:a="http://schemas.openxmlformats.org/drawingml/2006/main">
            <a:pPr algn="l">
              <a:defRPr sz="2400">
                <a:solidFill>
                  <a:srgbClr val="000000"/>
                </a:solidFill>
                <a:latin typeface="Helvetica Neue"/>
                <a:ea typeface="Helvetica Neue"/>
                <a:cs typeface="Helvetica Neue"/>
              </a:defRPr>
            </a:pPr>
            <a:r>
              <a:t>RNF01 Mesmo contrato/processamento
RNF02 Execução por contêineres
RNF03 Somente dados sintéticos
RNF04 Dependências versionadas</a:t>
            </a:r>
          </a:p>
        </p:txBody>
      </p:sp>
      <p:sp>
        <p:nvSpPr>
          <p:cNvPr id="4" name="Content-Placeholder-3-5">
            <a:extLst xmlns:a="http://schemas.openxmlformats.org/drawingml/2006/main">
              <a:ext uri="{FF2B5EF4-FFF2-40B4-BE49-F238E27FC236}">
                <a16:creationId xmlns:a16="http://schemas.microsoft.com/office/drawing/2014/main" id="{E86C3B82-D2B6-4232-95C4-BFCCC09067F9}"/>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RASTREABILIDADE E RESILIÊNCIA</a:t>
            </a:r>
          </a:p>
          <a:p xmlns:a="http://schemas.openxmlformats.org/drawingml/2006/main">
            <a:pPr algn="l">
              <a:defRPr sz="2400">
                <a:solidFill>
                  <a:srgbClr val="000000"/>
                </a:solidFill>
                <a:latin typeface="Helvetica Neue"/>
                <a:ea typeface="Helvetica Neue"/>
                <a:cs typeface="Helvetica Neue"/>
              </a:defRPr>
            </a:pPr>
            <a:r>
              <a:t>RNF05 Identificadores rastreáveis
RNF06 Separar aceitação/conclusão
RNF07 Reentrega sem duplicidade
RNF08 Logs de processamento/falhas</a:t>
            </a:r>
          </a:p>
        </p:txBody>
      </p:sp>
      <p:sp>
        <p:nvSpPr>
          <p:cNvPr id="5" name="">
            <a:extLst xmlns:a="http://schemas.openxmlformats.org/drawingml/2006/main">
              <a:ext uri="{FF2B5EF4-FFF2-40B4-BE49-F238E27FC236}">
                <a16:creationId xmlns:a16="http://schemas.microsoft.com/office/drawing/2014/main" id="{4C213BD4-0041-4C1F-8AF2-C116CD56FE77}"/>
              </a:ext>
            </a:extLst>
          </p:cNvPr>
          <p:cNvSpPr>
            <a:spLocks xmlns:a="http://schemas.openxmlformats.org/drawingml/2006/main" noGrp="1"/>
          </p:cNvSpPr>
          <p:nvPr/>
        </p:nvSpPr>
        <p:spPr>
          <a:xfrm xmlns:a="http://schemas.openxmlformats.org/drawingml/2006/main">
            <a:off x="390525" y="1628775"/>
            <a:ext cx="11049000" cy="66675"/>
          </a:xfrm>
          <a:prstGeom xmlns:a="http://schemas.openxmlformats.org/drawingml/2006/main" prst="rect">
            <a:avLst/>
          </a:prstGeom>
          <a:solidFill xmlns:a="http://schemas.openxmlformats.org/drawingml/2006/main">
            <a:srgbClr val="F97316"/>
          </a:solidFill>
          <a:ln xmlns:a="http://schemas.openxmlformats.org/drawingml/2006/main" w="0">
            <a:solidFill>
              <a:srgbClr val="F97316"/>
            </a:solidFill>
            <a:prstDash val="solid"/>
          </a:ln>
        </p:spPr>
      </p:sp>
    </p:spTree>
    <p:extLst>
      <p:ext uri="{BB962C8B-B14F-4D97-AF65-F5344CB8AC3E}">
        <p14:creationId xmlns:p14="http://schemas.microsoft.com/office/powerpoint/2010/main" val="141640117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FFC1B6A2-6838-46FE-8B7C-DD42C090DB0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13</a:t>
            </a:r>
          </a:p>
        </p:txBody>
      </p:sp>
      <p:sp>
        <p:nvSpPr>
          <p:cNvPr id="2" name="Google-Shape-533-p58-3">
            <a:extLst xmlns:a="http://schemas.openxmlformats.org/drawingml/2006/main">
              <a:ext uri="{FF2B5EF4-FFF2-40B4-BE49-F238E27FC236}">
                <a16:creationId xmlns:a16="http://schemas.microsoft.com/office/drawing/2014/main" id="{9C3427BE-A748-4C93-BAE0-7CD086D6891B}"/>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O protótipo prepara uma comparação controlada — ainda sem vencedor</a:t>
            </a:r>
          </a:p>
        </p:txBody>
      </p:sp>
      <p:sp>
        <p:nvSpPr>
          <p:cNvPr id="3" name="Google-Shape-534-p58-4">
            <a:extLst xmlns:a="http://schemas.openxmlformats.org/drawingml/2006/main">
              <a:ext uri="{FF2B5EF4-FFF2-40B4-BE49-F238E27FC236}">
                <a16:creationId xmlns:a16="http://schemas.microsoft.com/office/drawing/2014/main" id="{CB776ABF-40C4-4E92-A257-65E2F6253743}"/>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CONCLUÍDO</a:t>
            </a:r>
          </a:p>
          <a:p xmlns:a="http://schemas.openxmlformats.org/drawingml/2006/main">
            <a:pPr algn="l">
              <a:defRPr sz="2400">
                <a:solidFill>
                  <a:srgbClr val="000000"/>
                </a:solidFill>
                <a:latin typeface="Helvetica Neue"/>
                <a:ea typeface="Helvetica Neue"/>
                <a:cs typeface="Helvetica Neue"/>
              </a:defRPr>
            </a:pPr>
            <a:r>
              <a:t>Fundamentação e método
Requisitos e UML
APIs e consumidor
Persistência idempotente</a:t>
            </a:r>
          </a:p>
        </p:txBody>
      </p:sp>
      <p:sp>
        <p:nvSpPr>
          <p:cNvPr id="4" name="Content-Placeholder-3-5">
            <a:extLst xmlns:a="http://schemas.openxmlformats.org/drawingml/2006/main">
              <a:ext uri="{FF2B5EF4-FFF2-40B4-BE49-F238E27FC236}">
                <a16:creationId xmlns:a16="http://schemas.microsoft.com/office/drawing/2014/main" id="{C745C632-C8C2-4781-8611-BED0C83D7508}"/>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PRÓXIMO PASSO</a:t>
            </a:r>
          </a:p>
          <a:p xmlns:a="http://schemas.openxmlformats.org/drawingml/2006/main">
            <a:pPr algn="l">
              <a:defRPr sz="2400">
                <a:solidFill>
                  <a:srgbClr val="000000"/>
                </a:solidFill>
                <a:latin typeface="Helvetica Neue"/>
                <a:ea typeface="Helvetica Neue"/>
                <a:cs typeface="Helvetica Neue"/>
              </a:defRPr>
            </a:pPr>
            <a:r>
              <a:t>Executar piloto integrado
Congelar parâmetros
Realizar repetições
Analisar os trade-offs</a:t>
            </a:r>
          </a:p>
        </p:txBody>
      </p:sp>
      <p:sp>
        <p:nvSpPr>
          <p:cNvPr id="5" name="">
            <a:extLst xmlns:a="http://schemas.openxmlformats.org/drawingml/2006/main">
              <a:ext uri="{FF2B5EF4-FFF2-40B4-BE49-F238E27FC236}">
                <a16:creationId xmlns:a16="http://schemas.microsoft.com/office/drawing/2014/main" id="{C8C9EFEB-0DA6-4493-9C2B-1B13B41B9E9F}"/>
              </a:ext>
            </a:extLst>
          </p:cNvPr>
          <p:cNvSpPr>
            <a:spLocks xmlns:a="http://schemas.openxmlformats.org/drawingml/2006/main" noGrp="1"/>
          </p:cNvSpPr>
          <p:nvPr/>
        </p:nvSpPr>
        <p:spPr>
          <a:xfrm xmlns:a="http://schemas.openxmlformats.org/drawingml/2006/main">
            <a:off x="390525" y="1628775"/>
            <a:ext cx="11049000" cy="66675"/>
          </a:xfrm>
          <a:prstGeom xmlns:a="http://schemas.openxmlformats.org/drawingml/2006/main" prst="rect">
            <a:avLst/>
          </a:prstGeom>
          <a:solidFill xmlns:a="http://schemas.openxmlformats.org/drawingml/2006/main">
            <a:srgbClr val="F97316"/>
          </a:solidFill>
          <a:ln xmlns:a="http://schemas.openxmlformats.org/drawingml/2006/main" w="0">
            <a:solidFill>
              <a:srgbClr val="F97316"/>
            </a:solidFill>
            <a:prstDash val="solid"/>
          </a:ln>
        </p:spPr>
      </p:sp>
      <p:sp>
        <p:nvSpPr>
          <p:cNvPr id="6" name="">
            <a:extLst xmlns:a="http://schemas.openxmlformats.org/drawingml/2006/main">
              <a:ext uri="{FF2B5EF4-FFF2-40B4-BE49-F238E27FC236}">
                <a16:creationId xmlns:a16="http://schemas.microsoft.com/office/drawing/2014/main" id="{B65DBDEA-26D8-4663-861D-0EEC39DA9AA7}"/>
              </a:ext>
            </a:extLst>
          </p:cNvPr>
          <p:cNvSpPr>
            <a:spLocks xmlns:a="http://schemas.openxmlformats.org/drawingml/2006/main" noGrp="1"/>
          </p:cNvSpPr>
          <p:nvPr/>
        </p:nvSpPr>
        <p:spPr>
          <a:xfrm xmlns:a="http://schemas.openxmlformats.org/drawingml/2006/main">
            <a:off x="1143000" y="561975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C2410C"/>
                </a:solidFill>
                <a:latin typeface="Helvetica Neue"/>
                <a:ea typeface="Helvetica Neue"/>
                <a:cs typeface="Helvetica Neue"/>
              </a:defRPr>
            </a:pPr>
            <a:r>
              <a:rPr sz="1875" b="1">
                <a:solidFill>
                  <a:srgbClr val="C2410C"/>
                </a:solidFill>
                <a:latin typeface="Helvetica Neue"/>
                <a:ea typeface="Helvetica Neue"/>
                <a:cs typeface="Helvetica Neue"/>
              </a:rPr>
              <a:t>Os resultados virão dos experimentos, não de uma preferência arquitetural.</a:t>
            </a:r>
          </a:p>
        </p:txBody>
      </p:sp>
    </p:spTree>
    <p:extLst>
      <p:ext uri="{BB962C8B-B14F-4D97-AF65-F5344CB8AC3E}">
        <p14:creationId xmlns:p14="http://schemas.microsoft.com/office/powerpoint/2010/main" val="15291438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2026-08-12T00:24:25.0700000Z</dcterms:created>
  <dcterms:modified xsi:type="dcterms:W3CDTF">2026-08-12T00:24:25.0710000Z</dcterms:modified>
</coreProperties>
</file>