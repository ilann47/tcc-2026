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2c047895be42cc" /><Relationship Type="http://schemas.openxmlformats.org/officeDocument/2006/relationships/extended-properties" Target="/docProps/app.xml" Id="R9bae6aa8124743cf" /><Relationship Type="http://schemas.openxmlformats.org/officeDocument/2006/relationships/officeDocument" Target="/ppt/presentation.xml" Id="R538c2208250340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ac4193e30f46ec"/>
  </p:sldMasterIdLst>
  <p:notesMasterIdLst>
    <p:notesMasterId xmlns:r="http://schemas.openxmlformats.org/officeDocument/2006/relationships" r:id="R75f8f9e26b234f1c"/>
  </p:notesMasterIdLst>
  <p:sldIdLst>
    <p:sldId xmlns:r="http://schemas.openxmlformats.org/officeDocument/2006/relationships" id="256" r:id="Ra221064b58e44124"/>
    <p:sldId xmlns:r="http://schemas.openxmlformats.org/officeDocument/2006/relationships" id="257" r:id="R05c5c6db11c24aac"/>
    <p:sldId xmlns:r="http://schemas.openxmlformats.org/officeDocument/2006/relationships" id="258" r:id="Rb468141495f34467"/>
    <p:sldId xmlns:r="http://schemas.openxmlformats.org/officeDocument/2006/relationships" id="259" r:id="R92d56571ad374f5d"/>
    <p:sldId xmlns:r="http://schemas.openxmlformats.org/officeDocument/2006/relationships" id="260" r:id="R7afc094861204172"/>
    <p:sldId xmlns:r="http://schemas.openxmlformats.org/officeDocument/2006/relationships" id="261" r:id="Rf3653cacb3e14bbd"/>
    <p:sldId xmlns:r="http://schemas.openxmlformats.org/officeDocument/2006/relationships" id="262" r:id="Rc42b682cc4394f63"/>
    <p:sldId xmlns:r="http://schemas.openxmlformats.org/officeDocument/2006/relationships" id="263" r:id="Rf8a48bccd0964e57"/>
    <p:sldId xmlns:r="http://schemas.openxmlformats.org/officeDocument/2006/relationships" id="264" r:id="R1530c64b7edf4038"/>
    <p:sldId xmlns:r="http://schemas.openxmlformats.org/officeDocument/2006/relationships" id="265" r:id="Rd17a76fc8717441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db320872bc4164" /><Relationship Type="http://schemas.openxmlformats.org/officeDocument/2006/relationships/slideMaster" Target="/ppt/slideMasters/slideMaster1.xml" Id="R97ac4193e30f46ec" /><Relationship Type="http://schemas.openxmlformats.org/officeDocument/2006/relationships/notesMaster" Target="/ppt/notesMasters/notesMaster1.xml" Id="R75f8f9e26b234f1c" /><Relationship Type="http://schemas.openxmlformats.org/officeDocument/2006/relationships/presProps" Target="/ppt/presProps.xml" Id="R736a3813768c435b" /><Relationship Type="http://schemas.openxmlformats.org/officeDocument/2006/relationships/tableStyles" Target="/ppt/tableStyles.xml" Id="Rf98417206dd3435d" /><Relationship Type="http://schemas.openxmlformats.org/officeDocument/2006/relationships/slide" Target="/ppt/slides/slide1.xml" Id="Ra221064b58e44124" /><Relationship Type="http://schemas.openxmlformats.org/officeDocument/2006/relationships/slide" Target="/ppt/slides/slide2.xml" Id="R05c5c6db11c24aac" /><Relationship Type="http://schemas.openxmlformats.org/officeDocument/2006/relationships/slide" Target="/ppt/slides/slide3.xml" Id="Rb468141495f34467" /><Relationship Type="http://schemas.openxmlformats.org/officeDocument/2006/relationships/slide" Target="/ppt/slides/slide4.xml" Id="R92d56571ad374f5d" /><Relationship Type="http://schemas.openxmlformats.org/officeDocument/2006/relationships/slide" Target="/ppt/slides/slide5.xml" Id="R7afc094861204172" /><Relationship Type="http://schemas.openxmlformats.org/officeDocument/2006/relationships/slide" Target="/ppt/slides/slide6.xml" Id="Rf3653cacb3e14bbd" /><Relationship Type="http://schemas.openxmlformats.org/officeDocument/2006/relationships/slide" Target="/ppt/slides/slide7.xml" Id="Rc42b682cc4394f63" /><Relationship Type="http://schemas.openxmlformats.org/officeDocument/2006/relationships/slide" Target="/ppt/slides/slide8.xml" Id="Rf8a48bccd0964e57" /><Relationship Type="http://schemas.openxmlformats.org/officeDocument/2006/relationships/slide" Target="/ppt/slides/slide9.xml" Id="R1530c64b7edf4038" /><Relationship Type="http://schemas.openxmlformats.org/officeDocument/2006/relationships/slide" Target="/ppt/slides/slide10.xml" Id="Rd17a76fc871744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080810addf4e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0280434d0a4ea9" /><Relationship Type="http://schemas.openxmlformats.org/officeDocument/2006/relationships/notesMaster" Target="/ppt/notesMasters/notesMaster1.xml" Id="R72bbc2262aa744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02de00c1dd407f" /><Relationship Type="http://schemas.openxmlformats.org/officeDocument/2006/relationships/notesMaster" Target="/ppt/notesMasters/notesMaster1.xml" Id="Rd933c83e3ba848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3042648e424acf" /><Relationship Type="http://schemas.openxmlformats.org/officeDocument/2006/relationships/notesMaster" Target="/ppt/notesMasters/notesMaster1.xml" Id="R07b4a18559a148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beeae846d0448f" /><Relationship Type="http://schemas.openxmlformats.org/officeDocument/2006/relationships/notesMaster" Target="/ppt/notesMasters/notesMaster1.xml" Id="Rc8d604443ef241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f14f6a89abe4818" /><Relationship Type="http://schemas.openxmlformats.org/officeDocument/2006/relationships/notesMaster" Target="/ppt/notesMasters/notesMaster1.xml" Id="R3a8e398a17a4499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5069c4a876a4606" /><Relationship Type="http://schemas.openxmlformats.org/officeDocument/2006/relationships/notesMaster" Target="/ppt/notesMasters/notesMaster1.xml" Id="R9abfb7e1898f45d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f0a9b338bd3478f" /><Relationship Type="http://schemas.openxmlformats.org/officeDocument/2006/relationships/notesMaster" Target="/ppt/notesMasters/notesMaster1.xml" Id="Rf6adf14f0256420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5968ec8afa144cb" /><Relationship Type="http://schemas.openxmlformats.org/officeDocument/2006/relationships/notesMaster" Target="/ppt/notesMasters/notesMaster1.xml" Id="R6729f148384d449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f8b23162e4649a4" /><Relationship Type="http://schemas.openxmlformats.org/officeDocument/2006/relationships/notesMaster" Target="/ppt/notesMasters/notesMaster1.xml" Id="R96a250dc491c430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21cd550b1474033" /><Relationship Type="http://schemas.openxmlformats.org/officeDocument/2006/relationships/notesMaster" Target="/ppt/notesMasters/notesMaster1.xml" Id="Rca38ff61b8a540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Oi, pessoal. Hoje eu vou mostrar o fechamento do desenvolvimento do protótipo, não os resultados finais da comparação experimental. O sistema tem duas formas de receber o mesmo registro: uma API REST que grava antes de responder e outra que publica um evento no Kafka. Depois eu mostro como isso aparece nos diagramas, no banco e na implantação. A ideia é que os desenhos estejam ligados ao código de verdade, não sejam só uma arquitetura idealizada.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Aqui está o recorte da comparação. O cliente envia o mesmo contrato nas duas variantes; o que muda é o caminho até o banco e o significado da resposta. Na síncrona, o 201 vem depois da gravação. Na assíncrona, o 202 quer dizer que o Kafka confirmou a publicação, não que a linha já está no PostgreSQL. Isso é importante para não comparar coisas diferentes como se fossem a mesma garantia. O núcleo de validação, hash e banco é compartilhado para diminuir diferenças que não pertencem à arquitetura.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no slide: Fielding e Taylor (2002); Kreps, Narkhede e Rao (2011); projeto: app/shared, app/sync_api, app/async_api, app/consumer.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Este diagrama responde quem interage com o sistema e para qual objetivo. A aplicação cliente envia registros; o Kafka fornece mensagens para o consumidor; o pesquisador consulta prontidão e consegue verificar um UUID. Eu destacaria três casos: gravar diretamente, publicar para processamento posterior e consumir com tratamento de falhas. No texto do TCC cada caso já tem fluxo principal, alternativas e exceções. Os casos de carga e consolidação também estão diagramados em uma visão separada, porque pertencem à operação experimental.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no slide: Elaborado pelo autor a partir de app/sync_api/main.py, app/async_api/main.py, app/consumer/main.py e scripts/.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Os diagramas de atividades foram separados em três, porque juntar tudo num desenho só escondia as decisões. No caminho síncrono, o banco decide se o evento é novo ou repetido; o hash distingue uma reentrega legítima de um conflito. Na API assíncrona, o cuidado é esperar a confirmação individual do Kafka antes do 202. Um timeout pode deixar a aceitação incerta. E no consumidor, se a gravação falhar, há tentativas limitadas; uma falha terminal vai para a DLQ. O offset de origem só é confirmado depois que houve gravação ou confirmação de retenção na DLQ.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no slide: Helland (2007); projeto: shared/database.py, shared/kafka.py e consumer/main.py.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vista mostra as dependências. As duas APIs e o consumidor compartilham contrato, processamento e banco; a API assíncrona e o consumidor usam Kafka em papéis diferentes. O que eu acho mais importante aqui é a fidelidade ao código: nem tudo virou classe no diagrama. O consumidor tem funções de módulo, então ele aparece como componente ou módulo. Os diagramas de classes completos, que mostram AuditEvent, AuditRecord, AuditStored e o publicador, estão logo antes desta vista no TCC e também como fontes editáveis.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no slide: Elaborado pelo autor a partir dos arquivos de app/ e dos diagramas classes.puml, classes-dados.puml e componentes.puml.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Aqui está a diferença que eu quero deixar bem clara na banca. Na variante REST, a resposta de sucesso vem depois da transação do banco. Já na variante orientada a eventos, a resposta vem depois do ACK do broker; o consumidor pode ainda não ter gravado nada. Por isso, o experimento mede separadamente o tempo percebido pelo cliente e o tempo até a conclusão da persistência. Nas sequências completas do texto também aparecem os ramos de duplicata, conflito, timeout, tentativas e DLQ. Um 202 nunca é apresentado como prova de persistência.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no slide: Fielding e Taylor (2002); Kreps et al. (2011); código e diagramas sequencia-sincrona.puml e sequencia-assincrona.puml.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banco real, hoje, tem uma tabela: audit_records. Ela guarda o UUID, os campos do evento, o JSON de contexto, o hash e o instante de inserção. A chave primária evita duas linhas com o mesmo UUID e o código compara o hash quando há conflito. O campo persisted_at pode ficar vazio em registros antigos; nas inserções novas ele recebe o horário do banco. Não há chave estrangeira, porque não há segunda tabela operacional. O TCC também descreve uma extensão opcional para logs e métricas, mas ela está marcada como proposta e não entra no banco desta entrega.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no slide: Elaborado pelo autor a partir de app/shared/database.py; modelo lógico e dicionário no Capítulo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figura mostra onde as peças rodam de verdade. São cinco serviços permanentes em uma rede Docker Compose: duas APIs, consumidor, PostgreSQL e Kafka. Existem volumes para preservar o banco e o log do broker, e dois serviços transitórios só preparam o volume e criam os tópicos. As portas expostas ficam no loopback da máquina usada no experimento. Essa topologia é boa para uma comparação controlada, mas não é uma arquitetura de alta disponibilidade: há um banco, um broker e uma partição por tópico. Isso também é um limite importante do estudo.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no slide: Karabey Aksakalli et al. (2021); projeto: docker-compose.yml e implantacao.puml.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fechar, eu separo entrega de desenvolvimento de resultado científico. O protótipo e os diagramas cobrem os dois caminhos, as regras de confirmação, a unicidade por UUID, as falhas e a implantação. Nesta cópia rodei os 24 testes offline com sucesso; isso confirma essas verificações locais, não substitui as repetições do experimento comparativo. A arquitetura também tem limites assumidos: broker único, banco único, sem alta disponibilidade. E as tabelas extras de observabilidade ainda são só uma possibilidade de evolução. Com isso, a banca consegue avaliar o que foi de fato construído e o que ainda exige coleta.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no slide: Código-fonte e testes da cópia da Entrega 03; Kitchenham et al. (2002) para cuidados de pesquisa empírica.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Estas são algumas das referências que sustentam o desenho e a forma de avaliar o sistema. Fielding e Taylor ajudam na parte de REST; Kreps e colegas, no Kafka; Helland ajuda a explicar por que não trato Kafka e banco como uma única transação; o estudo de padrões de implantação ajuda a delimitar a arquitetura; e Kitchenham orienta os cuidados com a avaliação empírica. A bibliografia completa está no TCC, com os demais artigos discutidos no referencial. Os diagramas, por sua vez, foram elaborados a partir do código deste protótipo e estão identificados como produção do autor.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no slide: Fielding e Taylor (2002); Kreps et al. (2011); Helland (2007); Karabey Aksakalli et al. (2021); Kitchenham et al. (2002).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684a5e62ec47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3efde040fd473f" /><Relationship Type="http://schemas.openxmlformats.org/officeDocument/2006/relationships/slideLayout" Target="/ppt/slideLayouts/slideLayout1.xml" Id="R899b11fc8b0747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9b11fc8b0747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52354352384270" /><Relationship Type="http://schemas.openxmlformats.org/officeDocument/2006/relationships/notesSlide" Target="/ppt/notesSlides/notesSlide1.xml" Id="R8aa304fa93a24c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d9ec3e8aed4f37" /><Relationship Type="http://schemas.openxmlformats.org/officeDocument/2006/relationships/notesSlide" Target="/ppt/notesSlides/notesSlide2.xml" Id="Rd293d8d2e3ea4b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872c2a2eee4c47" /><Relationship Type="http://schemas.openxmlformats.org/officeDocument/2006/relationships/image" Target="/ppt/media/image.png" Id="R1df95b679e7244c9" /><Relationship Type="http://schemas.openxmlformats.org/officeDocument/2006/relationships/notesSlide" Target="/ppt/notesSlides/notesSlide3.xml" Id="Rebdb4b4f1f2d41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6342d9d0604b61" /><Relationship Type="http://schemas.openxmlformats.org/officeDocument/2006/relationships/notesSlide" Target="/ppt/notesSlides/notesSlide4.xml" Id="R067df577abea4e7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db1558927b426e" /><Relationship Type="http://schemas.openxmlformats.org/officeDocument/2006/relationships/image" Target="/ppt/media/image2.png" Id="Rb55989a942004c5e" /><Relationship Type="http://schemas.openxmlformats.org/officeDocument/2006/relationships/notesSlide" Target="/ppt/notesSlides/notesSlide5.xml" Id="R19eee227c6c444e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4f56e6a34a4f86" /><Relationship Type="http://schemas.openxmlformats.org/officeDocument/2006/relationships/notesSlide" Target="/ppt/notesSlides/notesSlide6.xml" Id="Rad784bf97f8f4c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57357209194b7b" /><Relationship Type="http://schemas.openxmlformats.org/officeDocument/2006/relationships/image" Target="/ppt/media/image3.png" Id="Ree28d772d016455f" /><Relationship Type="http://schemas.openxmlformats.org/officeDocument/2006/relationships/notesSlide" Target="/ppt/notesSlides/notesSlide7.xml" Id="Rfce75eaeaf8845a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f9a2652e6b4164" /><Relationship Type="http://schemas.openxmlformats.org/officeDocument/2006/relationships/image" Target="/ppt/media/image4.png" Id="R0deb91de5f3f4f44" /><Relationship Type="http://schemas.openxmlformats.org/officeDocument/2006/relationships/notesSlide" Target="/ppt/notesSlides/notesSlide8.xml" Id="R8fb0b299df7b462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fae0368fcc4723" /><Relationship Type="http://schemas.openxmlformats.org/officeDocument/2006/relationships/notesSlide" Target="/ppt/notesSlides/notesSlide9.xml" Id="R8f3747d3bd594fa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1e93fa140f4158" /><Relationship Type="http://schemas.openxmlformats.org/officeDocument/2006/relationships/notesSlide" Target="/ppt/notesSlides/notesSlide10.xml" Id="Rdac25bc80b9e416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23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956A9E-F05F-4A83-93A9-EEA6D6954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F33F23-A543-4AC9-89A7-90C5BB84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BB5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B5FF"/>
                </a:solidFill>
                <a:latin typeface="Arial"/>
                <a:ea typeface="Arial"/>
                <a:cs typeface="Arial"/>
              </a:rPr>
              <a:t>TCC  •  ENTREGA 03  •  FECHAMENTO DO DESENVOLVIMENTO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4B8FD9-2519-42BE-A117-6A65653E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1066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Comunicação síncrona via REST e assíncrona orientada a eventos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DD86A1-22AE-492B-905D-31E3F92B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10191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DE8F7"/>
                </a:solidFill>
                <a:latin typeface="Arial"/>
                <a:ea typeface="Arial"/>
                <a:cs typeface="Arial"/>
              </a:rPr>
              <a:t>UML completo, banco de dados e arquitetura do protótipo experimental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3BDF93-E901-4BBD-938A-A78C31517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10810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77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BAF0FB-ADBC-472B-865B-46D45E6C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Ilan Wendling Thoele  ·  Orientadora: Professora Alessandra Bussador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082506-FCA8-4F66-80C4-75E56E34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817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9BDD4"/>
                </a:solidFill>
                <a:latin typeface="Arial"/>
                <a:ea typeface="Arial"/>
                <a:cs typeface="Arial"/>
              </a:rPr>
              <a:t>Apresentação de 10 minutos</a:t>
            </a:r>
          </a:p>
        </p:txBody>
      </p:sp>
    </p:spTree>
    <p:extLst>
      <p:ext uri="{BB962C8B-B14F-4D97-AF65-F5344CB8AC3E}">
        <p14:creationId xmlns:p14="http://schemas.microsoft.com/office/powerpoint/2010/main" val="2675693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B6C6DD-E368-422E-9A1C-C0900034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0984F0-4A73-44C1-BFD2-5D2FE02E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790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ENTREGA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075DAC-B215-4D57-A1A5-FBE8AF2B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52334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2334"/>
                </a:solidFill>
                <a:latin typeface="Arial"/>
                <a:ea typeface="Arial"/>
                <a:cs typeface="Arial"/>
              </a:rPr>
              <a:t>O mesmo evento, dois caminhos de processamento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8CDB2E-BD07-43A8-9568-B88411ED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1E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689585-0FB4-400B-A7B4-3BED2C52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876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65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56579"/>
                </a:solidFill>
                <a:latin typeface="Arial"/>
                <a:ea typeface="Arial"/>
                <a:cs typeface="Arial"/>
              </a:rPr>
              <a:t>Ilan Wendling Thoele  •  TCC  • 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B3BED8-5B65-4DD9-87B4-6BAB37F7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657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5657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5D4330-0047-4B7C-90AF-2FCED560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523875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BC927E-D8FE-47DD-8976-BF13DF78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66675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93689B-5457-4496-85A0-E561095E3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47815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23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2334"/>
                </a:solidFill>
                <a:latin typeface="Arial"/>
                <a:ea typeface="Arial"/>
                <a:cs typeface="Arial"/>
              </a:rPr>
              <a:t>Síncrono • REST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CFCC77-1F53-4D65-8EF4-19D8AEE5C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4781550" cy="2162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2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235"/>
                </a:solidFill>
                <a:latin typeface="Arial"/>
                <a:ea typeface="Arial"/>
                <a:cs typeface="Arial"/>
              </a:rPr>
              <a:t>Cliente → API → PostgreSQL</a:t>
            </a:r>
          </a:p>
          <a:p xmlns:a="http://schemas.openxmlformats.org/drawingml/2006/main">
            <a:pPr algn="l">
              <a:defRPr sz="1575" b="0">
                <a:solidFill>
                  <a:srgbClr val="1722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235"/>
                </a:solidFill>
                <a:latin typeface="Arial"/>
                <a:ea typeface="Arial"/>
                <a:cs typeface="Arial"/>
              </a:rPr>
              <a:t>Resposta 201 depois da transação.</a:t>
            </a:r>
          </a:p>
          <a:p xmlns:a="http://schemas.openxmlformats.org/drawingml/2006/main">
            <a:pPr algn="l">
              <a:defRPr sz="1575" b="0">
                <a:solidFill>
                  <a:srgbClr val="1722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235"/>
                </a:solidFill>
                <a:latin typeface="Arial"/>
                <a:ea typeface="Arial"/>
                <a:cs typeface="Arial"/>
              </a:rPr>
              <a:t>Falha do banco afeta a requisição.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ED3309-104F-404C-980F-1800C0CA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71625"/>
            <a:ext cx="523875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B18AC5-F2B4-4CCD-B045-DF5ACC92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71625"/>
            <a:ext cx="66675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5B39DA-D693-4518-9E36-97721451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733550"/>
            <a:ext cx="47815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23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2334"/>
                </a:solidFill>
                <a:latin typeface="Arial"/>
                <a:ea typeface="Arial"/>
                <a:cs typeface="Arial"/>
              </a:rPr>
              <a:t>Assíncrono • EDA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4CC88D-4A33-491B-B50A-58B0C091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90750"/>
            <a:ext cx="4781550" cy="2162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2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235"/>
                </a:solidFill>
                <a:latin typeface="Arial"/>
                <a:ea typeface="Arial"/>
                <a:cs typeface="Arial"/>
              </a:rPr>
              <a:t>Cliente → API → Kafka → consumidor → PostgreSQL</a:t>
            </a:r>
          </a:p>
          <a:p xmlns:a="http://schemas.openxmlformats.org/drawingml/2006/main">
            <a:pPr algn="l">
              <a:defRPr sz="1575" b="0">
                <a:solidFill>
                  <a:srgbClr val="1722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235"/>
                </a:solidFill>
                <a:latin typeface="Arial"/>
                <a:ea typeface="Arial"/>
                <a:cs typeface="Arial"/>
              </a:rPr>
              <a:t>Resposta 202 depois do ACK do broker.</a:t>
            </a:r>
          </a:p>
          <a:p xmlns:a="http://schemas.openxmlformats.org/drawingml/2006/main">
            <a:pPr algn="l">
              <a:defRPr sz="1575" b="0">
                <a:solidFill>
                  <a:srgbClr val="1722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235"/>
                </a:solidFill>
                <a:latin typeface="Arial"/>
                <a:ea typeface="Arial"/>
                <a:cs typeface="Arial"/>
              </a:rPr>
              <a:t>Persistência ocorre em etapa posterior.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7345AC-FD80-4D0D-95E5-8B776B36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0"/>
            <a:ext cx="11049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8F0F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A830E5-E128-412A-A0CA-F89E62C6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101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23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2334"/>
                </a:solidFill>
                <a:latin typeface="Arial"/>
                <a:ea typeface="Arial"/>
                <a:cs typeface="Arial"/>
              </a:rPr>
              <a:t>Núcleo comum: contrato do evento • hash canônico • unicidade por UUID • persistência idempotente</a:t>
            </a:r>
          </a:p>
        </p:txBody>
      </p:sp>
    </p:spTree>
    <p:extLst>
      <p:ext uri="{BB962C8B-B14F-4D97-AF65-F5344CB8AC3E}">
        <p14:creationId xmlns:p14="http://schemas.microsoft.com/office/powerpoint/2010/main" val="11649221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7C84D6-AF2B-4000-8FC2-EA962A5F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498114-4A06-4307-9B16-D262A472F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790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ENTREGA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F2C433-44E8-47BE-B490-123B3C90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52334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2334"/>
                </a:solidFill>
                <a:latin typeface="Arial"/>
                <a:ea typeface="Arial"/>
                <a:cs typeface="Arial"/>
              </a:rPr>
              <a:t>Casos de uso: objetivos e atores reais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F075AB-B2DA-4E41-8E33-790AFC27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1E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BE707D-E67E-4A50-9B6D-119B0AB2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876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65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56579"/>
                </a:solidFill>
                <a:latin typeface="Arial"/>
                <a:ea typeface="Arial"/>
                <a:cs typeface="Arial"/>
              </a:rPr>
              <a:t>Ilan Wendling Thoele  •  TCC  • 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5C7E54-9BF7-46EF-AA4D-2B80EDDE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657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5657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2D51FD-F662-4E0D-A8C9-BC041BD6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62075"/>
            <a:ext cx="6619875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D"/>
            </a:solidFill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f95b679e7244c9"/>
          <a:stretch xmlns:a="http://schemas.openxmlformats.org/drawingml/2006/main"/>
        </p:blipFill>
        <p:spPr>
          <a:xfrm xmlns:a="http://schemas.openxmlformats.org/drawingml/2006/main">
            <a:off x="783085" y="1457325"/>
            <a:ext cx="6187179" cy="45243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6B2CFF-9602-4FFE-A22A-356E1EB6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362075"/>
            <a:ext cx="4143375" cy="4762500"/>
          </a:xfrm>
          <a:prstGeom xmlns:a="http://schemas.openxmlformats.org/drawingml/2006/main" prst="roundRect">
            <a:avLst>
              <a:gd name="adj" fmla="val 1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063BB3-57D0-4025-BBDE-E96196EAA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362075"/>
            <a:ext cx="6667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86159B-427E-4483-8640-9693DB65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1524000"/>
            <a:ext cx="36861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23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2334"/>
                </a:solidFill>
                <a:latin typeface="Arial"/>
                <a:ea typeface="Arial"/>
                <a:cs typeface="Arial"/>
              </a:rPr>
              <a:t>Casos principais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36E4EE-A854-41F3-BD77-5875896A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1981200"/>
            <a:ext cx="3686175" cy="401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2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235"/>
                </a:solidFill>
                <a:latin typeface="Arial"/>
                <a:ea typeface="Arial"/>
                <a:cs typeface="Arial"/>
              </a:rPr>
              <a:t>UC01  Registrar e persistir</a:t>
            </a:r>
          </a:p>
          <a:p xmlns:a="http://schemas.openxmlformats.org/drawingml/2006/main">
            <a:pPr algn="l">
              <a:defRPr sz="1575" b="0">
                <a:solidFill>
                  <a:srgbClr val="1722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235"/>
                </a:solidFill>
                <a:latin typeface="Arial"/>
                <a:ea typeface="Arial"/>
                <a:cs typeface="Arial"/>
              </a:rPr>
              <a:t>UC02  Publicar e aceitar</a:t>
            </a:r>
          </a:p>
          <a:p xmlns:a="http://schemas.openxmlformats.org/drawingml/2006/main">
            <a:pPr algn="l">
              <a:defRPr sz="1575" b="0">
                <a:solidFill>
                  <a:srgbClr val="1722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235"/>
                </a:solidFill>
                <a:latin typeface="Arial"/>
                <a:ea typeface="Arial"/>
                <a:cs typeface="Arial"/>
              </a:rPr>
              <a:t>UC03  Consumir e persistir</a:t>
            </a:r>
          </a:p>
          <a:p xmlns:a="http://schemas.openxmlformats.org/drawingml/2006/main">
            <a:pPr algn="l">
              <a:defRPr sz="1575" b="0">
                <a:solidFill>
                  <a:srgbClr val="1722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235"/>
                </a:solidFill>
                <a:latin typeface="Arial"/>
                <a:ea typeface="Arial"/>
                <a:cs typeface="Arial"/>
              </a:rPr>
              <a:t>UC04  Consultar prontidão</a:t>
            </a:r>
          </a:p>
          <a:p xmlns:a="http://schemas.openxmlformats.org/drawingml/2006/main">
            <a:pPr algn="l">
              <a:defRPr sz="1575" b="0">
                <a:solidFill>
                  <a:srgbClr val="1722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235"/>
                </a:solidFill>
                <a:latin typeface="Arial"/>
                <a:ea typeface="Arial"/>
                <a:cs typeface="Arial"/>
              </a:rPr>
              <a:t>UC07  Consultar por UUID</a:t>
            </a:r>
          </a:p>
        </p:txBody>
      </p:sp>
    </p:spTree>
    <p:extLst>
      <p:ext uri="{BB962C8B-B14F-4D97-AF65-F5344CB8AC3E}">
        <p14:creationId xmlns:p14="http://schemas.microsoft.com/office/powerpoint/2010/main" val="15620600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9699E4-6437-4DC1-83F7-DA74613D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07D0C2-5740-4DE3-A8AF-52DDE7D8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790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ENTREGA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F2C2E4-14A1-4931-930F-9D37B584F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52334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2334"/>
                </a:solidFill>
                <a:latin typeface="Arial"/>
                <a:ea typeface="Arial"/>
                <a:cs typeface="Arial"/>
              </a:rPr>
              <a:t>Atividades: o que acontece quando algo falha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18A746-D11F-4753-8841-C9932E12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1E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88B3F8-579D-4A46-9DD8-6863784C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876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65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56579"/>
                </a:solidFill>
                <a:latin typeface="Arial"/>
                <a:ea typeface="Arial"/>
                <a:cs typeface="Arial"/>
              </a:rPr>
              <a:t>Ilan Wendling Thoele  •  TCC  • 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1B5201-DF74-44F8-B5CD-DFAD71134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657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5657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6BA3A-D9EF-4AC7-8997-122E5749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3333750" cy="3952875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6AD382-78BC-46B0-BAB3-C132B144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66675" cy="395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EDA20A-DEAD-4ACF-AEEF-E517F201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85925"/>
            <a:ext cx="28765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23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2334"/>
                </a:solidFill>
                <a:latin typeface="Arial"/>
                <a:ea typeface="Arial"/>
                <a:cs typeface="Arial"/>
              </a:rPr>
              <a:t>Fluxo síncrono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8F8421-CFC1-4693-B975-C4275C80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43125"/>
            <a:ext cx="287655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2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235"/>
                </a:solidFill>
                <a:latin typeface="Arial"/>
                <a:ea typeface="Arial"/>
                <a:cs typeface="Arial"/>
              </a:rPr>
              <a:t>Valida → calcula hash → tenta inserir.</a:t>
            </a:r>
          </a:p>
          <a:p xmlns:a="http://schemas.openxmlformats.org/drawingml/2006/main">
            <a:pPr algn="l">
              <a:defRPr sz="1575" b="0">
                <a:solidFill>
                  <a:srgbClr val="1722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235"/>
                </a:solidFill>
                <a:latin typeface="Arial"/>
                <a:ea typeface="Arial"/>
                <a:cs typeface="Arial"/>
              </a:rPr>
              <a:t>UUID repetido + hash igual: duplicata.</a:t>
            </a:r>
          </a:p>
          <a:p xmlns:a="http://schemas.openxmlformats.org/drawingml/2006/main">
            <a:pPr algn="l">
              <a:defRPr sz="1575" b="0">
                <a:solidFill>
                  <a:srgbClr val="1722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235"/>
                </a:solidFill>
                <a:latin typeface="Arial"/>
                <a:ea typeface="Arial"/>
                <a:cs typeface="Arial"/>
              </a:rPr>
              <a:t>Mesmo UUID + hash diferente: conflito 409.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325A2F-5BE6-45B1-8101-2A40A05A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24000"/>
            <a:ext cx="3333750" cy="3952875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407B9A-BE74-4AE7-BFE4-6FD1667B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24000"/>
            <a:ext cx="66675" cy="395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A77987-B9AD-475F-8CCE-E72CC860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685925"/>
            <a:ext cx="28765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23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2334"/>
                </a:solidFill>
                <a:latin typeface="Arial"/>
                <a:ea typeface="Arial"/>
                <a:cs typeface="Arial"/>
              </a:rPr>
              <a:t>API assíncrona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BC7968-E180-4DD3-BDDA-DB09D7E74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143125"/>
            <a:ext cx="287655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2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235"/>
                </a:solidFill>
                <a:latin typeface="Arial"/>
                <a:ea typeface="Arial"/>
                <a:cs typeface="Arial"/>
              </a:rPr>
              <a:t>Valida → publica → espera ACK.</a:t>
            </a:r>
          </a:p>
          <a:p xmlns:a="http://schemas.openxmlformats.org/drawingml/2006/main">
            <a:pPr algn="l">
              <a:defRPr sz="1575" b="0">
                <a:solidFill>
                  <a:srgbClr val="1722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235"/>
                </a:solidFill>
                <a:latin typeface="Arial"/>
                <a:ea typeface="Arial"/>
                <a:cs typeface="Arial"/>
              </a:rPr>
              <a:t>ACK recebido: HTTP 202.</a:t>
            </a:r>
          </a:p>
          <a:p xmlns:a="http://schemas.openxmlformats.org/drawingml/2006/main">
            <a:pPr algn="l">
              <a:defRPr sz="1575" b="0">
                <a:solidFill>
                  <a:srgbClr val="1722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235"/>
                </a:solidFill>
                <a:latin typeface="Arial"/>
                <a:ea typeface="Arial"/>
                <a:cs typeface="Arial"/>
              </a:rPr>
              <a:t>Timeout: aceite desconhecido; não se presume perda.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53CC7A-1512-42B5-8AB6-486315A9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24000"/>
            <a:ext cx="3333750" cy="3952875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9B5605-5988-475D-BE11-77CFE739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24000"/>
            <a:ext cx="66675" cy="395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5C0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3A4F4F-CC15-47FF-9089-5368E0CB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685925"/>
            <a:ext cx="28765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23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2334"/>
                </a:solidFill>
                <a:latin typeface="Arial"/>
                <a:ea typeface="Arial"/>
                <a:cs typeface="Arial"/>
              </a:rPr>
              <a:t>Consumidor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D693B8-373D-42F7-B3AC-4CA2AC049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43125"/>
            <a:ext cx="287655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2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235"/>
                </a:solidFill>
                <a:latin typeface="Arial"/>
                <a:ea typeface="Arial"/>
                <a:cs typeface="Arial"/>
              </a:rPr>
              <a:t>Valida → tenta persistir → retry.</a:t>
            </a:r>
          </a:p>
          <a:p xmlns:a="http://schemas.openxmlformats.org/drawingml/2006/main">
            <a:pPr algn="l">
              <a:defRPr sz="1575" b="0">
                <a:solidFill>
                  <a:srgbClr val="1722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235"/>
                </a:solidFill>
                <a:latin typeface="Arial"/>
                <a:ea typeface="Arial"/>
                <a:cs typeface="Arial"/>
              </a:rPr>
              <a:t>Falha terminal: envia à DLQ.</a:t>
            </a:r>
          </a:p>
          <a:p xmlns:a="http://schemas.openxmlformats.org/drawingml/2006/main">
            <a:pPr algn="l">
              <a:defRPr sz="1575" b="0">
                <a:solidFill>
                  <a:srgbClr val="1722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235"/>
                </a:solidFill>
                <a:latin typeface="Arial"/>
                <a:ea typeface="Arial"/>
                <a:cs typeface="Arial"/>
              </a:rPr>
              <a:t>Confirma origem só após gravação ou ACK da DLQ.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11A4EE-9705-47CE-B277-571D114A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340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5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579"/>
                </a:solidFill>
                <a:latin typeface="Arial"/>
                <a:ea typeface="Arial"/>
                <a:cs typeface="Arial"/>
              </a:rPr>
              <a:t>Os três diagramas de atividades completos estão no Capítulo 4 e em PlantUML.</a:t>
            </a:r>
          </a:p>
        </p:txBody>
      </p:sp>
    </p:spTree>
    <p:extLst>
      <p:ext uri="{BB962C8B-B14F-4D97-AF65-F5344CB8AC3E}">
        <p14:creationId xmlns:p14="http://schemas.microsoft.com/office/powerpoint/2010/main" val="7462339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645F9A-A691-4698-8B6A-E8E5E0F9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E01301-3DE1-4351-968F-DE09A886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790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ENTREGA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85EDFA-855F-4F6D-875C-4C28C557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52334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2334"/>
                </a:solidFill>
                <a:latin typeface="Arial"/>
                <a:ea typeface="Arial"/>
                <a:cs typeface="Arial"/>
              </a:rPr>
              <a:t>Classes e componentes mapeados ao código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982D22-A494-469B-880D-535B1040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1E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E19F0B-B436-4BA8-9698-7A6D2624E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876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65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56579"/>
                </a:solidFill>
                <a:latin typeface="Arial"/>
                <a:ea typeface="Arial"/>
                <a:cs typeface="Arial"/>
              </a:rPr>
              <a:t>Ilan Wendling Thoele  •  TCC  • 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C32C6D-2126-4645-9C3E-3CD46063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657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5657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52E297-8428-4C4C-9D0A-6B7DD36D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7000875" cy="4791075"/>
          </a:xfrm>
          <a:prstGeom xmlns:a="http://schemas.openxmlformats.org/drawingml/2006/main" prst="roundRect">
            <a:avLst>
              <a:gd name="adj" fmla="val 15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D"/>
            </a:solidFill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5989a942004c5e"/>
          <a:stretch xmlns:a="http://schemas.openxmlformats.org/drawingml/2006/main"/>
        </p:blipFill>
        <p:spPr>
          <a:xfrm xmlns:a="http://schemas.openxmlformats.org/drawingml/2006/main">
            <a:off x="1219646" y="1428750"/>
            <a:ext cx="5656958" cy="46482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DEF8C3-81D3-4BA4-965F-B3E0CC013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81125"/>
            <a:ext cx="3810000" cy="4791075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FF53BB-C8B7-470E-91E1-46892E76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81125"/>
            <a:ext cx="66675" cy="479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CB12D2-A6D3-4D5D-B1CB-35021761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543050"/>
            <a:ext cx="3352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23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2334"/>
                </a:solidFill>
                <a:latin typeface="Arial"/>
                <a:ea typeface="Arial"/>
                <a:cs typeface="Arial"/>
              </a:rPr>
              <a:t>Responsabilidades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4A271B-3D84-4DC4-AFC7-DD62BCCC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00250"/>
            <a:ext cx="335280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2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235"/>
                </a:solidFill>
                <a:latin typeface="Arial"/>
                <a:ea typeface="Arial"/>
                <a:cs typeface="Arial"/>
              </a:rPr>
              <a:t>schemas: contrato</a:t>
            </a:r>
          </a:p>
          <a:p xmlns:a="http://schemas.openxmlformats.org/drawingml/2006/main">
            <a:pPr algn="l">
              <a:defRPr sz="1575" b="0">
                <a:solidFill>
                  <a:srgbClr val="1722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235"/>
                </a:solidFill>
                <a:latin typeface="Arial"/>
                <a:ea typeface="Arial"/>
                <a:cs typeface="Arial"/>
              </a:rPr>
              <a:t>processing: serialização e hash</a:t>
            </a:r>
          </a:p>
          <a:p xmlns:a="http://schemas.openxmlformats.org/drawingml/2006/main">
            <a:pPr algn="l">
              <a:defRPr sz="1575" b="0">
                <a:solidFill>
                  <a:srgbClr val="1722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235"/>
                </a:solidFill>
                <a:latin typeface="Arial"/>
                <a:ea typeface="Arial"/>
                <a:cs typeface="Arial"/>
              </a:rPr>
              <a:t>database: transação e consulta</a:t>
            </a:r>
          </a:p>
          <a:p xmlns:a="http://schemas.openxmlformats.org/drawingml/2006/main">
            <a:pPr algn="l">
              <a:defRPr sz="1575" b="0">
                <a:solidFill>
                  <a:srgbClr val="1722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235"/>
                </a:solidFill>
                <a:latin typeface="Arial"/>
                <a:ea typeface="Arial"/>
                <a:cs typeface="Arial"/>
              </a:rPr>
              <a:t>KafkaPublisher: ACK</a:t>
            </a:r>
          </a:p>
          <a:p xmlns:a="http://schemas.openxmlformats.org/drawingml/2006/main">
            <a:pPr algn="l">
              <a:defRPr sz="1575" b="0">
                <a:solidFill>
                  <a:srgbClr val="1722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235"/>
                </a:solidFill>
                <a:latin typeface="Arial"/>
                <a:ea typeface="Arial"/>
                <a:cs typeface="Arial"/>
              </a:rPr>
              <a:t>consumer: retry, DLQ e offset</a:t>
            </a:r>
          </a:p>
          <a:p xmlns:a="http://schemas.openxmlformats.org/drawingml/2006/main">
            <a:pPr algn="l">
              <a:defRPr sz="1575" b="0">
                <a:solidFill>
                  <a:srgbClr val="1722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235"/>
                </a:solidFill>
                <a:latin typeface="Arial"/>
                <a:ea typeface="Arial"/>
                <a:cs typeface="Arial"/>
              </a:rPr>
              <a:t>observability: logs JSONL</a:t>
            </a:r>
          </a:p>
        </p:txBody>
      </p:sp>
    </p:spTree>
    <p:extLst>
      <p:ext uri="{BB962C8B-B14F-4D97-AF65-F5344CB8AC3E}">
        <p14:creationId xmlns:p14="http://schemas.microsoft.com/office/powerpoint/2010/main" val="16870991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EA750F-0F9D-46FD-805D-F4C27C1B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F6D470-A289-49A0-A0C9-85DCD12A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790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ENTREGA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E5422B-CA9E-44AD-AFA3-4787316B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52334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2334"/>
                </a:solidFill>
                <a:latin typeface="Arial"/>
                <a:ea typeface="Arial"/>
                <a:cs typeface="Arial"/>
              </a:rPr>
              <a:t>Sequência: 201 e 202 não significam a mesma coisa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D62C17-8DD5-4D46-990C-74C2FB05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1E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B58F8B-1DA6-443A-A284-3262A8A5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876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65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56579"/>
                </a:solidFill>
                <a:latin typeface="Arial"/>
                <a:ea typeface="Arial"/>
                <a:cs typeface="Arial"/>
              </a:rPr>
              <a:t>Ilan Wendling Thoele  •  TCC  • 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B43456-A252-48E8-9310-EB6BFF68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657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5657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454CC4-F800-4FD3-9D3C-AC9F3135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REST síncrono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294685-B385-490F-9E34-5BA69B94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1090612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9D0F91-1319-4EDE-AD07-5A1B0B10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2407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5233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52334"/>
                </a:solidFill>
                <a:latin typeface="Arial"/>
                <a:ea typeface="Arial"/>
                <a:cs typeface="Arial"/>
              </a:rPr>
              <a:t>POST → validação → INSERT / COMMIT → marco pós-commit → HTTP 201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E99AFA-B0D3-4E27-852C-0D05EAC6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7662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EDA assíncrona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BC68B1-FEDD-416A-BE54-C9AD9B6A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33825"/>
            <a:ext cx="1090612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4AB695-33CD-4E4F-807E-9C6539BD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671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23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2334"/>
                </a:solidFill>
                <a:latin typeface="Arial"/>
                <a:ea typeface="Arial"/>
                <a:cs typeface="Arial"/>
              </a:rPr>
              <a:t>POST → Kafka ACK → HTTP 202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FE17A7-8613-4503-ADB3-4D431270A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86300"/>
            <a:ext cx="10572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2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235"/>
                </a:solidFill>
                <a:latin typeface="Arial"/>
                <a:ea typeface="Arial"/>
                <a:cs typeface="Arial"/>
              </a:rPr>
              <a:t>Depois: consumer → COMMIT no banco → commit do offset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2B8233-BB2F-45C6-873D-415546F3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48325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5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579"/>
                </a:solidFill>
                <a:latin typeface="Arial"/>
                <a:ea typeface="Arial"/>
                <a:cs typeface="Arial"/>
              </a:rPr>
              <a:t>O TCC inclui duas sequências UML completas, com duplicata, erro e DLQ.</a:t>
            </a:r>
          </a:p>
        </p:txBody>
      </p:sp>
    </p:spTree>
    <p:extLst>
      <p:ext uri="{BB962C8B-B14F-4D97-AF65-F5344CB8AC3E}">
        <p14:creationId xmlns:p14="http://schemas.microsoft.com/office/powerpoint/2010/main" val="13972252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9F3557-9212-4194-A350-4F7A80CA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FFA06F-2927-42FE-A450-3771FB39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790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ENTREGA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743B1C-1908-4D6F-8FC7-453C481E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52334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2334"/>
                </a:solidFill>
                <a:latin typeface="Arial"/>
                <a:ea typeface="Arial"/>
                <a:cs typeface="Arial"/>
              </a:rPr>
              <a:t>Banco: uma tabela implementada, sem relação inventada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FFA38A-1F6F-430F-94E9-0BF369B8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1E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000480-7FCA-478C-A63C-F4320C50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876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65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56579"/>
                </a:solidFill>
                <a:latin typeface="Arial"/>
                <a:ea typeface="Arial"/>
                <a:cs typeface="Arial"/>
              </a:rPr>
              <a:t>Ilan Wendling Thoele  •  TCC  • 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2B05D0-914E-4777-A998-B8A63AA6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657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5657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75F84E-DD8B-4F6C-8986-987C9217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11049000" cy="3571875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D"/>
            </a:solidFill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28d772d016455f"/>
          <a:stretch xmlns:a="http://schemas.openxmlformats.org/drawingml/2006/main"/>
        </p:blipFill>
        <p:spPr>
          <a:xfrm xmlns:a="http://schemas.openxmlformats.org/drawingml/2006/main">
            <a:off x="723900" y="1570363"/>
            <a:ext cx="10715625" cy="3193398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D9930E-EF7D-4276-842C-86F39D11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91125"/>
            <a:ext cx="11049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6E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D3476B-5AFA-481E-A985-C93F3A09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959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3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2334"/>
                </a:solidFill>
                <a:latin typeface="Arial"/>
                <a:ea typeface="Arial"/>
                <a:cs typeface="Arial"/>
              </a:rPr>
              <a:t>PK event_id  •  índice entity_id  •  payload JSONB  •  hash TEXT  •  persisted_at anulável</a:t>
            </a:r>
          </a:p>
        </p:txBody>
      </p:sp>
    </p:spTree>
    <p:extLst>
      <p:ext uri="{BB962C8B-B14F-4D97-AF65-F5344CB8AC3E}">
        <p14:creationId xmlns:p14="http://schemas.microsoft.com/office/powerpoint/2010/main" val="13447538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E6A988-B8EF-47C6-8E9B-9D07F94B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99F779-AFE2-4CE7-8B28-C7625D9E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790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ENTREGA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539FA0-7A03-45B6-A6C4-C068E508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52334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2334"/>
                </a:solidFill>
                <a:latin typeface="Arial"/>
                <a:ea typeface="Arial"/>
                <a:cs typeface="Arial"/>
              </a:rPr>
              <a:t>Implantação e arquitetura do ambiente experimental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25376D-472E-46C3-B361-7D17F8DB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1E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9F8C87-6269-43D8-98EA-F79A8B07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876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65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56579"/>
                </a:solidFill>
                <a:latin typeface="Arial"/>
                <a:ea typeface="Arial"/>
                <a:cs typeface="Arial"/>
              </a:rPr>
              <a:t>Ilan Wendling Thoele  •  TCC  • 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06F32B-2E8C-402B-8341-8210CADC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657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56579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ADB196-FD91-4BD0-8B2B-8AE72D19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11049000" cy="4400550"/>
          </a:xfrm>
          <a:prstGeom xmlns:a="http://schemas.openxmlformats.org/drawingml/2006/main" prst="roundRect">
            <a:avLst>
              <a:gd name="adj" fmla="val 17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D"/>
            </a:solidFill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eb91de5f3f4f44"/>
          <a:stretch xmlns:a="http://schemas.openxmlformats.org/drawingml/2006/main"/>
        </p:blipFill>
        <p:spPr>
          <a:xfrm xmlns:a="http://schemas.openxmlformats.org/drawingml/2006/main">
            <a:off x="1618368" y="1524000"/>
            <a:ext cx="8945740" cy="4095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9DA0AC-07FE-434C-874A-EDDDFC71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864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5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579"/>
                </a:solidFill>
                <a:latin typeface="Arial"/>
                <a:ea typeface="Arial"/>
                <a:cs typeface="Arial"/>
              </a:rPr>
              <a:t>5 serviços permanentes • 2 volumes • portas em loopback • broker e banco únicos</a:t>
            </a:r>
          </a:p>
        </p:txBody>
      </p:sp>
    </p:spTree>
    <p:extLst>
      <p:ext uri="{BB962C8B-B14F-4D97-AF65-F5344CB8AC3E}">
        <p14:creationId xmlns:p14="http://schemas.microsoft.com/office/powerpoint/2010/main" val="6629100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F115A2-383F-4CEB-985E-773C9BEB9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434730-8338-4897-AB68-9054906D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790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ENTREGA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7A52B3-58B6-4E93-B5DA-FD1C3E13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52334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2334"/>
                </a:solidFill>
                <a:latin typeface="Arial"/>
                <a:ea typeface="Arial"/>
                <a:cs typeface="Arial"/>
              </a:rPr>
              <a:t>O que está fechado nesta entrega — e o que ainda não está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00A522-6444-41E3-9D39-D8397AC9E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1E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169CA8-E487-45AD-B32F-E62E562A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876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65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56579"/>
                </a:solidFill>
                <a:latin typeface="Arial"/>
                <a:ea typeface="Arial"/>
                <a:cs typeface="Arial"/>
              </a:rPr>
              <a:t>Ilan Wendling Thoele  •  TCC  • 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220B61-3FDA-465F-B54B-343E777D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657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56579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60009E-C5B7-4EC6-9C1A-6A8321794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5238750" cy="4048125"/>
          </a:xfrm>
          <a:prstGeom xmlns:a="http://schemas.openxmlformats.org/drawingml/2006/main" prst="roundRect">
            <a:avLst>
              <a:gd name="adj" fmla="val 1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6633BA-E1D5-49DB-9B6C-1867C0E49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66675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1033B3-3550-46F7-8626-E64D0C8C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38300"/>
            <a:ext cx="47815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23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2334"/>
                </a:solidFill>
                <a:latin typeface="Arial"/>
                <a:ea typeface="Arial"/>
                <a:cs typeface="Arial"/>
              </a:rPr>
              <a:t>Desenvolvimento documentado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AD0CE0-7553-469E-AA7A-856A2EB0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4781550" cy="3305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2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235"/>
                </a:solidFill>
                <a:latin typeface="Arial"/>
                <a:ea typeface="Arial"/>
                <a:cs typeface="Arial"/>
              </a:rPr>
              <a:t>Duas APIs e consumidor</a:t>
            </a:r>
          </a:p>
          <a:p xmlns:a="http://schemas.openxmlformats.org/drawingml/2006/main">
            <a:pPr algn="l">
              <a:defRPr sz="1575" b="0">
                <a:solidFill>
                  <a:srgbClr val="1722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235"/>
                </a:solidFill>
                <a:latin typeface="Arial"/>
                <a:ea typeface="Arial"/>
                <a:cs typeface="Arial"/>
              </a:rPr>
              <a:t>Contratos e tratamento de falhas</a:t>
            </a:r>
          </a:p>
          <a:p xmlns:a="http://schemas.openxmlformats.org/drawingml/2006/main">
            <a:pPr algn="l">
              <a:defRPr sz="1575" b="0">
                <a:solidFill>
                  <a:srgbClr val="1722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235"/>
                </a:solidFill>
                <a:latin typeface="Arial"/>
                <a:ea typeface="Arial"/>
                <a:cs typeface="Arial"/>
              </a:rPr>
              <a:t>UML: casos, atividades, classes, sequência, componentes e implantação</a:t>
            </a:r>
          </a:p>
          <a:p xmlns:a="http://schemas.openxmlformats.org/drawingml/2006/main">
            <a:pPr algn="l">
              <a:defRPr sz="1575" b="0">
                <a:solidFill>
                  <a:srgbClr val="1722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235"/>
                </a:solidFill>
                <a:latin typeface="Arial"/>
                <a:ea typeface="Arial"/>
                <a:cs typeface="Arial"/>
              </a:rPr>
              <a:t>MER, modelo lógico/físico e dicionário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E6F80C-25AB-4E81-AB50-06528E56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76375"/>
            <a:ext cx="5238750" cy="4048125"/>
          </a:xfrm>
          <a:prstGeom xmlns:a="http://schemas.openxmlformats.org/drawingml/2006/main" prst="roundRect">
            <a:avLst>
              <a:gd name="adj" fmla="val 1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1C0A3C-DB86-4DF9-945A-BDD8B106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76375"/>
            <a:ext cx="66675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5C0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FFA68C-C6A6-4828-8A93-B8730971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638300"/>
            <a:ext cx="47815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23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2334"/>
                </a:solidFill>
                <a:latin typeface="Arial"/>
                <a:ea typeface="Arial"/>
                <a:cs typeface="Arial"/>
              </a:rPr>
              <a:t>Sem antecipar resultados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B54B77-E3BE-46AC-8745-0D9FB9FE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95500"/>
            <a:ext cx="4781550" cy="3305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2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235"/>
                </a:solidFill>
                <a:latin typeface="Arial"/>
                <a:ea typeface="Arial"/>
                <a:cs typeface="Arial"/>
              </a:rPr>
              <a:t>24 testes offline passaram nesta cópia.</a:t>
            </a:r>
          </a:p>
          <a:p xmlns:a="http://schemas.openxmlformats.org/drawingml/2006/main">
            <a:pPr algn="l">
              <a:defRPr sz="1575" b="0">
                <a:solidFill>
                  <a:srgbClr val="1722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235"/>
                </a:solidFill>
                <a:latin typeface="Arial"/>
                <a:ea typeface="Arial"/>
                <a:cs typeface="Arial"/>
              </a:rPr>
              <a:t>Topologia de um nó não prova HA.</a:t>
            </a:r>
          </a:p>
          <a:p xmlns:a="http://schemas.openxmlformats.org/drawingml/2006/main">
            <a:pPr algn="l">
              <a:defRPr sz="1575" b="0">
                <a:solidFill>
                  <a:srgbClr val="1722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235"/>
                </a:solidFill>
                <a:latin typeface="Arial"/>
                <a:ea typeface="Arial"/>
                <a:cs typeface="Arial"/>
              </a:rPr>
              <a:t>Tabelas extras são propostas.</a:t>
            </a:r>
          </a:p>
          <a:p xmlns:a="http://schemas.openxmlformats.org/drawingml/2006/main">
            <a:pPr algn="l">
              <a:defRPr sz="1575" b="0">
                <a:solidFill>
                  <a:srgbClr val="1722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235"/>
                </a:solidFill>
                <a:latin typeface="Arial"/>
                <a:ea typeface="Arial"/>
                <a:cs typeface="Arial"/>
              </a:rPr>
              <a:t>Comparação científica exige protocolo e coletas definitivas.</a:t>
            </a:r>
          </a:p>
        </p:txBody>
      </p:sp>
    </p:spTree>
    <p:extLst>
      <p:ext uri="{BB962C8B-B14F-4D97-AF65-F5344CB8AC3E}">
        <p14:creationId xmlns:p14="http://schemas.microsoft.com/office/powerpoint/2010/main" val="10113412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991DF3-2E9A-4DF7-AF06-7C939D909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EACE42-74F2-44B2-8DBB-C07D200E9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790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ENTREGA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7C51CC-0F76-4992-88A1-E6A7E18C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52334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2334"/>
                </a:solidFill>
                <a:latin typeface="Arial"/>
                <a:ea typeface="Arial"/>
                <a:cs typeface="Arial"/>
              </a:rPr>
              <a:t>Referências que fundamentam as decisões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A4E856-2F02-45EA-B368-DE98036E2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1E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6EFA36-E27C-4145-B3EF-A35127A6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876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65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56579"/>
                </a:solidFill>
                <a:latin typeface="Arial"/>
                <a:ea typeface="Arial"/>
                <a:cs typeface="Arial"/>
              </a:rPr>
              <a:t>Ilan Wendling Thoele  •  TCC  • 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405F72-8296-44FB-9430-BF40FE58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657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56579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B6C885-8000-4E1A-8768-F42E061B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11049000" cy="695325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21C1AD-CA48-41D8-91E1-295F7765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43050"/>
            <a:ext cx="1057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2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235"/>
                </a:solidFill>
                <a:latin typeface="Arial"/>
                <a:ea typeface="Arial"/>
                <a:cs typeface="Arial"/>
              </a:rPr>
              <a:t>Fielding &amp; Taylor (2002)  •  arquitetura web/REST  •  DOI 10.1145/514183.514185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9C21B5-944C-459C-B2DD-4CA5DB8F0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95525"/>
            <a:ext cx="11049000" cy="695325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4B6D56-6B40-480B-AF0E-3A936D2B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9825"/>
            <a:ext cx="1057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2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235"/>
                </a:solidFill>
                <a:latin typeface="Arial"/>
                <a:ea typeface="Arial"/>
                <a:cs typeface="Arial"/>
              </a:rPr>
              <a:t>Kreps, Narkhede &amp; Rao (2011)  •  Kafka e processamento de logs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1E058E-1A60-4A70-92F1-A89EC840D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62300"/>
            <a:ext cx="11049000" cy="695325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63E30A-852A-4692-9B74-9D918B5F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1057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2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235"/>
                </a:solidFill>
                <a:latin typeface="Arial"/>
                <a:ea typeface="Arial"/>
                <a:cs typeface="Arial"/>
              </a:rPr>
              <a:t>Helland (2007)  •  limites de transações distribuídas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75A8CA-CD07-4292-B572-12E29D83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29075"/>
            <a:ext cx="11049000" cy="695325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8CB252-288A-40C7-94B3-C641786E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43375"/>
            <a:ext cx="1057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2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235"/>
                </a:solidFill>
                <a:latin typeface="Arial"/>
                <a:ea typeface="Arial"/>
                <a:cs typeface="Arial"/>
              </a:rPr>
              <a:t>Karabey Aksakalli et al. (2021)  •  padrões de implantação/comunicação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F5B27F-DE4B-4887-B0EA-60B0043C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95850"/>
            <a:ext cx="11049000" cy="695325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8ACD1D-9CE3-4B9C-A413-CD191E73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1057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2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235"/>
                </a:solidFill>
                <a:latin typeface="Arial"/>
                <a:ea typeface="Arial"/>
                <a:cs typeface="Arial"/>
              </a:rPr>
              <a:t>Kitchenham et al. (2002)  •  pesquisa empírica em engenharia de software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3EB84F-EEE5-4D08-8F42-65B55180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721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65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6579"/>
                </a:solidFill>
                <a:latin typeface="Arial"/>
                <a:ea typeface="Arial"/>
                <a:cs typeface="Arial"/>
              </a:rPr>
              <a:t>Lista completa de artigos científicos no próprio TCC (seção Referências).</a:t>
            </a:r>
          </a:p>
        </p:txBody>
      </p:sp>
    </p:spTree>
    <p:extLst>
      <p:ext uri="{BB962C8B-B14F-4D97-AF65-F5344CB8AC3E}">
        <p14:creationId xmlns:p14="http://schemas.microsoft.com/office/powerpoint/2010/main" val="20182391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2026-09-29T19:02:54.1230000Z</dcterms:created>
  <dcterms:modified xsi:type="dcterms:W3CDTF">2026-09-29T19:02:54.1230000Z</dcterms:modified>
</coreProperties>
</file>